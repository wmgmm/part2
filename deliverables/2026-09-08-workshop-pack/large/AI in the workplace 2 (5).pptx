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3E9_235FCCCF.xml" ContentType="application/vnd.ms-powerpoint.comments+xml"/>
  <Override PartName="/ppt/comments/modernComment_3EB_51AFD08B.xml" ContentType="application/vnd.ms-powerpoint.comments+xml"/>
  <Override PartName="/ppt/comments/modernComment_3F3_A77BC7CA.xml" ContentType="application/vnd.ms-powerpoint.comments+xml"/>
  <Override PartName="/ppt/comments/modernComment_3F9_E1784389.xml" ContentType="application/vnd.ms-powerpoint.comments+xml"/>
  <Override PartName="/ppt/comments/modernComment_3FB_298D91B3.xml" ContentType="application/vnd.ms-powerpoint.comments+xml"/>
  <Override PartName="/ppt/comments/modernComment_3FC_D53DFFED.xml" ContentType="application/vnd.ms-powerpoint.comments+xml"/>
  <Override PartName="/ppt/comments/modernComment_3FD_1EF7D9F.xml" ContentType="application/vnd.ms-powerpoint.comments+xml"/>
  <Override PartName="/ppt/comments/modernComment_3FF_FF84563D.xml" ContentType="application/vnd.ms-powerpoint.comments+xml"/>
  <Override PartName="/ppt/comments/modernComment_404_3A9CA2DD.xml" ContentType="application/vnd.ms-powerpoint.comments+xml"/>
  <Override PartName="/ppt/comments/modernComment_412_B6BA5436.xml" ContentType="application/vnd.ms-powerpoint.comments+xml"/>
  <Override PartName="/ppt/comments/modernComment_41B_9EE2E729.xml" ContentType="application/vnd.ms-powerpoint.comments+xml"/>
  <Override PartName="/ppt/comments/modernComment_426_C69FB1CF.xml" ContentType="application/vnd.ms-powerpoint.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4"/>
  </p:notesMasterIdLst>
  <p:sldIdLst>
    <p:sldId id="1019" r:id="rId5"/>
    <p:sldId id="1001" r:id="rId6"/>
    <p:sldId id="1003" r:id="rId7"/>
    <p:sldId id="1051" r:id="rId8"/>
    <p:sldId id="1062" r:id="rId9"/>
    <p:sldId id="1061" r:id="rId10"/>
    <p:sldId id="1010" r:id="rId11"/>
    <p:sldId id="1011" r:id="rId12"/>
    <p:sldId id="1012" r:id="rId13"/>
    <p:sldId id="1013" r:id="rId14"/>
    <p:sldId id="1016" r:id="rId15"/>
    <p:sldId id="1018" r:id="rId16"/>
    <p:sldId id="1060" r:id="rId17"/>
    <p:sldId id="1020" r:id="rId18"/>
    <p:sldId id="1023" r:id="rId19"/>
    <p:sldId id="1022" r:id="rId20"/>
    <p:sldId id="1021" r:id="rId21"/>
    <p:sldId id="1024" r:id="rId22"/>
    <p:sldId id="1047" r:id="rId23"/>
    <p:sldId id="1050" r:id="rId24"/>
    <p:sldId id="1068" r:id="rId51"/>
    <p:sldId id="1069" r:id="rId52"/>
    <p:sldId id="1026" r:id="rId25"/>
    <p:sldId id="1070" r:id="rId53"/>
    <p:sldId id="1067" r:id="rId26"/>
    <p:sldId id="1064" r:id="rId27"/>
    <p:sldId id="1065" r:id="rId28"/>
    <p:sldId id="1066" r:id="rId29"/>
    <p:sldId id="1025" r:id="rId30"/>
    <p:sldId id="1039" r:id="rId31"/>
    <p:sldId id="1042" r:id="rId32"/>
    <p:sldId id="1056" r:id="rId33"/>
    <p:sldId id="1057" r:id="rId34"/>
    <p:sldId id="1058" r:id="rId35"/>
    <p:sldId id="1038" r:id="rId36"/>
    <p:sldId id="1052" r:id="rId37"/>
    <p:sldId id="1053" r:id="rId38"/>
    <p:sldId id="1063" r:id="rId39"/>
    <p:sldId id="1028" r:id="rId40"/>
    <p:sldId id="1017" r:id="rId41"/>
    <p:sldId id="1008" r:id="rId42"/>
    <p:sldId id="1046"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DE0F011-64DD-016F-B5BE-C6876AC381CC}" name="Matthew Mort" initials="MM" userId="S::mortm@cardiff.ac.uk::92d27825-b23e-4374-9ef2-fd4e99d4df80"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E5F273-64ED-4E75-B875-CA6DE3B45143}" v="826" dt="2026-09-07T15:23:19.6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49" Type="http://schemas.microsoft.com/office/2015/10/relationships/revisionInfo" Target="revisionInfo.xml"/><Relationship Id="rId50" Type="http://schemas.microsoft.com/office/2018/10/relationships/authors" Target="authors.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s>
</file>

<file path=ppt/comments/modernComment_3E9_235FCCCF.xml><?xml version="1.0" encoding="utf-8"?>
<p188:cmLst xmlns:a="http://schemas.openxmlformats.org/drawingml/2006/main" xmlns:r="http://schemas.openxmlformats.org/officeDocument/2006/relationships" xmlns:p188="http://schemas.microsoft.com/office/powerpoint/2018/8/main">
  <p188:cm id="{E26A93D2-5C71-407B-B0B8-DF3D18A04FF2}" authorId="{9DE0F011-64DD-016F-B5BE-C6876AC381CC}" created="2026-09-04T10:17:07.371">
    <ac:deMkLst xmlns:ac="http://schemas.microsoft.com/office/drawing/2013/main/command">
      <pc:docMk xmlns:pc="http://schemas.microsoft.com/office/powerpoint/2013/main/command"/>
      <pc:sldMk xmlns:pc="http://schemas.microsoft.com/office/powerpoint/2013/main/command" cId="593480911" sldId="1001"/>
      <ac:spMk id="20" creationId="{73AC158A-919C-3537-B371-4BA9DBB33641}"/>
    </ac:deMkLst>
    <p188:txBody>
      <a:bodyPr/>
      <a:lstStyle/>
      <a:p>
        <a:r>
          <a:rPr lang="en-US"/>
          <a:t>mention C1/C2 specifically
gemini &amp; Gemini NOtebook</a:t>
        </a:r>
      </a:p>
    </p188:txBody>
  </p188:cm>
  <p188:cm id="{116D1C1F-0BC9-4C98-A557-72916B568B8A}" authorId="{9DE0F011-64DD-016F-B5BE-C6876AC381CC}" created="2026-09-04T10:18:01.123">
    <ac:deMkLst xmlns:ac="http://schemas.microsoft.com/office/drawing/2013/main/command">
      <pc:docMk xmlns:pc="http://schemas.microsoft.com/office/powerpoint/2013/main/command"/>
      <pc:sldMk xmlns:pc="http://schemas.microsoft.com/office/powerpoint/2013/main/command" cId="593480911" sldId="1001"/>
      <ac:spMk id="21" creationId="{D535AE4B-5645-3273-0F8D-EC08051E20A7}"/>
    </ac:deMkLst>
    <p188:replyLst>
      <p188:reply id="{F1C4E72B-C506-4193-9446-03FBE74326BA}" authorId="{9DE0F011-64DD-016F-B5BE-C6876AC381CC}" created="2026-09-04T10:18:35.345">
        <p188:txBody>
          <a:bodyPr/>
          <a:lstStyle/>
          <a:p>
            <a:r>
              <a:rPr lang="en-US"/>
              <a:t>reduce duplication private or incognito window</a:t>
            </a:r>
          </a:p>
        </p188:txBody>
      </p188:reply>
    </p188:replyLst>
    <p188:txBody>
      <a:bodyPr/>
      <a:lstStyle/>
      <a:p>
        <a:r>
          <a:rPr lang="en-US"/>
          <a:t>check with edd is priviate wthe tempory fix or not?</a:t>
        </a:r>
      </a:p>
    </p188:txBody>
  </p188:cm>
</p188:cmLst>
</file>

<file path=ppt/comments/modernComment_3EB_51AFD08B.xml><?xml version="1.0" encoding="utf-8"?>
<p188:cmLst xmlns:a="http://schemas.openxmlformats.org/drawingml/2006/main" xmlns:r="http://schemas.openxmlformats.org/officeDocument/2006/relationships" xmlns:p188="http://schemas.microsoft.com/office/powerpoint/2018/8/main">
  <p188:cm id="{1E139545-192F-49CF-A362-27F05C29AF63}" authorId="{9DE0F011-64DD-016F-B5BE-C6876AC381CC}" created="2026-09-04T10:22:26.226">
    <pc:sldMkLst xmlns:pc="http://schemas.microsoft.com/office/powerpoint/2013/main/command">
      <pc:docMk/>
      <pc:sldMk cId="1370476683" sldId="1003"/>
    </pc:sldMkLst>
    <p188:txBody>
      <a:bodyPr/>
      <a:lstStyle/>
      <a:p>
        <a:r>
          <a:rPr lang="en-US"/>
          <a:t>faf between filesystem</a:t>
        </a:r>
      </a:p>
    </p188:txBody>
  </p188:cm>
</p188:cmLst>
</file>

<file path=ppt/comments/modernComment_3F3_A77BC7CA.xml><?xml version="1.0" encoding="utf-8"?>
<p188:cmLst xmlns:a="http://schemas.openxmlformats.org/drawingml/2006/main" xmlns:r="http://schemas.openxmlformats.org/officeDocument/2006/relationships" xmlns:p188="http://schemas.microsoft.com/office/powerpoint/2018/8/main">
  <p188:cm id="{AC9B12D5-F09D-40E2-BE6B-D336ADCEA57F}" authorId="{9DE0F011-64DD-016F-B5BE-C6876AC381CC}" created="2026-09-04T10:31:12.213">
    <ac:deMkLst xmlns:ac="http://schemas.microsoft.com/office/drawing/2013/main/command">
      <pc:docMk xmlns:pc="http://schemas.microsoft.com/office/powerpoint/2013/main/command"/>
      <pc:sldMk xmlns:pc="http://schemas.microsoft.com/office/powerpoint/2013/main/command" cId="2809907146" sldId="1011"/>
      <ac:spMk id="4" creationId="{BD0E9665-18F5-4B1B-736C-765A1D73AE6B}"/>
    </ac:deMkLst>
    <p188:txBody>
      <a:bodyPr/>
      <a:lstStyle/>
      <a:p>
        <a:r>
          <a:rPr lang="en-US"/>
          <a:t>what are we trying todo rather than the prompt?</a:t>
        </a:r>
      </a:p>
    </p188:txBody>
  </p188:cm>
</p188:cmLst>
</file>

<file path=ppt/comments/modernComment_3F9_E1784389.xml><?xml version="1.0" encoding="utf-8"?>
<p188:cmLst xmlns:a="http://schemas.openxmlformats.org/drawingml/2006/main" xmlns:r="http://schemas.openxmlformats.org/officeDocument/2006/relationships" xmlns:p188="http://schemas.microsoft.com/office/powerpoint/2018/8/main">
  <p188:cm id="{6B67132F-6108-42F6-A4F1-411C4D53312F}" authorId="{9DE0F011-64DD-016F-B5BE-C6876AC381CC}" created="2026-09-04T11:11:53.827">
    <pc:sldMkLst xmlns:pc="http://schemas.microsoft.com/office/powerpoint/2013/main/command">
      <pc:docMk/>
      <pc:sldMk cId="549288786" sldId="1017"/>
    </pc:sldMkLst>
    <p188:txBody>
      <a:bodyPr/>
      <a:lstStyle/>
      <a:p>
        <a:r>
          <a:rPr lang="en-US"/>
          <a:t>need exercise NAMES ON </a:t>
        </a:r>
      </a:p>
    </p188:txBody>
  </p188:cm>
</p188:cmLst>
</file>

<file path=ppt/comments/modernComment_3FB_298D91B3.xml><?xml version="1.0" encoding="utf-8"?>
<p188:cmLst xmlns:a="http://schemas.openxmlformats.org/drawingml/2006/main" xmlns:r="http://schemas.openxmlformats.org/officeDocument/2006/relationships" xmlns:p188="http://schemas.microsoft.com/office/powerpoint/2018/8/main">
  <p188:cm id="{AFBD2EF6-CF63-4F14-A636-FE797C6650ED}" authorId="{9DE0F011-64DD-016F-B5BE-C6876AC381CC}" created="2026-09-04T10:13:55.417">
    <pc:sldMkLst xmlns:pc="http://schemas.microsoft.com/office/powerpoint/2013/main/command">
      <pc:docMk/>
      <pc:sldMk cId="697143731" sldId="1019"/>
    </pc:sldMkLst>
    <p188:txBody>
      <a:bodyPr/>
      <a:lstStyle/>
      <a:p>
        <a:r>
          <a:rPr lang="en-US"/>
          <a:t>this shoul;d be starring you, you the Matts</a:t>
        </a:r>
      </a:p>
    </p188:txBody>
  </p188:cm>
  <p188:cm id="{97E9B55F-51F5-4A53-8140-B81852B1065C}" authorId="{9DE0F011-64DD-016F-B5BE-C6876AC381CC}" created="2026-09-04T11:32:03.777">
    <pc:sldMkLst xmlns:pc="http://schemas.microsoft.com/office/powerpoint/2013/main/command">
      <pc:docMk/>
      <pc:sldMk cId="697143731" sldId="1019"/>
    </pc:sldMkLst>
    <p188:txBody>
      <a:bodyPr/>
      <a:lstStyle/>
      <a:p>
        <a:r>
          <a:rPr lang="en-US"/>
          <a:t>Copilot and Google AI both have different strengths and weakness. we need to say which for which?</a:t>
        </a:r>
      </a:p>
    </p188:txBody>
  </p188:cm>
</p188:cmLst>
</file>

<file path=ppt/comments/modernComment_3FC_D53DFFED.xml><?xml version="1.0" encoding="utf-8"?>
<p188:cmLst xmlns:a="http://schemas.openxmlformats.org/drawingml/2006/main" xmlns:r="http://schemas.openxmlformats.org/officeDocument/2006/relationships" xmlns:p188="http://schemas.microsoft.com/office/powerpoint/2018/8/main">
  <p188:cm id="{45C15A82-9B30-406E-B5ED-A466A83AC357}" authorId="{9DE0F011-64DD-016F-B5BE-C6876AC381CC}" created="2026-09-04T10:42:20.824">
    <ac:deMkLst xmlns:ac="http://schemas.microsoft.com/office/drawing/2013/main/command">
      <pc:docMk xmlns:pc="http://schemas.microsoft.com/office/powerpoint/2013/main/command"/>
      <pc:sldMk xmlns:pc="http://schemas.microsoft.com/office/powerpoint/2013/main/command" cId="3577610221" sldId="1020"/>
      <ac:spMk id="12" creationId="{64D6649E-17F8-69F7-5151-19B4155BF6D0}"/>
    </ac:deMkLst>
    <p188:txBody>
      <a:bodyPr/>
      <a:lstStyle/>
      <a:p>
        <a:r>
          <a:rPr lang="en-US"/>
          <a:t>talk about how reverse enginering can be used for anything</a:t>
        </a:r>
      </a:p>
    </p188:txBody>
  </p188:cm>
</p188:cmLst>
</file>

<file path=ppt/comments/modernComment_3FD_1EF7D9F.xml><?xml version="1.0" encoding="utf-8"?>
<p188:cmLst xmlns:a="http://schemas.openxmlformats.org/drawingml/2006/main" xmlns:r="http://schemas.openxmlformats.org/officeDocument/2006/relationships" xmlns:p188="http://schemas.microsoft.com/office/powerpoint/2018/8/main">
  <p188:cm id="{E1B29453-4C43-40A1-AA36-E2A97689072A}" authorId="{9DE0F011-64DD-016F-B5BE-C6876AC381CC}" created="2026-09-04T10:49:07.309">
    <ac:deMkLst xmlns:ac="http://schemas.microsoft.com/office/drawing/2013/main/command">
      <pc:docMk xmlns:pc="http://schemas.microsoft.com/office/powerpoint/2013/main/command"/>
      <pc:sldMk xmlns:pc="http://schemas.microsoft.com/office/powerpoint/2013/main/command" cId="32472479" sldId="1021"/>
      <ac:spMk id="4" creationId="{25C4AC4F-87F6-BE89-FB2F-EBC7828C7D88}"/>
    </ac:deMkLst>
    <p188:txBody>
      <a:bodyPr/>
      <a:lstStyle/>
      <a:p>
        <a:r>
          <a:rPr lang="en-US"/>
          <a:t>negation sounds abit coimplicated</a:t>
        </a:r>
      </a:p>
    </p188:txBody>
  </p188:cm>
</p188:cmLst>
</file>

<file path=ppt/comments/modernComment_3FF_FF84563D.xml><?xml version="1.0" encoding="utf-8"?>
<p188:cmLst xmlns:a="http://schemas.openxmlformats.org/drawingml/2006/main" xmlns:r="http://schemas.openxmlformats.org/officeDocument/2006/relationships" xmlns:p188="http://schemas.microsoft.com/office/powerpoint/2018/8/main">
  <p188:cm id="{C2CAE30B-5AFC-4227-9F48-C16F6D621C22}" authorId="{9DE0F011-64DD-016F-B5BE-C6876AC381CC}" created="2026-09-04T10:46:20.976">
    <ac:deMkLst xmlns:ac="http://schemas.microsoft.com/office/drawing/2013/main/command">
      <pc:docMk xmlns:pc="http://schemas.microsoft.com/office/powerpoint/2013/main/command"/>
      <pc:sldMk xmlns:pc="http://schemas.microsoft.com/office/powerpoint/2013/main/command" cId="4286862909" sldId="1023"/>
      <ac:spMk id="4" creationId="{415F7E79-2636-D32D-7BBD-1048F2912CB8}"/>
    </ac:deMkLst>
    <p188:txBody>
      <a:bodyPr/>
      <a:lstStyle/>
      <a:p>
        <a:r>
          <a:rPr lang="en-US"/>
          <a:t>thin out to 3 bullet points</a:t>
        </a:r>
      </a:p>
    </p188:txBody>
  </p188:cm>
</p188:cmLst>
</file>

<file path=ppt/comments/modernComment_41B_9EE2E729.xml><?xml version="1.0" encoding="utf-8"?>
<p188:cmLst xmlns:a="http://schemas.openxmlformats.org/drawingml/2006/main" xmlns:r="http://schemas.openxmlformats.org/officeDocument/2006/relationships" xmlns:p188="http://schemas.microsoft.com/office/powerpoint/2018/8/main">
  <p188:cm id="{09348720-E981-4E9A-B759-AA121C1E66E3}" authorId="{9DE0F011-64DD-016F-B5BE-C6876AC381CC}" created="2026-09-04T10:20:24.647">
    <pc:sldMkLst xmlns:pc="http://schemas.microsoft.com/office/powerpoint/2013/main/command">
      <pc:docMk/>
      <pc:sldMk cId="2665670441" sldId="1051"/>
    </pc:sldMkLst>
    <p188:txBody>
      <a:bodyPr/>
      <a:lstStyle/>
      <a:p>
        <a:r>
          <a:rPr lang="en-US"/>
          <a:t>community sharte best practise</a:t>
        </a:r>
      </a:p>
    </p188:txBody>
  </p188:cm>
</p188:cmLst>
</file>

<file path=ppt/comments/modernComment_404_3A9CA2DD.xml><?xml version="1.0" encoding="utf-8"?>
<p188:cmLst xmlns:a="http://schemas.openxmlformats.org/drawingml/2006/main" xmlns:r="http://schemas.openxmlformats.org/officeDocument/2006/relationships" xmlns:p188="http://schemas.microsoft.com/office/powerpoint/2018/8/main">
  <p188:cm id="{AE80BEDA-9DC3-4EB6-9D7A-4CB553F16B59}" authorId="{9DE0F011-64DD-016F-B5BE-C6876AC381CC}" created="2026-09-04T11:01:48.336">
    <pc:sldMkLst xmlns:pc="http://schemas.microsoft.com/office/powerpoint/2013/main/command">
      <pc:docMk/>
      <pc:sldMk cId="983343837" sldId="1028"/>
    </pc:sldMkLst>
    <p188:txBody>
      <a:bodyPr/>
      <a:lstStyle/>
      <a:p>
        <a:r>
          <a:rPr lang="en-US"/>
          <a:t>moving from scattered experiments to stardardised soloutions</a:t>
        </a:r>
      </a:p>
    </p188:txBody>
  </p188:cm>
  <p188:cm id="{86E59182-71CB-4147-A70A-B26C58AAA5D0}" authorId="{9DE0F011-64DD-016F-B5BE-C6876AC381CC}" created="2026-09-04T11:13:56.144">
    <ac:deMkLst xmlns:ac="http://schemas.microsoft.com/office/drawing/2013/main/command">
      <pc:docMk xmlns:pc="http://schemas.microsoft.com/office/powerpoint/2013/main/command"/>
      <pc:sldMk xmlns:pc="http://schemas.microsoft.com/office/powerpoint/2013/main/command" cId="983343837" sldId="1028"/>
      <ac:picMk id="6" creationId="{E1F3081E-00E4-37D2-D1A8-DD70F625C5F3}"/>
    </ac:deMkLst>
    <p188:txBody>
      <a:bodyPr/>
      <a:lstStyle/>
      <a:p>
        <a:r>
          <a:rPr lang="en-US"/>
          <a:t>HOW ARE USING AI EXERCISE, DISCUSS AS A GROUPP AND GO</a:t>
        </a:r>
      </a:p>
    </p188:txBody>
  </p188:cm>
</p188:cmLst>
</file>

<file path=ppt/comments/modernComment_412_B6BA5436.xml><?xml version="1.0" encoding="utf-8"?>
<p188:cmLst xmlns:a="http://schemas.openxmlformats.org/drawingml/2006/main" xmlns:r="http://schemas.openxmlformats.org/officeDocument/2006/relationships" xmlns:p188="http://schemas.microsoft.com/office/powerpoint/2018/8/main">
  <p188:cm id="{55E892AB-717C-4EF9-8AA0-3B1CFA42A66E}" authorId="{9DE0F011-64DD-016F-B5BE-C6876AC381CC}" created="2026-09-04T11:02:11.774">
    <pc:sldMkLst xmlns:pc="http://schemas.microsoft.com/office/powerpoint/2013/main/command">
      <pc:docMk/>
      <pc:sldMk cId="3065664566" sldId="1042"/>
    </pc:sldMkLst>
    <p188:txBody>
      <a:bodyPr/>
      <a:lstStyle/>
      <a:p>
        <a:r>
          <a:rPr lang="en-US"/>
          <a:t>this is gold we need a worked example</a:t>
        </a:r>
      </a:p>
    </p188:txBody>
  </p188:cm>
</p188:cmLst>
</file>

<file path=ppt/comments/modernComment_426_C69FB1CF.xml><?xml version="1.0" encoding="utf-8"?>
<p188:cmLst xmlns:a="http://schemas.openxmlformats.org/drawingml/2006/main" xmlns:r="http://schemas.openxmlformats.org/officeDocument/2006/relationships" xmlns:p188="http://schemas.microsoft.com/office/powerpoint/2018/8/main">
  <p188:cm id="{91D80857-819B-4878-B33E-5F5D01AB2F66}" authorId="{9DE0F011-64DD-016F-B5BE-C6876AC381CC}" created="2026-09-04T10:20:24.647">
    <pc:sldMkLst xmlns:pc="http://schemas.microsoft.com/office/powerpoint/2013/main/command">
      <pc:docMk/>
      <pc:sldMk cId="2665670441" sldId="1051"/>
    </pc:sldMkLst>
    <p188:txBody>
      <a:bodyPr/>
      <a:lstStyle/>
      <a:p>
        <a:r>
          <a:rPr lang="en-US"/>
          <a:t>community sharte best practise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3910F-F2AE-48BB-80F2-E1F65178E9D4}" type="datetimeFigureOut">
              <a:rPr lang="en-GB" smtClean="0"/>
              <a:t>07/09/2026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9C7B01-ADD5-4876-947A-0EB19D46EFE9}" type="slidenum">
              <a:rPr lang="en-GB" smtClean="0"/>
              <a:t>‹#›</a:t>
            </a:fld>
            <a:endParaRPr lang="en-GB"/>
          </a:p>
        </p:txBody>
      </p:sp>
    </p:spTree>
    <p:extLst>
      <p:ext uri="{BB962C8B-B14F-4D97-AF65-F5344CB8AC3E}">
        <p14:creationId xmlns:p14="http://schemas.microsoft.com/office/powerpoint/2010/main" val="3507185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F7A8F-061E-FB4B-9211-B3077358D1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94647A-8F48-6BA8-03F4-B53354681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23BA10-D1B9-6EC6-2C78-F823DC77E0E6}"/>
              </a:ext>
            </a:extLst>
          </p:cNvPr>
          <p:cNvSpPr>
            <a:spLocks noGrp="1"/>
          </p:cNvSpPr>
          <p:nvPr>
            <p:ph type="body" idx="1"/>
          </p:nvPr>
        </p:nvSpPr>
        <p:spPr/>
        <p:txBody>
          <a:bodyPr/>
          <a:lstStyle/>
          <a:p>
            <a:r>
              <a:rPr lang="en-US"/>
              <a:t>Content adapted from gates 6 and 7 in Scaling_AI_from_Experiment_to_Standard_Practice.docx. Clean horizontal layout with top third intentionally blank.</a:t>
            </a:r>
          </a:p>
        </p:txBody>
      </p:sp>
      <p:sp>
        <p:nvSpPr>
          <p:cNvPr id="4" name="Slide Number Placeholder 3">
            <a:extLst>
              <a:ext uri="{FF2B5EF4-FFF2-40B4-BE49-F238E27FC236}">
                <a16:creationId xmlns:a16="http://schemas.microsoft.com/office/drawing/2014/main" id="{D3374447-6721-68E9-B819-321AAC4FEB5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4855110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A3464-70A3-7FF1-1639-9E73264146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F758A8-6888-1E73-A175-5B27D11593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B7693B-7F50-5145-D966-21607C271B22}"/>
              </a:ext>
            </a:extLst>
          </p:cNvPr>
          <p:cNvSpPr>
            <a:spLocks noGrp="1"/>
          </p:cNvSpPr>
          <p:nvPr>
            <p:ph type="body" idx="1"/>
          </p:nvPr>
        </p:nvSpPr>
        <p:spPr/>
        <p:txBody>
          <a:bodyPr/>
          <a:lstStyle/>
          <a:p>
            <a:r>
              <a:rPr lang="en-US"/>
              <a:t>Content adapted from gates 6 and 7 in Scaling_AI_from_Experiment_to_Standard_Practice.docx. Clean horizontal layout with top third intentionally blank.</a:t>
            </a:r>
          </a:p>
        </p:txBody>
      </p:sp>
      <p:sp>
        <p:nvSpPr>
          <p:cNvPr id="4" name="Slide Number Placeholder 3">
            <a:extLst>
              <a:ext uri="{FF2B5EF4-FFF2-40B4-BE49-F238E27FC236}">
                <a16:creationId xmlns:a16="http://schemas.microsoft.com/office/drawing/2014/main" id="{32C9DC10-3B00-375B-2DC3-5DCAAE9CEBA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482386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AC009-B775-F46D-E43F-2422C574A6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B41BA9-9644-CD79-9B27-A79B36EE63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964C17-64FD-81A9-D1CD-CFA1092FCFA8}"/>
              </a:ext>
            </a:extLst>
          </p:cNvPr>
          <p:cNvSpPr>
            <a:spLocks noGrp="1"/>
          </p:cNvSpPr>
          <p:nvPr>
            <p:ph type="body" idx="1"/>
          </p:nvPr>
        </p:nvSpPr>
        <p:spPr/>
        <p:txBody>
          <a:bodyPr/>
          <a:lstStyle/>
          <a:p>
            <a:r>
              <a:rPr lang="en-US"/>
              <a:t>Content adapted from gates 6 and 7 in Scaling_AI_from_Experiment_to_Standard_Practice.docx. Clean horizontal layout with top third intentionally blank.</a:t>
            </a:r>
          </a:p>
        </p:txBody>
      </p:sp>
      <p:sp>
        <p:nvSpPr>
          <p:cNvPr id="4" name="Slide Number Placeholder 3">
            <a:extLst>
              <a:ext uri="{FF2B5EF4-FFF2-40B4-BE49-F238E27FC236}">
                <a16:creationId xmlns:a16="http://schemas.microsoft.com/office/drawing/2014/main" id="{618051B8-2633-9781-1F4C-4FE2F1F6D6F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203919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FAEA8-FABF-8CE2-2834-763DB9F73F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9B675AE-D26D-2E27-A46F-9DB7B815CD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6B75F02-8627-A20A-11B2-7C97F929F18F}"/>
              </a:ext>
            </a:extLst>
          </p:cNvPr>
          <p:cNvSpPr>
            <a:spLocks noGrp="1"/>
          </p:cNvSpPr>
          <p:nvPr>
            <p:ph type="dt" sz="half" idx="10"/>
          </p:nvPr>
        </p:nvSpPr>
        <p:spPr/>
        <p:txBody>
          <a:bodyPr/>
          <a:lstStyle/>
          <a:p>
            <a:fld id="{8D861514-49A6-417C-9FCB-15415C79F7BE}" type="datetimeFigureOut">
              <a:rPr lang="en-GB" smtClean="0"/>
              <a:t>07/09/2026</a:t>
            </a:fld>
            <a:endParaRPr lang="en-GB"/>
          </a:p>
        </p:txBody>
      </p:sp>
      <p:sp>
        <p:nvSpPr>
          <p:cNvPr id="5" name="Footer Placeholder 4">
            <a:extLst>
              <a:ext uri="{FF2B5EF4-FFF2-40B4-BE49-F238E27FC236}">
                <a16:creationId xmlns:a16="http://schemas.microsoft.com/office/drawing/2014/main" id="{36DEC27A-CD64-5BD9-143E-5DEA6721241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E51E968-3008-5622-EB36-65DF8C9B34C6}"/>
              </a:ext>
            </a:extLst>
          </p:cNvPr>
          <p:cNvSpPr>
            <a:spLocks noGrp="1"/>
          </p:cNvSpPr>
          <p:nvPr>
            <p:ph type="sldNum" sz="quarter" idx="12"/>
          </p:nvPr>
        </p:nvSpPr>
        <p:spPr/>
        <p:txBody>
          <a:bodyPr/>
          <a:lstStyle/>
          <a:p>
            <a:fld id="{BBB8C4B2-FFD3-4DC8-98EF-638017EAD05F}" type="slidenum">
              <a:rPr lang="en-GB" smtClean="0"/>
              <a:t>‹#›</a:t>
            </a:fld>
            <a:endParaRPr lang="en-GB"/>
          </a:p>
        </p:txBody>
      </p:sp>
    </p:spTree>
    <p:extLst>
      <p:ext uri="{BB962C8B-B14F-4D97-AF65-F5344CB8AC3E}">
        <p14:creationId xmlns:p14="http://schemas.microsoft.com/office/powerpoint/2010/main" val="3545444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D3000-89C7-73A2-DA92-C25FF2B558E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5A0FD20-5482-B91E-2733-910DAA37D7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50633AD-1D5C-A8A1-AFB4-B749663E3463}"/>
              </a:ext>
            </a:extLst>
          </p:cNvPr>
          <p:cNvSpPr>
            <a:spLocks noGrp="1"/>
          </p:cNvSpPr>
          <p:nvPr>
            <p:ph type="dt" sz="half" idx="10"/>
          </p:nvPr>
        </p:nvSpPr>
        <p:spPr/>
        <p:txBody>
          <a:bodyPr/>
          <a:lstStyle/>
          <a:p>
            <a:fld id="{8D861514-49A6-417C-9FCB-15415C79F7BE}" type="datetimeFigureOut">
              <a:rPr lang="en-GB" smtClean="0"/>
              <a:t>07/09/2026</a:t>
            </a:fld>
            <a:endParaRPr lang="en-GB"/>
          </a:p>
        </p:txBody>
      </p:sp>
      <p:sp>
        <p:nvSpPr>
          <p:cNvPr id="5" name="Footer Placeholder 4">
            <a:extLst>
              <a:ext uri="{FF2B5EF4-FFF2-40B4-BE49-F238E27FC236}">
                <a16:creationId xmlns:a16="http://schemas.microsoft.com/office/drawing/2014/main" id="{FB689DF4-E4D2-DE26-CD63-3F0AEB01276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3AC56F5-9E90-12E6-D098-71B035ED9ADB}"/>
              </a:ext>
            </a:extLst>
          </p:cNvPr>
          <p:cNvSpPr>
            <a:spLocks noGrp="1"/>
          </p:cNvSpPr>
          <p:nvPr>
            <p:ph type="sldNum" sz="quarter" idx="12"/>
          </p:nvPr>
        </p:nvSpPr>
        <p:spPr/>
        <p:txBody>
          <a:bodyPr/>
          <a:lstStyle/>
          <a:p>
            <a:fld id="{BBB8C4B2-FFD3-4DC8-98EF-638017EAD05F}" type="slidenum">
              <a:rPr lang="en-GB" smtClean="0"/>
              <a:t>‹#›</a:t>
            </a:fld>
            <a:endParaRPr lang="en-GB"/>
          </a:p>
        </p:txBody>
      </p:sp>
    </p:spTree>
    <p:extLst>
      <p:ext uri="{BB962C8B-B14F-4D97-AF65-F5344CB8AC3E}">
        <p14:creationId xmlns:p14="http://schemas.microsoft.com/office/powerpoint/2010/main" val="3961163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1AC67-85CC-0C52-0CF9-C586A7BA91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E31E383-8D8D-9275-9DEE-BA36F3D277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40659C-1D3C-F8F1-3715-E83BEA6604EF}"/>
              </a:ext>
            </a:extLst>
          </p:cNvPr>
          <p:cNvSpPr>
            <a:spLocks noGrp="1"/>
          </p:cNvSpPr>
          <p:nvPr>
            <p:ph type="dt" sz="half" idx="10"/>
          </p:nvPr>
        </p:nvSpPr>
        <p:spPr/>
        <p:txBody>
          <a:bodyPr/>
          <a:lstStyle/>
          <a:p>
            <a:fld id="{8D861514-49A6-417C-9FCB-15415C79F7BE}" type="datetimeFigureOut">
              <a:rPr lang="en-GB" smtClean="0"/>
              <a:t>07/09/2026</a:t>
            </a:fld>
            <a:endParaRPr lang="en-GB"/>
          </a:p>
        </p:txBody>
      </p:sp>
      <p:sp>
        <p:nvSpPr>
          <p:cNvPr id="5" name="Footer Placeholder 4">
            <a:extLst>
              <a:ext uri="{FF2B5EF4-FFF2-40B4-BE49-F238E27FC236}">
                <a16:creationId xmlns:a16="http://schemas.microsoft.com/office/drawing/2014/main" id="{1E8A8799-D4EB-0AD7-94E2-0E43454C1B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997041-F705-C570-AF5F-D3444880B524}"/>
              </a:ext>
            </a:extLst>
          </p:cNvPr>
          <p:cNvSpPr>
            <a:spLocks noGrp="1"/>
          </p:cNvSpPr>
          <p:nvPr>
            <p:ph type="sldNum" sz="quarter" idx="12"/>
          </p:nvPr>
        </p:nvSpPr>
        <p:spPr/>
        <p:txBody>
          <a:bodyPr/>
          <a:lstStyle/>
          <a:p>
            <a:fld id="{BBB8C4B2-FFD3-4DC8-98EF-638017EAD05F}" type="slidenum">
              <a:rPr lang="en-GB" smtClean="0"/>
              <a:t>‹#›</a:t>
            </a:fld>
            <a:endParaRPr lang="en-GB"/>
          </a:p>
        </p:txBody>
      </p:sp>
    </p:spTree>
    <p:extLst>
      <p:ext uri="{BB962C8B-B14F-4D97-AF65-F5344CB8AC3E}">
        <p14:creationId xmlns:p14="http://schemas.microsoft.com/office/powerpoint/2010/main" val="819046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412C5-4FFE-67DB-8D82-370A3B8DD48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AE6B7D6-50AD-F666-42CA-B1AF3F24A5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07B3160-D7A4-7145-2B43-CB14730AF1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9FEA915-863B-42F9-A060-A5BA5E65A442}"/>
              </a:ext>
            </a:extLst>
          </p:cNvPr>
          <p:cNvSpPr>
            <a:spLocks noGrp="1"/>
          </p:cNvSpPr>
          <p:nvPr>
            <p:ph type="dt" sz="half" idx="10"/>
          </p:nvPr>
        </p:nvSpPr>
        <p:spPr/>
        <p:txBody>
          <a:bodyPr/>
          <a:lstStyle/>
          <a:p>
            <a:fld id="{8D861514-49A6-417C-9FCB-15415C79F7BE}" type="datetimeFigureOut">
              <a:rPr lang="en-GB" smtClean="0"/>
              <a:t>07/09/2026</a:t>
            </a:fld>
            <a:endParaRPr lang="en-GB"/>
          </a:p>
        </p:txBody>
      </p:sp>
      <p:sp>
        <p:nvSpPr>
          <p:cNvPr id="6" name="Footer Placeholder 5">
            <a:extLst>
              <a:ext uri="{FF2B5EF4-FFF2-40B4-BE49-F238E27FC236}">
                <a16:creationId xmlns:a16="http://schemas.microsoft.com/office/drawing/2014/main" id="{48C2B8BA-41F4-75E8-EDEF-1B2490F068B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FAFF456-A66D-0294-FF28-ECC0C4275DC6}"/>
              </a:ext>
            </a:extLst>
          </p:cNvPr>
          <p:cNvSpPr>
            <a:spLocks noGrp="1"/>
          </p:cNvSpPr>
          <p:nvPr>
            <p:ph type="sldNum" sz="quarter" idx="12"/>
          </p:nvPr>
        </p:nvSpPr>
        <p:spPr/>
        <p:txBody>
          <a:bodyPr/>
          <a:lstStyle/>
          <a:p>
            <a:fld id="{BBB8C4B2-FFD3-4DC8-98EF-638017EAD05F}" type="slidenum">
              <a:rPr lang="en-GB" smtClean="0"/>
              <a:t>‹#›</a:t>
            </a:fld>
            <a:endParaRPr lang="en-GB"/>
          </a:p>
        </p:txBody>
      </p:sp>
    </p:spTree>
    <p:extLst>
      <p:ext uri="{BB962C8B-B14F-4D97-AF65-F5344CB8AC3E}">
        <p14:creationId xmlns:p14="http://schemas.microsoft.com/office/powerpoint/2010/main" val="3369741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3A806-4682-2E87-1FC3-831DE603EB6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A33DAA1-EB7A-93F4-FED6-3A27A96A11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611B0E-B8AF-A183-724A-4DFA34A7A6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50CAFD1-2246-4A43-6D16-FBE7438EF1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AB095D-3E3B-BDD5-3331-BD3323FD43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1297906-38DD-8598-B432-B6EF57717EB2}"/>
              </a:ext>
            </a:extLst>
          </p:cNvPr>
          <p:cNvSpPr>
            <a:spLocks noGrp="1"/>
          </p:cNvSpPr>
          <p:nvPr>
            <p:ph type="dt" sz="half" idx="10"/>
          </p:nvPr>
        </p:nvSpPr>
        <p:spPr/>
        <p:txBody>
          <a:bodyPr/>
          <a:lstStyle/>
          <a:p>
            <a:fld id="{8D861514-49A6-417C-9FCB-15415C79F7BE}" type="datetimeFigureOut">
              <a:rPr lang="en-GB" smtClean="0"/>
              <a:t>07/09/2026</a:t>
            </a:fld>
            <a:endParaRPr lang="en-GB"/>
          </a:p>
        </p:txBody>
      </p:sp>
      <p:sp>
        <p:nvSpPr>
          <p:cNvPr id="8" name="Footer Placeholder 7">
            <a:extLst>
              <a:ext uri="{FF2B5EF4-FFF2-40B4-BE49-F238E27FC236}">
                <a16:creationId xmlns:a16="http://schemas.microsoft.com/office/drawing/2014/main" id="{50385AC4-63DA-0BE3-1244-4C51ED84258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7A9DD46-B4AB-58C3-572F-F9FC4E914E13}"/>
              </a:ext>
            </a:extLst>
          </p:cNvPr>
          <p:cNvSpPr>
            <a:spLocks noGrp="1"/>
          </p:cNvSpPr>
          <p:nvPr>
            <p:ph type="sldNum" sz="quarter" idx="12"/>
          </p:nvPr>
        </p:nvSpPr>
        <p:spPr/>
        <p:txBody>
          <a:bodyPr/>
          <a:lstStyle/>
          <a:p>
            <a:fld id="{BBB8C4B2-FFD3-4DC8-98EF-638017EAD05F}" type="slidenum">
              <a:rPr lang="en-GB" smtClean="0"/>
              <a:t>‹#›</a:t>
            </a:fld>
            <a:endParaRPr lang="en-GB"/>
          </a:p>
        </p:txBody>
      </p:sp>
    </p:spTree>
    <p:extLst>
      <p:ext uri="{BB962C8B-B14F-4D97-AF65-F5344CB8AC3E}">
        <p14:creationId xmlns:p14="http://schemas.microsoft.com/office/powerpoint/2010/main" val="481316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61EC8-AB11-0F09-33FC-054A98C58DC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8288664-3CD0-FE85-A7B8-9761C3F1B2F9}"/>
              </a:ext>
            </a:extLst>
          </p:cNvPr>
          <p:cNvSpPr>
            <a:spLocks noGrp="1"/>
          </p:cNvSpPr>
          <p:nvPr>
            <p:ph type="dt" sz="half" idx="10"/>
          </p:nvPr>
        </p:nvSpPr>
        <p:spPr/>
        <p:txBody>
          <a:bodyPr/>
          <a:lstStyle/>
          <a:p>
            <a:fld id="{8D861514-49A6-417C-9FCB-15415C79F7BE}" type="datetimeFigureOut">
              <a:rPr lang="en-GB" smtClean="0"/>
              <a:t>07/09/2026</a:t>
            </a:fld>
            <a:endParaRPr lang="en-GB"/>
          </a:p>
        </p:txBody>
      </p:sp>
      <p:sp>
        <p:nvSpPr>
          <p:cNvPr id="4" name="Footer Placeholder 3">
            <a:extLst>
              <a:ext uri="{FF2B5EF4-FFF2-40B4-BE49-F238E27FC236}">
                <a16:creationId xmlns:a16="http://schemas.microsoft.com/office/drawing/2014/main" id="{80F933C8-0F4C-148D-1C43-92B67FEF43A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D232B4A-FE5F-EEFA-0966-D13CC9306ED1}"/>
              </a:ext>
            </a:extLst>
          </p:cNvPr>
          <p:cNvSpPr>
            <a:spLocks noGrp="1"/>
          </p:cNvSpPr>
          <p:nvPr>
            <p:ph type="sldNum" sz="quarter" idx="12"/>
          </p:nvPr>
        </p:nvSpPr>
        <p:spPr/>
        <p:txBody>
          <a:bodyPr/>
          <a:lstStyle/>
          <a:p>
            <a:fld id="{BBB8C4B2-FFD3-4DC8-98EF-638017EAD05F}" type="slidenum">
              <a:rPr lang="en-GB" smtClean="0"/>
              <a:t>‹#›</a:t>
            </a:fld>
            <a:endParaRPr lang="en-GB"/>
          </a:p>
        </p:txBody>
      </p:sp>
    </p:spTree>
    <p:extLst>
      <p:ext uri="{BB962C8B-B14F-4D97-AF65-F5344CB8AC3E}">
        <p14:creationId xmlns:p14="http://schemas.microsoft.com/office/powerpoint/2010/main" val="3768868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E6339D-46A7-BFA2-D08E-D7CA4017CD16}"/>
              </a:ext>
            </a:extLst>
          </p:cNvPr>
          <p:cNvSpPr>
            <a:spLocks noGrp="1"/>
          </p:cNvSpPr>
          <p:nvPr>
            <p:ph type="dt" sz="half" idx="10"/>
          </p:nvPr>
        </p:nvSpPr>
        <p:spPr/>
        <p:txBody>
          <a:bodyPr/>
          <a:lstStyle/>
          <a:p>
            <a:fld id="{8D861514-49A6-417C-9FCB-15415C79F7BE}" type="datetimeFigureOut">
              <a:rPr lang="en-GB" smtClean="0"/>
              <a:t>07/09/2026</a:t>
            </a:fld>
            <a:endParaRPr lang="en-GB"/>
          </a:p>
        </p:txBody>
      </p:sp>
      <p:sp>
        <p:nvSpPr>
          <p:cNvPr id="3" name="Footer Placeholder 2">
            <a:extLst>
              <a:ext uri="{FF2B5EF4-FFF2-40B4-BE49-F238E27FC236}">
                <a16:creationId xmlns:a16="http://schemas.microsoft.com/office/drawing/2014/main" id="{BE8A5E9E-A612-7A25-5C0C-BD39BE77669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F7D772C-DA66-DFE1-C03D-ABC4A007CE0C}"/>
              </a:ext>
            </a:extLst>
          </p:cNvPr>
          <p:cNvSpPr>
            <a:spLocks noGrp="1"/>
          </p:cNvSpPr>
          <p:nvPr>
            <p:ph type="sldNum" sz="quarter" idx="12"/>
          </p:nvPr>
        </p:nvSpPr>
        <p:spPr/>
        <p:txBody>
          <a:bodyPr/>
          <a:lstStyle/>
          <a:p>
            <a:fld id="{BBB8C4B2-FFD3-4DC8-98EF-638017EAD05F}" type="slidenum">
              <a:rPr lang="en-GB" smtClean="0"/>
              <a:t>‹#›</a:t>
            </a:fld>
            <a:endParaRPr lang="en-GB"/>
          </a:p>
        </p:txBody>
      </p:sp>
    </p:spTree>
    <p:extLst>
      <p:ext uri="{BB962C8B-B14F-4D97-AF65-F5344CB8AC3E}">
        <p14:creationId xmlns:p14="http://schemas.microsoft.com/office/powerpoint/2010/main" val="2085314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4E80D-0D8B-800B-13E1-23384BFB52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1196967-2C7F-DD17-15BE-372BF716EE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8DF7045-7F41-11BC-4477-FACE65852F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AB3CBB-ED32-4270-BA06-42B315B26DDA}"/>
              </a:ext>
            </a:extLst>
          </p:cNvPr>
          <p:cNvSpPr>
            <a:spLocks noGrp="1"/>
          </p:cNvSpPr>
          <p:nvPr>
            <p:ph type="dt" sz="half" idx="10"/>
          </p:nvPr>
        </p:nvSpPr>
        <p:spPr/>
        <p:txBody>
          <a:bodyPr/>
          <a:lstStyle/>
          <a:p>
            <a:fld id="{8D861514-49A6-417C-9FCB-15415C79F7BE}" type="datetimeFigureOut">
              <a:rPr lang="en-GB" smtClean="0"/>
              <a:t>07/09/2026</a:t>
            </a:fld>
            <a:endParaRPr lang="en-GB"/>
          </a:p>
        </p:txBody>
      </p:sp>
      <p:sp>
        <p:nvSpPr>
          <p:cNvPr id="6" name="Footer Placeholder 5">
            <a:extLst>
              <a:ext uri="{FF2B5EF4-FFF2-40B4-BE49-F238E27FC236}">
                <a16:creationId xmlns:a16="http://schemas.microsoft.com/office/drawing/2014/main" id="{D61D29AB-8433-B7CC-E0C8-7C0554222F7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B0604A4-C60D-3372-0C14-51879EE2005D}"/>
              </a:ext>
            </a:extLst>
          </p:cNvPr>
          <p:cNvSpPr>
            <a:spLocks noGrp="1"/>
          </p:cNvSpPr>
          <p:nvPr>
            <p:ph type="sldNum" sz="quarter" idx="12"/>
          </p:nvPr>
        </p:nvSpPr>
        <p:spPr/>
        <p:txBody>
          <a:bodyPr/>
          <a:lstStyle/>
          <a:p>
            <a:fld id="{BBB8C4B2-FFD3-4DC8-98EF-638017EAD05F}" type="slidenum">
              <a:rPr lang="en-GB" smtClean="0"/>
              <a:t>‹#›</a:t>
            </a:fld>
            <a:endParaRPr lang="en-GB"/>
          </a:p>
        </p:txBody>
      </p:sp>
    </p:spTree>
    <p:extLst>
      <p:ext uri="{BB962C8B-B14F-4D97-AF65-F5344CB8AC3E}">
        <p14:creationId xmlns:p14="http://schemas.microsoft.com/office/powerpoint/2010/main" val="4243688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27294-2A99-7F2A-900A-895A77E5E0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39592DA-9783-F4B1-A46B-9DA4EE06C2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3376471-118D-9D2A-09C1-EF3569B815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6A0BB5-7889-C3A6-B20E-F72A52C155BA}"/>
              </a:ext>
            </a:extLst>
          </p:cNvPr>
          <p:cNvSpPr>
            <a:spLocks noGrp="1"/>
          </p:cNvSpPr>
          <p:nvPr>
            <p:ph type="dt" sz="half" idx="10"/>
          </p:nvPr>
        </p:nvSpPr>
        <p:spPr/>
        <p:txBody>
          <a:bodyPr/>
          <a:lstStyle/>
          <a:p>
            <a:fld id="{8D861514-49A6-417C-9FCB-15415C79F7BE}" type="datetimeFigureOut">
              <a:rPr lang="en-GB" smtClean="0"/>
              <a:t>07/09/2026</a:t>
            </a:fld>
            <a:endParaRPr lang="en-GB"/>
          </a:p>
        </p:txBody>
      </p:sp>
      <p:sp>
        <p:nvSpPr>
          <p:cNvPr id="6" name="Footer Placeholder 5">
            <a:extLst>
              <a:ext uri="{FF2B5EF4-FFF2-40B4-BE49-F238E27FC236}">
                <a16:creationId xmlns:a16="http://schemas.microsoft.com/office/drawing/2014/main" id="{6F306B2C-D72E-BB6D-0512-92AA682D4FA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E79ADF1-E6AC-F15B-FE03-5F5FAFB37D74}"/>
              </a:ext>
            </a:extLst>
          </p:cNvPr>
          <p:cNvSpPr>
            <a:spLocks noGrp="1"/>
          </p:cNvSpPr>
          <p:nvPr>
            <p:ph type="sldNum" sz="quarter" idx="12"/>
          </p:nvPr>
        </p:nvSpPr>
        <p:spPr/>
        <p:txBody>
          <a:bodyPr/>
          <a:lstStyle/>
          <a:p>
            <a:fld id="{BBB8C4B2-FFD3-4DC8-98EF-638017EAD05F}" type="slidenum">
              <a:rPr lang="en-GB" smtClean="0"/>
              <a:t>‹#›</a:t>
            </a:fld>
            <a:endParaRPr lang="en-GB"/>
          </a:p>
        </p:txBody>
      </p:sp>
    </p:spTree>
    <p:extLst>
      <p:ext uri="{BB962C8B-B14F-4D97-AF65-F5344CB8AC3E}">
        <p14:creationId xmlns:p14="http://schemas.microsoft.com/office/powerpoint/2010/main" val="803172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F4E78-2B3C-75FE-8A21-C85F4066596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F3AC626-6B0E-86FE-D845-CDB4E24FA8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A3DFD71-CC94-83C8-7ED6-0DF21D642DE9}"/>
              </a:ext>
            </a:extLst>
          </p:cNvPr>
          <p:cNvSpPr>
            <a:spLocks noGrp="1"/>
          </p:cNvSpPr>
          <p:nvPr>
            <p:ph type="dt" sz="half" idx="10"/>
          </p:nvPr>
        </p:nvSpPr>
        <p:spPr/>
        <p:txBody>
          <a:bodyPr/>
          <a:lstStyle/>
          <a:p>
            <a:fld id="{8D861514-49A6-417C-9FCB-15415C79F7BE}" type="datetimeFigureOut">
              <a:rPr lang="en-GB" smtClean="0"/>
              <a:t>07/09/2026</a:t>
            </a:fld>
            <a:endParaRPr lang="en-GB"/>
          </a:p>
        </p:txBody>
      </p:sp>
      <p:sp>
        <p:nvSpPr>
          <p:cNvPr id="5" name="Footer Placeholder 4">
            <a:extLst>
              <a:ext uri="{FF2B5EF4-FFF2-40B4-BE49-F238E27FC236}">
                <a16:creationId xmlns:a16="http://schemas.microsoft.com/office/drawing/2014/main" id="{8EBE7DF3-A96A-8CD6-D74A-D359F4709F9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06249F6-3BA2-D6A5-96F1-CFE5F5150755}"/>
              </a:ext>
            </a:extLst>
          </p:cNvPr>
          <p:cNvSpPr>
            <a:spLocks noGrp="1"/>
          </p:cNvSpPr>
          <p:nvPr>
            <p:ph type="sldNum" sz="quarter" idx="12"/>
          </p:nvPr>
        </p:nvSpPr>
        <p:spPr/>
        <p:txBody>
          <a:bodyPr/>
          <a:lstStyle/>
          <a:p>
            <a:fld id="{BBB8C4B2-FFD3-4DC8-98EF-638017EAD05F}" type="slidenum">
              <a:rPr lang="en-GB" smtClean="0"/>
              <a:t>‹#›</a:t>
            </a:fld>
            <a:endParaRPr lang="en-GB"/>
          </a:p>
        </p:txBody>
      </p:sp>
    </p:spTree>
    <p:extLst>
      <p:ext uri="{BB962C8B-B14F-4D97-AF65-F5344CB8AC3E}">
        <p14:creationId xmlns:p14="http://schemas.microsoft.com/office/powerpoint/2010/main" val="3772900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DE1B39-1D33-B5B5-71C2-A9C2CB9F63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BDB9C3B-41FF-BE80-E85C-814E3FC2A5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1923C01-05A3-E671-7557-1076C2706C73}"/>
              </a:ext>
            </a:extLst>
          </p:cNvPr>
          <p:cNvSpPr>
            <a:spLocks noGrp="1"/>
          </p:cNvSpPr>
          <p:nvPr>
            <p:ph type="dt" sz="half" idx="10"/>
          </p:nvPr>
        </p:nvSpPr>
        <p:spPr/>
        <p:txBody>
          <a:bodyPr/>
          <a:lstStyle/>
          <a:p>
            <a:fld id="{8D861514-49A6-417C-9FCB-15415C79F7BE}" type="datetimeFigureOut">
              <a:rPr lang="en-GB" smtClean="0"/>
              <a:t>07/09/2026</a:t>
            </a:fld>
            <a:endParaRPr lang="en-GB"/>
          </a:p>
        </p:txBody>
      </p:sp>
      <p:sp>
        <p:nvSpPr>
          <p:cNvPr id="5" name="Footer Placeholder 4">
            <a:extLst>
              <a:ext uri="{FF2B5EF4-FFF2-40B4-BE49-F238E27FC236}">
                <a16:creationId xmlns:a16="http://schemas.microsoft.com/office/drawing/2014/main" id="{9E3FB24B-19BE-6C96-9522-E09BFFC15EC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1A3DED9-E224-9989-5920-2C26E618D48B}"/>
              </a:ext>
            </a:extLst>
          </p:cNvPr>
          <p:cNvSpPr>
            <a:spLocks noGrp="1"/>
          </p:cNvSpPr>
          <p:nvPr>
            <p:ph type="sldNum" sz="quarter" idx="12"/>
          </p:nvPr>
        </p:nvSpPr>
        <p:spPr/>
        <p:txBody>
          <a:bodyPr/>
          <a:lstStyle/>
          <a:p>
            <a:fld id="{BBB8C4B2-FFD3-4DC8-98EF-638017EAD05F}" type="slidenum">
              <a:rPr lang="en-GB" smtClean="0"/>
              <a:t>‹#›</a:t>
            </a:fld>
            <a:endParaRPr lang="en-GB"/>
          </a:p>
        </p:txBody>
      </p:sp>
    </p:spTree>
    <p:extLst>
      <p:ext uri="{BB962C8B-B14F-4D97-AF65-F5344CB8AC3E}">
        <p14:creationId xmlns:p14="http://schemas.microsoft.com/office/powerpoint/2010/main" val="21298880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218540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203C42-3404-F094-B16B-1E46CCA0E7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C3752C3-4EF0-4168-70AA-C74FC37898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3EBA597-FB06-205E-8250-28DF1377EE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861514-49A6-417C-9FCB-15415C79F7BE}" type="datetimeFigureOut">
              <a:rPr lang="en-GB" smtClean="0"/>
              <a:t>07/09/2026</a:t>
            </a:fld>
            <a:endParaRPr lang="en-GB"/>
          </a:p>
        </p:txBody>
      </p:sp>
      <p:sp>
        <p:nvSpPr>
          <p:cNvPr id="5" name="Footer Placeholder 4">
            <a:extLst>
              <a:ext uri="{FF2B5EF4-FFF2-40B4-BE49-F238E27FC236}">
                <a16:creationId xmlns:a16="http://schemas.microsoft.com/office/drawing/2014/main" id="{C409BB45-26EC-9E34-D20F-F7AD35C10C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250D2D8-37A3-4DC8-482C-AA40861940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B8C4B2-FFD3-4DC8-98EF-638017EAD05F}" type="slidenum">
              <a:rPr lang="en-GB" smtClean="0"/>
              <a:t>‹#›</a:t>
            </a:fld>
            <a:endParaRPr lang="en-GB"/>
          </a:p>
        </p:txBody>
      </p:sp>
    </p:spTree>
    <p:extLst>
      <p:ext uri="{BB962C8B-B14F-4D97-AF65-F5344CB8AC3E}">
        <p14:creationId xmlns:p14="http://schemas.microsoft.com/office/powerpoint/2010/main" val="753484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3FB_298D91B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s://wmgmm.github.io/thematts/workshop.html" TargetMode="External"/><Relationship Id="rId6" Type="http://schemas.openxmlformats.org/officeDocument/2006/relationships/image" Target="../media/image3.png"/><Relationship Id="rId7"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microsoft.com/office/2018/10/relationships/comments" Target="../comments/modernComment_3E9_235FCCCF.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png"/><Relationship Id="rId7" Type="http://schemas.openxmlformats.org/officeDocument/2006/relationships/image" Target="../media/image8.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3EB_51AFD08B.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microsoft.com/office/2018/10/relationships/comments" Target="../comments/modernComment_41B_9EE2E729.xml"/><Relationship Id="rId3" Type="http://schemas.openxmlformats.org/officeDocument/2006/relationships/image" Target="../media/image10.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microsoft.com/office/2018/10/relationships/comments" Target="../comments/modernComment_426_C69FB1CF.xml"/><Relationship Id="rId3" Type="http://schemas.openxmlformats.org/officeDocument/2006/relationships/image" Target="../media/image10.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3F3_A77BC7CA.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6.png"/><Relationship Id="rId4" Type="http://schemas.openxmlformats.org/officeDocument/2006/relationships/image" Target="../media/image2.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3FC_D53DFFED.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17.png"/><Relationship Id="rId6"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3FF_FF84563D.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3FD_1EF7D9F.xml"/><Relationship Id="rId3" Type="http://schemas.openxmlformats.org/officeDocument/2006/relationships/image" Target="../media/image19.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21.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30.png"/><Relationship Id="rId11"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image" Target="../media/image8.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412_B6BA5436.xml"/><Relationship Id="rId3" Type="http://schemas.openxmlformats.org/officeDocument/2006/relationships/image" Target="../media/image40.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1.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jpeg"/><Relationship Id="rId3" Type="http://schemas.openxmlformats.org/officeDocument/2006/relationships/image" Target="../media/image4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404_3A9CA2DD.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3F9_E1784389.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4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46.png"/><Relationship Id="rId6" Type="http://schemas.openxmlformats.org/officeDocument/2006/relationships/image" Target="../media/image4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21.png"/><Relationship Id="rId6"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image" Target="../media/image32.png"/><Relationship Id="rId5"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image" Target="../media/image32.png"/><Relationship Id="rId5"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image" Target="../media/image32.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783D2-7697-7202-1BAC-CD8A326AED10}"/>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4EEE0966-2037-5C6B-F34F-291968B13418}"/>
              </a:ext>
            </a:extLst>
          </p:cNvPr>
          <p:cNvSpPr/>
          <p:nvPr/>
        </p:nvSpPr>
        <p:spPr>
          <a:xfrm>
            <a:off x="422945" y="6153122"/>
            <a:ext cx="10930855" cy="486765"/>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6EDC8D8-3972-7E60-72AD-D22DDEE706B2}"/>
              </a:ext>
            </a:extLst>
          </p:cNvPr>
          <p:cNvSpPr>
            <a:spLocks noGrp="1"/>
          </p:cNvSpPr>
          <p:nvPr>
            <p:ph type="title"/>
          </p:nvPr>
        </p:nvSpPr>
        <p:spPr>
          <a:xfrm>
            <a:off x="97535" y="118237"/>
            <a:ext cx="11122891" cy="1805420"/>
          </a:xfrm>
        </p:spPr>
        <p:txBody>
          <a:bodyPr>
            <a:normAutofit/>
          </a:bodyPr>
          <a:lstStyle/>
          <a:p>
            <a:pPr algn="ctr"/>
            <a:r>
              <a:rPr lang="en-GB" sz="8800" b="1"/>
              <a:t>AI in the Workplace</a:t>
            </a:r>
          </a:p>
        </p:txBody>
      </p:sp>
      <p:sp>
        <p:nvSpPr>
          <p:cNvPr id="3" name="TextBox 2">
            <a:extLst>
              <a:ext uri="{FF2B5EF4-FFF2-40B4-BE49-F238E27FC236}">
                <a16:creationId xmlns:a16="http://schemas.microsoft.com/office/drawing/2014/main" id="{5B527556-BD74-B5E4-D238-1492313285F1}"/>
              </a:ext>
            </a:extLst>
          </p:cNvPr>
          <p:cNvSpPr txBox="1"/>
          <p:nvPr/>
        </p:nvSpPr>
        <p:spPr>
          <a:xfrm>
            <a:off x="3516346" y="838736"/>
            <a:ext cx="5442229" cy="6247864"/>
          </a:xfrm>
          <a:prstGeom prst="rect">
            <a:avLst/>
          </a:prstGeom>
          <a:noFill/>
        </p:spPr>
        <p:txBody>
          <a:bodyPr wrap="square" rtlCol="0">
            <a:spAutoFit/>
          </a:bodyPr>
          <a:lstStyle/>
          <a:p>
            <a:r>
              <a:rPr lang="en-GB" sz="40000">
                <a:latin typeface="Amasis MT Pro Black" panose="02040A04050005020304" pitchFamily="18" charset="0"/>
              </a:rPr>
              <a:t>II</a:t>
            </a:r>
          </a:p>
        </p:txBody>
      </p:sp>
      <p:pic>
        <p:nvPicPr>
          <p:cNvPr id="5" name="Content Placeholder 4">
            <a:extLst>
              <a:ext uri="{FF2B5EF4-FFF2-40B4-BE49-F238E27FC236}">
                <a16:creationId xmlns:a16="http://schemas.microsoft.com/office/drawing/2014/main" id="{32B8E307-4BA5-21C6-72B6-E8D216CB60EB}"/>
              </a:ext>
            </a:extLst>
          </p:cNvPr>
          <p:cNvPicPr>
            <a:picLocks noGrp="1" noChangeAspect="1"/>
          </p:cNvPicPr>
          <p:nvPr>
            <p:ph idx="1"/>
          </p:nvPr>
        </p:nvPicPr>
        <p:blipFill>
          <a:blip r:embed="rId3"/>
          <a:stretch>
            <a:fillRect/>
          </a:stretch>
        </p:blipFill>
        <p:spPr>
          <a:xfrm>
            <a:off x="2275625" y="2664103"/>
            <a:ext cx="2472843" cy="2472843"/>
          </a:xfrm>
          <a:prstGeom prst="rect">
            <a:avLst/>
          </a:prstGeom>
        </p:spPr>
      </p:pic>
      <p:pic>
        <p:nvPicPr>
          <p:cNvPr id="6" name="Picture 5" descr="File:Google Gemini icon 2025.svg">
            <a:extLst>
              <a:ext uri="{FF2B5EF4-FFF2-40B4-BE49-F238E27FC236}">
                <a16:creationId xmlns:a16="http://schemas.microsoft.com/office/drawing/2014/main" id="{594039A0-7FE5-8881-08AE-7C061DAB9949}"/>
              </a:ext>
            </a:extLst>
          </p:cNvPr>
          <p:cNvPicPr>
            <a:picLocks noChangeAspect="1"/>
          </p:cNvPicPr>
          <p:nvPr/>
        </p:nvPicPr>
        <p:blipFill>
          <a:blip r:embed="rId4"/>
          <a:stretch>
            <a:fillRect/>
          </a:stretch>
        </p:blipFill>
        <p:spPr>
          <a:xfrm>
            <a:off x="6624376" y="2707793"/>
            <a:ext cx="2634770" cy="2634770"/>
          </a:xfrm>
          <a:prstGeom prst="rect">
            <a:avLst/>
          </a:prstGeom>
        </p:spPr>
      </p:pic>
      <p:sp>
        <p:nvSpPr>
          <p:cNvPr id="8" name="TextBox 16">
            <a:extLst>
              <a:ext uri="{FF2B5EF4-FFF2-40B4-BE49-F238E27FC236}">
                <a16:creationId xmlns:a16="http://schemas.microsoft.com/office/drawing/2014/main" id="{324E8A54-34A5-D73C-FCAD-7D80DE783726}"/>
              </a:ext>
            </a:extLst>
          </p:cNvPr>
          <p:cNvSpPr txBox="1"/>
          <p:nvPr/>
        </p:nvSpPr>
        <p:spPr>
          <a:xfrm>
            <a:off x="305217" y="1354888"/>
            <a:ext cx="12019175"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b="1" u="sng">
                <a:solidFill>
                  <a:prstClr val="black"/>
                </a:solidFill>
                <a:latin typeface="Arial"/>
                <a:ea typeface="Segoe UI"/>
                <a:cs typeface="Segoe UI"/>
                <a:hlinkClick r:id="rId5">
                  <a:extLst>
                    <a:ext uri="{A12FA001-AC4F-418D-AE19-62706E023703}">
                      <ahyp:hlinkClr xmlns:ahyp="http://schemas.microsoft.com/office/drawing/2018/hyperlinkcolor" val="tx"/>
                    </a:ext>
                  </a:extLst>
                </a:hlinkClick>
              </a:rPr>
              <a:t>https://wmgmm.github.io/thematts/workshop.html</a:t>
            </a:r>
            <a:endParaRPr lang="en-US" sz="4400">
              <a:solidFill>
                <a:prstClr val="black"/>
              </a:solidFill>
              <a:latin typeface="Calibri"/>
            </a:endParaRPr>
          </a:p>
        </p:txBody>
      </p:sp>
      <p:pic>
        <p:nvPicPr>
          <p:cNvPr id="10" name="Picture 9">
            <a:extLst>
              <a:ext uri="{FF2B5EF4-FFF2-40B4-BE49-F238E27FC236}">
                <a16:creationId xmlns:a16="http://schemas.microsoft.com/office/drawing/2014/main" id="{92831292-BDF7-E9A7-3E64-D16D1407F1C6}"/>
              </a:ext>
            </a:extLst>
          </p:cNvPr>
          <p:cNvPicPr>
            <a:picLocks noChangeAspect="1"/>
          </p:cNvPicPr>
          <p:nvPr/>
        </p:nvPicPr>
        <p:blipFill>
          <a:blip r:embed="rId6"/>
          <a:stretch>
            <a:fillRect/>
          </a:stretch>
        </p:blipFill>
        <p:spPr>
          <a:xfrm>
            <a:off x="8533978" y="4613801"/>
            <a:ext cx="1382397" cy="485962"/>
          </a:xfrm>
          <a:prstGeom prst="rect">
            <a:avLst/>
          </a:prstGeom>
        </p:spPr>
      </p:pic>
      <p:pic>
        <p:nvPicPr>
          <p:cNvPr id="12" name="Picture 11" descr="Microsoft logo png, Microsoft icon transparent png 27127490 PNG">
            <a:extLst>
              <a:ext uri="{FF2B5EF4-FFF2-40B4-BE49-F238E27FC236}">
                <a16:creationId xmlns:a16="http://schemas.microsoft.com/office/drawing/2014/main" id="{C9B248BE-DBD4-C977-61E4-C6489F648AD9}"/>
              </a:ext>
            </a:extLst>
          </p:cNvPr>
          <p:cNvPicPr>
            <a:picLocks noChangeAspect="1"/>
          </p:cNvPicPr>
          <p:nvPr/>
        </p:nvPicPr>
        <p:blipFill>
          <a:blip r:embed="rId7"/>
          <a:stretch>
            <a:fillRect/>
          </a:stretch>
        </p:blipFill>
        <p:spPr>
          <a:xfrm>
            <a:off x="1618396" y="4006683"/>
            <a:ext cx="1793147" cy="1793147"/>
          </a:xfrm>
          <a:prstGeom prst="rect">
            <a:avLst/>
          </a:prstGeom>
        </p:spPr>
      </p:pic>
      <p:sp>
        <p:nvSpPr>
          <p:cNvPr id="13" name="TextBox 12">
            <a:extLst>
              <a:ext uri="{FF2B5EF4-FFF2-40B4-BE49-F238E27FC236}">
                <a16:creationId xmlns:a16="http://schemas.microsoft.com/office/drawing/2014/main" id="{A0C7A55E-E40B-BD14-DE43-356931FF0556}"/>
              </a:ext>
            </a:extLst>
          </p:cNvPr>
          <p:cNvSpPr txBox="1"/>
          <p:nvPr/>
        </p:nvSpPr>
        <p:spPr>
          <a:xfrm>
            <a:off x="2250521" y="6104116"/>
            <a:ext cx="7690957" cy="584775"/>
          </a:xfrm>
          <a:prstGeom prst="rect">
            <a:avLst/>
          </a:prstGeom>
          <a:noFill/>
        </p:spPr>
        <p:txBody>
          <a:bodyPr wrap="square" rtlCol="0">
            <a:spAutoFit/>
          </a:bodyPr>
          <a:lstStyle/>
          <a:p>
            <a:r>
              <a:rPr lang="en-GB" sz="3200" b="1">
                <a:solidFill>
                  <a:schemeClr val="bg1"/>
                </a:solidFill>
              </a:rPr>
              <a:t>Starring Dr. Matt Mort &amp; Matt Hayden</a:t>
            </a:r>
          </a:p>
        </p:txBody>
      </p:sp>
    </p:spTree>
    <p:extLst>
      <p:ext uri="{BB962C8B-B14F-4D97-AF65-F5344CB8AC3E}">
        <p14:creationId xmlns:p14="http://schemas.microsoft.com/office/powerpoint/2010/main" val="697143731"/>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92D30E19-EA64-6F99-E152-13B25C55C813}"/>
              </a:ext>
            </a:extLst>
          </p:cNvPr>
          <p:cNvSpPr/>
          <p:nvPr/>
        </p:nvSpPr>
        <p:spPr>
          <a:xfrm>
            <a:off x="422945" y="6153122"/>
            <a:ext cx="10930855" cy="486765"/>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43A2CF6-E986-A702-889E-068E6ECA88D7}"/>
              </a:ext>
            </a:extLst>
          </p:cNvPr>
          <p:cNvSpPr>
            <a:spLocks noGrp="1"/>
          </p:cNvSpPr>
          <p:nvPr>
            <p:ph type="title"/>
          </p:nvPr>
        </p:nvSpPr>
        <p:spPr/>
        <p:txBody>
          <a:bodyPr>
            <a:normAutofit/>
          </a:bodyPr>
          <a:lstStyle/>
          <a:p>
            <a:pPr algn="ctr"/>
            <a:r>
              <a:rPr lang="en-GB" sz="7200">
                <a:latin typeface="Aptos Black" panose="020B0004020202020204" pitchFamily="34" charset="0"/>
              </a:rPr>
              <a:t>Staying safe</a:t>
            </a:r>
          </a:p>
        </p:txBody>
      </p:sp>
      <p:sp>
        <p:nvSpPr>
          <p:cNvPr id="4" name="Content Placeholder 3">
            <a:extLst>
              <a:ext uri="{FF2B5EF4-FFF2-40B4-BE49-F238E27FC236}">
                <a16:creationId xmlns:a16="http://schemas.microsoft.com/office/drawing/2014/main" id="{B4069185-9B22-958F-6E6E-DEA0BCB97320}"/>
              </a:ext>
            </a:extLst>
          </p:cNvPr>
          <p:cNvSpPr>
            <a:spLocks noGrp="1"/>
          </p:cNvSpPr>
          <p:nvPr>
            <p:ph sz="half" idx="1"/>
          </p:nvPr>
        </p:nvSpPr>
        <p:spPr>
          <a:xfrm>
            <a:off x="838200" y="2296871"/>
            <a:ext cx="5181600" cy="3880091"/>
          </a:xfrm>
          <a:prstGeom prst="roundRect">
            <a:avLst/>
          </a:prstGeom>
          <a:ln>
            <a:solidFill>
              <a:srgbClr val="770100"/>
            </a:solidFill>
          </a:ln>
        </p:spPr>
        <p:txBody>
          <a:bodyPr/>
          <a:lstStyle/>
          <a:p>
            <a:pPr marL="0" indent="0">
              <a:buNone/>
            </a:pPr>
            <a:r>
              <a:rPr lang="en-GB" sz="3200">
                <a:latin typeface="Aptos Black" panose="020B0004020202020204" pitchFamily="34" charset="0"/>
              </a:rPr>
              <a:t>Copilot</a:t>
            </a:r>
            <a:endParaRPr lang="en-GB">
              <a:latin typeface="Aptos Black" panose="020B0004020202020204" pitchFamily="34" charset="0"/>
            </a:endParaRPr>
          </a:p>
        </p:txBody>
      </p:sp>
      <p:sp>
        <p:nvSpPr>
          <p:cNvPr id="5" name="Content Placeholder 4">
            <a:extLst>
              <a:ext uri="{FF2B5EF4-FFF2-40B4-BE49-F238E27FC236}">
                <a16:creationId xmlns:a16="http://schemas.microsoft.com/office/drawing/2014/main" id="{BE04589F-AB2A-82D0-75FB-ABABDD482BA6}"/>
              </a:ext>
            </a:extLst>
          </p:cNvPr>
          <p:cNvSpPr>
            <a:spLocks noGrp="1"/>
          </p:cNvSpPr>
          <p:nvPr>
            <p:ph sz="half" idx="2"/>
          </p:nvPr>
        </p:nvSpPr>
        <p:spPr>
          <a:xfrm>
            <a:off x="6172200" y="2335465"/>
            <a:ext cx="5181600" cy="3841497"/>
          </a:xfrm>
          <a:prstGeom prst="roundRect">
            <a:avLst/>
          </a:prstGeom>
          <a:ln>
            <a:solidFill>
              <a:srgbClr val="770100"/>
            </a:solidFill>
          </a:ln>
        </p:spPr>
        <p:txBody>
          <a:bodyPr/>
          <a:lstStyle/>
          <a:p>
            <a:pPr marL="0" indent="0">
              <a:buNone/>
            </a:pPr>
            <a:r>
              <a:rPr lang="en-GB" sz="3200">
                <a:latin typeface="Aptos Black" panose="020B0004020202020204" pitchFamily="34" charset="0"/>
              </a:rPr>
              <a:t>Gemini</a:t>
            </a:r>
            <a:endParaRPr lang="en-GB">
              <a:latin typeface="Aptos Black" panose="020B0004020202020204" pitchFamily="34" charset="0"/>
            </a:endParaRPr>
          </a:p>
        </p:txBody>
      </p:sp>
      <p:pic>
        <p:nvPicPr>
          <p:cNvPr id="8" name="Content Placeholder 4">
            <a:extLst>
              <a:ext uri="{FF2B5EF4-FFF2-40B4-BE49-F238E27FC236}">
                <a16:creationId xmlns:a16="http://schemas.microsoft.com/office/drawing/2014/main" id="{3FEA1E9A-8763-9F88-FA97-EB06B6AB522A}"/>
              </a:ext>
            </a:extLst>
          </p:cNvPr>
          <p:cNvPicPr>
            <a:picLocks noChangeAspect="1"/>
          </p:cNvPicPr>
          <p:nvPr/>
        </p:nvPicPr>
        <p:blipFill>
          <a:blip r:embed="rId3"/>
          <a:srcRect t="56307"/>
          <a:stretch>
            <a:fillRect/>
          </a:stretch>
        </p:blipFill>
        <p:spPr>
          <a:xfrm>
            <a:off x="6355533" y="3067751"/>
            <a:ext cx="2210263" cy="1383995"/>
          </a:xfrm>
          <a:prstGeom prst="rect">
            <a:avLst/>
          </a:prstGeom>
          <a:ln>
            <a:solidFill>
              <a:schemeClr val="tx1"/>
            </a:solidFill>
          </a:ln>
          <a:effectLst>
            <a:outerShdw blurRad="190500" algn="tl" rotWithShape="0">
              <a:srgbClr val="000000">
                <a:alpha val="70000"/>
              </a:srgbClr>
            </a:outerShdw>
          </a:effectLst>
        </p:spPr>
      </p:pic>
      <p:pic>
        <p:nvPicPr>
          <p:cNvPr id="10" name="Picture 9">
            <a:extLst>
              <a:ext uri="{FF2B5EF4-FFF2-40B4-BE49-F238E27FC236}">
                <a16:creationId xmlns:a16="http://schemas.microsoft.com/office/drawing/2014/main" id="{893D5348-8DD2-4D97-4AED-BA2817D52751}"/>
              </a:ext>
            </a:extLst>
          </p:cNvPr>
          <p:cNvPicPr>
            <a:picLocks noChangeAspect="1"/>
          </p:cNvPicPr>
          <p:nvPr/>
        </p:nvPicPr>
        <p:blipFill>
          <a:blip r:embed="rId4"/>
          <a:srcRect l="11737" t="727" r="5159" b="5850"/>
          <a:stretch>
            <a:fillRect/>
          </a:stretch>
        </p:blipFill>
        <p:spPr>
          <a:xfrm>
            <a:off x="9279066" y="2839672"/>
            <a:ext cx="1869355" cy="28849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2" name="Picture 11">
            <a:extLst>
              <a:ext uri="{FF2B5EF4-FFF2-40B4-BE49-F238E27FC236}">
                <a16:creationId xmlns:a16="http://schemas.microsoft.com/office/drawing/2014/main" id="{1C545BEA-8038-0DF3-3BE7-305283BFF069}"/>
              </a:ext>
            </a:extLst>
          </p:cNvPr>
          <p:cNvPicPr>
            <a:picLocks noChangeAspect="1"/>
          </p:cNvPicPr>
          <p:nvPr/>
        </p:nvPicPr>
        <p:blipFill>
          <a:blip r:embed="rId5"/>
          <a:stretch>
            <a:fillRect/>
          </a:stretch>
        </p:blipFill>
        <p:spPr>
          <a:xfrm>
            <a:off x="8251733" y="5387622"/>
            <a:ext cx="1299547" cy="1299547"/>
          </a:xfrm>
          <a:prstGeom prst="rect">
            <a:avLst/>
          </a:prstGeom>
        </p:spPr>
      </p:pic>
      <p:pic>
        <p:nvPicPr>
          <p:cNvPr id="13" name="Content Placeholder 4">
            <a:extLst>
              <a:ext uri="{FF2B5EF4-FFF2-40B4-BE49-F238E27FC236}">
                <a16:creationId xmlns:a16="http://schemas.microsoft.com/office/drawing/2014/main" id="{6D520FD0-E80A-3D7C-2E02-6DCC378E0D9E}"/>
              </a:ext>
            </a:extLst>
          </p:cNvPr>
          <p:cNvPicPr>
            <a:picLocks noChangeAspect="1"/>
          </p:cNvPicPr>
          <p:nvPr/>
        </p:nvPicPr>
        <p:blipFill>
          <a:blip r:embed="rId6"/>
          <a:stretch>
            <a:fillRect/>
          </a:stretch>
        </p:blipFill>
        <p:spPr>
          <a:xfrm>
            <a:off x="2484162" y="5322745"/>
            <a:ext cx="1429302" cy="1429302"/>
          </a:xfrm>
          <a:prstGeom prst="rect">
            <a:avLst/>
          </a:prstGeom>
        </p:spPr>
      </p:pic>
      <p:pic>
        <p:nvPicPr>
          <p:cNvPr id="17" name="Picture 16">
            <a:extLst>
              <a:ext uri="{FF2B5EF4-FFF2-40B4-BE49-F238E27FC236}">
                <a16:creationId xmlns:a16="http://schemas.microsoft.com/office/drawing/2014/main" id="{02FEF3C0-5FC7-53C4-1E0E-96E5818473E7}"/>
              </a:ext>
            </a:extLst>
          </p:cNvPr>
          <p:cNvPicPr>
            <a:picLocks noChangeAspect="1"/>
          </p:cNvPicPr>
          <p:nvPr/>
        </p:nvPicPr>
        <p:blipFill>
          <a:blip r:embed="rId7"/>
          <a:stretch>
            <a:fillRect/>
          </a:stretch>
        </p:blipFill>
        <p:spPr>
          <a:xfrm>
            <a:off x="11189170" y="5938829"/>
            <a:ext cx="877900" cy="829128"/>
          </a:xfrm>
          <a:prstGeom prst="rect">
            <a:avLst/>
          </a:prstGeom>
        </p:spPr>
      </p:pic>
      <p:pic>
        <p:nvPicPr>
          <p:cNvPr id="19" name="Picture 18">
            <a:extLst>
              <a:ext uri="{FF2B5EF4-FFF2-40B4-BE49-F238E27FC236}">
                <a16:creationId xmlns:a16="http://schemas.microsoft.com/office/drawing/2014/main" id="{F94B17C8-16D0-2E23-3CD1-E54338178A43}"/>
              </a:ext>
            </a:extLst>
          </p:cNvPr>
          <p:cNvPicPr>
            <a:picLocks noChangeAspect="1"/>
          </p:cNvPicPr>
          <p:nvPr/>
        </p:nvPicPr>
        <p:blipFill>
          <a:blip r:embed="rId8"/>
          <a:stretch>
            <a:fillRect/>
          </a:stretch>
        </p:blipFill>
        <p:spPr>
          <a:xfrm>
            <a:off x="1618165" y="3356010"/>
            <a:ext cx="2815399" cy="1360551"/>
          </a:xfrm>
          <a:prstGeom prst="rect">
            <a:avLst/>
          </a:prstGeom>
          <a:ln>
            <a:solidFill>
              <a:schemeClr val="tx1"/>
            </a:solidFill>
          </a:ln>
        </p:spPr>
      </p:pic>
      <p:sp>
        <p:nvSpPr>
          <p:cNvPr id="20" name="TextBox 19">
            <a:extLst>
              <a:ext uri="{FF2B5EF4-FFF2-40B4-BE49-F238E27FC236}">
                <a16:creationId xmlns:a16="http://schemas.microsoft.com/office/drawing/2014/main" id="{73AC158A-919C-3537-B371-4BA9DBB33641}"/>
              </a:ext>
            </a:extLst>
          </p:cNvPr>
          <p:cNvSpPr txBox="1"/>
          <p:nvPr/>
        </p:nvSpPr>
        <p:spPr>
          <a:xfrm>
            <a:off x="2449033" y="1478375"/>
            <a:ext cx="6878678" cy="369332"/>
          </a:xfrm>
          <a:prstGeom prst="rect">
            <a:avLst/>
          </a:prstGeom>
          <a:noFill/>
        </p:spPr>
        <p:txBody>
          <a:bodyPr wrap="none" rtlCol="0">
            <a:spAutoFit/>
          </a:bodyPr>
          <a:lstStyle/>
          <a:p>
            <a:r>
              <a:rPr lang="en-GB"/>
              <a:t>Always sign in with your work account for enterprise level protection</a:t>
            </a:r>
          </a:p>
        </p:txBody>
      </p:sp>
      <p:sp>
        <p:nvSpPr>
          <p:cNvPr id="21" name="TextBox 20">
            <a:extLst>
              <a:ext uri="{FF2B5EF4-FFF2-40B4-BE49-F238E27FC236}">
                <a16:creationId xmlns:a16="http://schemas.microsoft.com/office/drawing/2014/main" id="{D535AE4B-5645-3273-0F8D-EC08051E20A7}"/>
              </a:ext>
            </a:extLst>
          </p:cNvPr>
          <p:cNvSpPr txBox="1"/>
          <p:nvPr/>
        </p:nvSpPr>
        <p:spPr>
          <a:xfrm>
            <a:off x="6469322" y="4649268"/>
            <a:ext cx="1928541" cy="923330"/>
          </a:xfrm>
          <a:prstGeom prst="rect">
            <a:avLst/>
          </a:prstGeom>
          <a:noFill/>
        </p:spPr>
        <p:txBody>
          <a:bodyPr wrap="none" rtlCol="0">
            <a:spAutoFit/>
          </a:bodyPr>
          <a:lstStyle/>
          <a:p>
            <a:r>
              <a:rPr lang="en-GB"/>
              <a:t>Remember:</a:t>
            </a:r>
          </a:p>
          <a:p>
            <a:r>
              <a:rPr lang="en-GB"/>
              <a:t>InPrivate or</a:t>
            </a:r>
          </a:p>
          <a:p>
            <a:r>
              <a:rPr lang="en-GB"/>
              <a:t>Incognito window</a:t>
            </a:r>
          </a:p>
        </p:txBody>
      </p:sp>
    </p:spTree>
    <p:extLst>
      <p:ext uri="{BB962C8B-B14F-4D97-AF65-F5344CB8AC3E}">
        <p14:creationId xmlns:p14="http://schemas.microsoft.com/office/powerpoint/2010/main" val="593480911"/>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23E0A-DEBA-F51D-A600-F7BB0641D59C}"/>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92746552-8FA0-34F3-426B-3E340FA114DB}"/>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pic>
        <p:nvPicPr>
          <p:cNvPr id="5" name="Content Placeholder 4">
            <a:extLst>
              <a:ext uri="{FF2B5EF4-FFF2-40B4-BE49-F238E27FC236}">
                <a16:creationId xmlns:a16="http://schemas.microsoft.com/office/drawing/2014/main" id="{E8B93B62-4C1C-2112-CB31-B8D095CFDBFA}"/>
              </a:ext>
            </a:extLst>
          </p:cNvPr>
          <p:cNvPicPr>
            <a:picLocks noGrp="1" noChangeAspect="1"/>
          </p:cNvPicPr>
          <p:nvPr>
            <p:ph idx="1"/>
          </p:nvPr>
        </p:nvPicPr>
        <p:blipFill>
          <a:blip r:embed="rId3"/>
          <a:stretch>
            <a:fillRect/>
          </a:stretch>
        </p:blipFill>
        <p:spPr>
          <a:xfrm>
            <a:off x="465588" y="743188"/>
            <a:ext cx="2307543" cy="2307543"/>
          </a:xfrm>
          <a:prstGeom prst="rect">
            <a:avLst/>
          </a:prstGeom>
        </p:spPr>
      </p:pic>
      <p:pic>
        <p:nvPicPr>
          <p:cNvPr id="6" name="Picture 5" descr="File:Google Gemini icon 2025.svg">
            <a:extLst>
              <a:ext uri="{FF2B5EF4-FFF2-40B4-BE49-F238E27FC236}">
                <a16:creationId xmlns:a16="http://schemas.microsoft.com/office/drawing/2014/main" id="{40EA48B8-7DA4-006F-D2B8-EF28D27DE7DB}"/>
              </a:ext>
            </a:extLst>
          </p:cNvPr>
          <p:cNvPicPr>
            <a:picLocks noChangeAspect="1"/>
          </p:cNvPicPr>
          <p:nvPr/>
        </p:nvPicPr>
        <p:blipFill>
          <a:blip r:embed="rId4"/>
          <a:stretch>
            <a:fillRect/>
          </a:stretch>
        </p:blipFill>
        <p:spPr>
          <a:xfrm>
            <a:off x="618688" y="4261709"/>
            <a:ext cx="2218888" cy="2218888"/>
          </a:xfrm>
          <a:prstGeom prst="rect">
            <a:avLst/>
          </a:prstGeom>
        </p:spPr>
      </p:pic>
      <p:pic>
        <p:nvPicPr>
          <p:cNvPr id="7" name="Picture 6">
            <a:extLst>
              <a:ext uri="{FF2B5EF4-FFF2-40B4-BE49-F238E27FC236}">
                <a16:creationId xmlns:a16="http://schemas.microsoft.com/office/drawing/2014/main" id="{D92CF4E5-40A7-2EF9-9C5A-08CE5C068A52}"/>
              </a:ext>
            </a:extLst>
          </p:cNvPr>
          <p:cNvPicPr>
            <a:picLocks noChangeAspect="1"/>
          </p:cNvPicPr>
          <p:nvPr/>
        </p:nvPicPr>
        <p:blipFill>
          <a:blip r:embed="rId5"/>
          <a:stretch>
            <a:fillRect/>
          </a:stretch>
        </p:blipFill>
        <p:spPr>
          <a:xfrm>
            <a:off x="11189170" y="5938829"/>
            <a:ext cx="877900" cy="829128"/>
          </a:xfrm>
          <a:prstGeom prst="rect">
            <a:avLst/>
          </a:prstGeom>
        </p:spPr>
      </p:pic>
      <p:sp>
        <p:nvSpPr>
          <p:cNvPr id="2" name="Content Placeholder 3">
            <a:extLst>
              <a:ext uri="{FF2B5EF4-FFF2-40B4-BE49-F238E27FC236}">
                <a16:creationId xmlns:a16="http://schemas.microsoft.com/office/drawing/2014/main" id="{6A3287CB-4B98-198F-B10C-EDD936C6F6B9}"/>
              </a:ext>
            </a:extLst>
          </p:cNvPr>
          <p:cNvSpPr txBox="1">
            <a:spLocks/>
          </p:cNvSpPr>
          <p:nvPr/>
        </p:nvSpPr>
        <p:spPr>
          <a:xfrm>
            <a:off x="3716322" y="1975607"/>
            <a:ext cx="7637477" cy="420135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a:p>
          <a:p>
            <a:r>
              <a:rPr lang="en-GB"/>
              <a:t>Consider these as two tools </a:t>
            </a:r>
            <a:r>
              <a:rPr lang="en-GB" b="1"/>
              <a:t>best used together.</a:t>
            </a:r>
          </a:p>
          <a:p>
            <a:endParaRPr lang="en-GB"/>
          </a:p>
          <a:p>
            <a:r>
              <a:rPr lang="en-GB"/>
              <a:t>Each can give a second opinion on the work of the other  (remember </a:t>
            </a:r>
            <a:r>
              <a:rPr lang="en-GB" b="1"/>
              <a:t>you</a:t>
            </a:r>
            <a:r>
              <a:rPr lang="en-GB"/>
              <a:t> would be the third opinion!)</a:t>
            </a:r>
          </a:p>
          <a:p>
            <a:endParaRPr lang="en-GB"/>
          </a:p>
          <a:p>
            <a:r>
              <a:rPr lang="en-GB"/>
              <a:t>Tools have usage limits – work best by sharing the load.</a:t>
            </a:r>
          </a:p>
        </p:txBody>
      </p:sp>
      <p:sp>
        <p:nvSpPr>
          <p:cNvPr id="4" name="Title 1">
            <a:extLst>
              <a:ext uri="{FF2B5EF4-FFF2-40B4-BE49-F238E27FC236}">
                <a16:creationId xmlns:a16="http://schemas.microsoft.com/office/drawing/2014/main" id="{32CDA7CD-B4CA-CC2A-8B22-2DDBF445641B}"/>
              </a:ext>
            </a:extLst>
          </p:cNvPr>
          <p:cNvSpPr>
            <a:spLocks noGrp="1"/>
          </p:cNvSpPr>
          <p:nvPr>
            <p:ph type="title"/>
          </p:nvPr>
        </p:nvSpPr>
        <p:spPr>
          <a:xfrm>
            <a:off x="3343012" y="365125"/>
            <a:ext cx="8010788" cy="1325563"/>
          </a:xfrm>
        </p:spPr>
        <p:txBody>
          <a:bodyPr>
            <a:normAutofit/>
          </a:bodyPr>
          <a:lstStyle/>
          <a:p>
            <a:pPr algn="ctr"/>
            <a:r>
              <a:rPr lang="en-GB" sz="7200">
                <a:latin typeface="Aptos Black" panose="020B0004020202020204" pitchFamily="34" charset="0"/>
              </a:rPr>
              <a:t>Mix and Match</a:t>
            </a:r>
          </a:p>
        </p:txBody>
      </p:sp>
    </p:spTree>
    <p:extLst>
      <p:ext uri="{BB962C8B-B14F-4D97-AF65-F5344CB8AC3E}">
        <p14:creationId xmlns:p14="http://schemas.microsoft.com/office/powerpoint/2010/main" val="1370476683"/>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A3CAF-DA85-DC3E-5D79-6B3B22531735}"/>
              </a:ext>
            </a:extLst>
          </p:cNvPr>
          <p:cNvSpPr>
            <a:spLocks noGrp="1"/>
          </p:cNvSpPr>
          <p:nvPr>
            <p:ph type="title"/>
          </p:nvPr>
        </p:nvSpPr>
        <p:spPr>
          <a:xfrm>
            <a:off x="3301036" y="365125"/>
            <a:ext cx="8601544" cy="1325563"/>
          </a:xfrm>
        </p:spPr>
        <p:txBody>
          <a:bodyPr>
            <a:noAutofit/>
          </a:bodyPr>
          <a:lstStyle/>
          <a:p>
            <a:pPr algn="ctr"/>
            <a:r>
              <a:rPr lang="en-GB" sz="5400">
                <a:latin typeface="Aptos Black" panose="020B0004020202020204" pitchFamily="34" charset="0"/>
              </a:rPr>
              <a:t>The Workshop brief</a:t>
            </a:r>
          </a:p>
        </p:txBody>
      </p:sp>
      <p:sp>
        <p:nvSpPr>
          <p:cNvPr id="4" name="Content Placeholder 3">
            <a:extLst>
              <a:ext uri="{FF2B5EF4-FFF2-40B4-BE49-F238E27FC236}">
                <a16:creationId xmlns:a16="http://schemas.microsoft.com/office/drawing/2014/main" id="{DD366C5E-C087-8849-6E26-C2E56E5989D5}"/>
              </a:ext>
            </a:extLst>
          </p:cNvPr>
          <p:cNvSpPr>
            <a:spLocks noGrp="1"/>
          </p:cNvSpPr>
          <p:nvPr>
            <p:ph sz="half" idx="2"/>
          </p:nvPr>
        </p:nvSpPr>
        <p:spPr>
          <a:xfrm>
            <a:off x="3335131" y="1690688"/>
            <a:ext cx="8697844" cy="4486275"/>
          </a:xfrm>
        </p:spPr>
        <p:txBody>
          <a:bodyPr/>
          <a:lstStyle/>
          <a:p>
            <a:pPr marL="0" indent="0">
              <a:buNone/>
            </a:pPr>
            <a:endParaRPr lang="en-GB"/>
          </a:p>
          <a:p>
            <a:pPr marL="0" indent="0">
              <a:buNone/>
            </a:pPr>
            <a:r>
              <a:rPr lang="en-GB" sz="3200"/>
              <a:t>We’re looking at using AI tools to generate </a:t>
            </a:r>
            <a:r>
              <a:rPr lang="en-GB" sz="3200" i="1"/>
              <a:t>value-added resources</a:t>
            </a:r>
            <a:r>
              <a:rPr lang="en-GB" sz="3200"/>
              <a:t> from an existing document.</a:t>
            </a:r>
          </a:p>
          <a:p>
            <a:pPr marL="0" indent="0">
              <a:buNone/>
            </a:pPr>
            <a:endParaRPr lang="en-GB" sz="3200"/>
          </a:p>
          <a:p>
            <a:pPr marL="0" indent="0">
              <a:buNone/>
            </a:pPr>
            <a:r>
              <a:rPr lang="en-GB" sz="3200"/>
              <a:t>Demonstrating how AI can </a:t>
            </a:r>
            <a:r>
              <a:rPr lang="en-GB" sz="3200" i="1"/>
              <a:t>accelerate</a:t>
            </a:r>
            <a:r>
              <a:rPr lang="en-GB" sz="3200"/>
              <a:t> and </a:t>
            </a:r>
            <a:r>
              <a:rPr lang="en-GB" sz="3200" i="1"/>
              <a:t>augment</a:t>
            </a:r>
            <a:r>
              <a:rPr lang="en-GB" sz="3200"/>
              <a:t> content development by creating complementary materials that support learning, engagement and implementation.</a:t>
            </a:r>
          </a:p>
        </p:txBody>
      </p:sp>
      <p:sp>
        <p:nvSpPr>
          <p:cNvPr id="8" name="Rectangle: Rounded Corners 7">
            <a:extLst>
              <a:ext uri="{FF2B5EF4-FFF2-40B4-BE49-F238E27FC236}">
                <a16:creationId xmlns:a16="http://schemas.microsoft.com/office/drawing/2014/main" id="{CEB3CC59-12BA-C15A-38AE-01BB8F8AE8CB}"/>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pic>
        <p:nvPicPr>
          <p:cNvPr id="6" name="Content Placeholder 5">
            <a:extLst>
              <a:ext uri="{FF2B5EF4-FFF2-40B4-BE49-F238E27FC236}">
                <a16:creationId xmlns:a16="http://schemas.microsoft.com/office/drawing/2014/main" id="{D88A73FA-9CF0-AD14-0F6F-61E1250C64DF}"/>
              </a:ext>
            </a:extLst>
          </p:cNvPr>
          <p:cNvPicPr>
            <a:picLocks noGrp="1" noChangeAspect="1"/>
          </p:cNvPicPr>
          <p:nvPr>
            <p:ph sz="half" idx="1"/>
          </p:nvPr>
        </p:nvPicPr>
        <p:blipFill>
          <a:blip r:embed="rId3"/>
          <a:stretch>
            <a:fillRect/>
          </a:stretch>
        </p:blipFill>
        <p:spPr>
          <a:xfrm>
            <a:off x="289420" y="1354966"/>
            <a:ext cx="2868811" cy="4351338"/>
          </a:xfrm>
          <a:prstGeom prst="rect">
            <a:avLst/>
          </a:prstGeom>
        </p:spPr>
      </p:pic>
      <p:pic>
        <p:nvPicPr>
          <p:cNvPr id="10" name="Picture 9">
            <a:extLst>
              <a:ext uri="{FF2B5EF4-FFF2-40B4-BE49-F238E27FC236}">
                <a16:creationId xmlns:a16="http://schemas.microsoft.com/office/drawing/2014/main" id="{A34B07A5-F5C2-8BFB-30B1-7AE9A04CBAEB}"/>
              </a:ext>
            </a:extLst>
          </p:cNvPr>
          <p:cNvPicPr>
            <a:picLocks noChangeAspect="1"/>
          </p:cNvPicPr>
          <p:nvPr/>
        </p:nvPicPr>
        <p:blipFill>
          <a:blip r:embed="rId4"/>
          <a:stretch>
            <a:fillRect/>
          </a:stretch>
        </p:blipFill>
        <p:spPr>
          <a:xfrm>
            <a:off x="11189170" y="5938829"/>
            <a:ext cx="877900" cy="829128"/>
          </a:xfrm>
          <a:prstGeom prst="rect">
            <a:avLst/>
          </a:prstGeom>
        </p:spPr>
      </p:pic>
    </p:spTree>
    <p:extLst>
      <p:ext uri="{BB962C8B-B14F-4D97-AF65-F5344CB8AC3E}">
        <p14:creationId xmlns:p14="http://schemas.microsoft.com/office/powerpoint/2010/main" val="2665670441"/>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6D8C7-850B-F6A0-C2FC-9EF4ECF1E7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44A88C-1B24-A9C3-24DC-4599FA1F4097}"/>
              </a:ext>
            </a:extLst>
          </p:cNvPr>
          <p:cNvSpPr>
            <a:spLocks noGrp="1"/>
          </p:cNvSpPr>
          <p:nvPr>
            <p:ph type="title"/>
          </p:nvPr>
        </p:nvSpPr>
        <p:spPr>
          <a:xfrm>
            <a:off x="3166844" y="365125"/>
            <a:ext cx="8900226" cy="1325563"/>
          </a:xfrm>
        </p:spPr>
        <p:txBody>
          <a:bodyPr>
            <a:noAutofit/>
          </a:bodyPr>
          <a:lstStyle/>
          <a:p>
            <a:pPr algn="ctr"/>
            <a:r>
              <a:rPr lang="en-GB" sz="4800">
                <a:latin typeface="Aptos Black" panose="020B0004020202020204" pitchFamily="34" charset="0"/>
              </a:rPr>
              <a:t>Workshop tasks and topics</a:t>
            </a:r>
          </a:p>
        </p:txBody>
      </p:sp>
      <p:sp>
        <p:nvSpPr>
          <p:cNvPr id="4" name="Content Placeholder 3">
            <a:extLst>
              <a:ext uri="{FF2B5EF4-FFF2-40B4-BE49-F238E27FC236}">
                <a16:creationId xmlns:a16="http://schemas.microsoft.com/office/drawing/2014/main" id="{667E47A0-E75C-094E-56D0-1AE0B809CC95}"/>
              </a:ext>
            </a:extLst>
          </p:cNvPr>
          <p:cNvSpPr>
            <a:spLocks noGrp="1"/>
          </p:cNvSpPr>
          <p:nvPr>
            <p:ph sz="half" idx="2"/>
          </p:nvPr>
        </p:nvSpPr>
        <p:spPr>
          <a:xfrm>
            <a:off x="3335131" y="1690688"/>
            <a:ext cx="8697844" cy="4983990"/>
          </a:xfrm>
        </p:spPr>
        <p:txBody>
          <a:bodyPr>
            <a:normAutofit lnSpcReduction="10000"/>
          </a:bodyPr>
          <a:lstStyle/>
          <a:p>
            <a:pPr marL="0" indent="0">
              <a:buNone/>
            </a:pPr>
            <a:r>
              <a:rPr lang="en-GB" sz="3200" b="1"/>
              <a:t>AI tools used:</a:t>
            </a:r>
          </a:p>
          <a:p>
            <a:pPr marL="0" indent="0">
              <a:buNone/>
            </a:pPr>
            <a:r>
              <a:rPr lang="en-GB" sz="3200"/>
              <a:t>Deep research</a:t>
            </a:r>
          </a:p>
          <a:p>
            <a:pPr marL="0" indent="0">
              <a:buNone/>
            </a:pPr>
            <a:r>
              <a:rPr lang="en-GB" sz="3200"/>
              <a:t>Image generation</a:t>
            </a:r>
          </a:p>
          <a:p>
            <a:pPr marL="0" indent="0">
              <a:buNone/>
            </a:pPr>
            <a:r>
              <a:rPr lang="en-GB" sz="3200"/>
              <a:t>Canvas</a:t>
            </a:r>
          </a:p>
          <a:p>
            <a:pPr marL="0" indent="0">
              <a:buNone/>
            </a:pPr>
            <a:r>
              <a:rPr lang="en-GB" sz="3200"/>
              <a:t>Gemini notebook</a:t>
            </a:r>
          </a:p>
          <a:p>
            <a:pPr marL="0" indent="0">
              <a:buNone/>
            </a:pPr>
            <a:endParaRPr lang="en-GB" sz="3200"/>
          </a:p>
          <a:p>
            <a:pPr marL="0" indent="0">
              <a:buNone/>
            </a:pPr>
            <a:r>
              <a:rPr lang="en-GB" sz="3200" b="1"/>
              <a:t>The topics:</a:t>
            </a:r>
          </a:p>
          <a:p>
            <a:pPr marL="0" indent="0">
              <a:buNone/>
            </a:pPr>
            <a:r>
              <a:rPr lang="en-GB" sz="3200"/>
              <a:t>Using AI locally on device</a:t>
            </a:r>
          </a:p>
          <a:p>
            <a:pPr marL="0" indent="0">
              <a:buNone/>
            </a:pPr>
            <a:r>
              <a:rPr lang="en-GB" sz="3200"/>
              <a:t>Moving from prompts to workflows</a:t>
            </a:r>
          </a:p>
        </p:txBody>
      </p:sp>
      <p:sp>
        <p:nvSpPr>
          <p:cNvPr id="8" name="Rectangle: Rounded Corners 7">
            <a:extLst>
              <a:ext uri="{FF2B5EF4-FFF2-40B4-BE49-F238E27FC236}">
                <a16:creationId xmlns:a16="http://schemas.microsoft.com/office/drawing/2014/main" id="{07A2CF19-735E-52A6-BB09-E6E0E68DFE22}"/>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pic>
        <p:nvPicPr>
          <p:cNvPr id="6" name="Content Placeholder 5">
            <a:extLst>
              <a:ext uri="{FF2B5EF4-FFF2-40B4-BE49-F238E27FC236}">
                <a16:creationId xmlns:a16="http://schemas.microsoft.com/office/drawing/2014/main" id="{42192C15-15C6-B3F4-DAAF-964EDAA13F7F}"/>
              </a:ext>
            </a:extLst>
          </p:cNvPr>
          <p:cNvPicPr>
            <a:picLocks noGrp="1" noChangeAspect="1"/>
          </p:cNvPicPr>
          <p:nvPr>
            <p:ph sz="half" idx="1"/>
          </p:nvPr>
        </p:nvPicPr>
        <p:blipFill>
          <a:blip r:embed="rId3"/>
          <a:stretch>
            <a:fillRect/>
          </a:stretch>
        </p:blipFill>
        <p:spPr>
          <a:xfrm>
            <a:off x="289420" y="1354966"/>
            <a:ext cx="2868811" cy="4351338"/>
          </a:xfrm>
          <a:prstGeom prst="rect">
            <a:avLst/>
          </a:prstGeom>
        </p:spPr>
      </p:pic>
      <p:pic>
        <p:nvPicPr>
          <p:cNvPr id="10" name="Picture 9">
            <a:extLst>
              <a:ext uri="{FF2B5EF4-FFF2-40B4-BE49-F238E27FC236}">
                <a16:creationId xmlns:a16="http://schemas.microsoft.com/office/drawing/2014/main" id="{165E87B5-4193-F439-68D9-7037B6E987F1}"/>
              </a:ext>
            </a:extLst>
          </p:cNvPr>
          <p:cNvPicPr>
            <a:picLocks noChangeAspect="1"/>
          </p:cNvPicPr>
          <p:nvPr/>
        </p:nvPicPr>
        <p:blipFill>
          <a:blip r:embed="rId4"/>
          <a:stretch>
            <a:fillRect/>
          </a:stretch>
        </p:blipFill>
        <p:spPr>
          <a:xfrm>
            <a:off x="11189170" y="5938829"/>
            <a:ext cx="877900" cy="829128"/>
          </a:xfrm>
          <a:prstGeom prst="rect">
            <a:avLst/>
          </a:prstGeom>
        </p:spPr>
      </p:pic>
    </p:spTree>
    <p:extLst>
      <p:ext uri="{BB962C8B-B14F-4D97-AF65-F5344CB8AC3E}">
        <p14:creationId xmlns:p14="http://schemas.microsoft.com/office/powerpoint/2010/main" val="3332354511"/>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D9850-B1A1-3CE5-9BB7-E80ADAEA0D73}"/>
              </a:ext>
            </a:extLst>
          </p:cNvPr>
          <p:cNvSpPr>
            <a:spLocks noGrp="1"/>
          </p:cNvSpPr>
          <p:nvPr>
            <p:ph type="title"/>
          </p:nvPr>
        </p:nvSpPr>
        <p:spPr>
          <a:xfrm>
            <a:off x="3359790" y="365125"/>
            <a:ext cx="7994009" cy="1325563"/>
          </a:xfrm>
        </p:spPr>
        <p:txBody>
          <a:bodyPr>
            <a:normAutofit/>
          </a:bodyPr>
          <a:lstStyle/>
          <a:p>
            <a:r>
              <a:rPr lang="en-GB" sz="7200">
                <a:latin typeface="Aptos Black" panose="020B0004020202020204" pitchFamily="34" charset="0"/>
              </a:rPr>
              <a:t>Responsible AI</a:t>
            </a:r>
          </a:p>
        </p:txBody>
      </p:sp>
      <p:sp>
        <p:nvSpPr>
          <p:cNvPr id="4" name="Content Placeholder 3">
            <a:extLst>
              <a:ext uri="{FF2B5EF4-FFF2-40B4-BE49-F238E27FC236}">
                <a16:creationId xmlns:a16="http://schemas.microsoft.com/office/drawing/2014/main" id="{8B509151-9389-CF6C-264D-78547A619B30}"/>
              </a:ext>
            </a:extLst>
          </p:cNvPr>
          <p:cNvSpPr>
            <a:spLocks noGrp="1"/>
          </p:cNvSpPr>
          <p:nvPr>
            <p:ph sz="half" idx="2"/>
          </p:nvPr>
        </p:nvSpPr>
        <p:spPr>
          <a:xfrm>
            <a:off x="3229761" y="1825625"/>
            <a:ext cx="8808441" cy="4818456"/>
          </a:xfrm>
        </p:spPr>
        <p:txBody>
          <a:bodyPr>
            <a:normAutofit/>
          </a:bodyPr>
          <a:lstStyle/>
          <a:p>
            <a:pPr marL="0" indent="0">
              <a:buNone/>
            </a:pPr>
            <a:endParaRPr lang="en-GB"/>
          </a:p>
          <a:p>
            <a:r>
              <a:rPr lang="en-GB" sz="3600"/>
              <a:t>AI augments work under your guidance</a:t>
            </a:r>
          </a:p>
          <a:p>
            <a:r>
              <a:rPr lang="en-GB" sz="3600"/>
              <a:t>Stay safe: If its for work then log in to your work account</a:t>
            </a:r>
          </a:p>
          <a:p>
            <a:r>
              <a:rPr lang="en-GB" sz="3600"/>
              <a:t>Your work is </a:t>
            </a:r>
            <a:r>
              <a:rPr lang="en-GB" sz="3600">
                <a:solidFill>
                  <a:srgbClr val="FF0000"/>
                </a:solidFill>
              </a:rPr>
              <a:t>your responsibility</a:t>
            </a:r>
            <a:r>
              <a:rPr lang="en-GB" sz="3600"/>
              <a:t>. Check those outputs!</a:t>
            </a:r>
          </a:p>
          <a:p>
            <a:r>
              <a:rPr lang="en-GB" sz="3600"/>
              <a:t>Keep those job skills sharp – or loose the ability to check!</a:t>
            </a:r>
          </a:p>
          <a:p>
            <a:pPr marL="0" indent="0">
              <a:buNone/>
            </a:pPr>
            <a:endParaRPr lang="en-GB"/>
          </a:p>
        </p:txBody>
      </p:sp>
      <p:sp>
        <p:nvSpPr>
          <p:cNvPr id="6" name="Rectangle: Rounded Corners 5">
            <a:extLst>
              <a:ext uri="{FF2B5EF4-FFF2-40B4-BE49-F238E27FC236}">
                <a16:creationId xmlns:a16="http://schemas.microsoft.com/office/drawing/2014/main" id="{C8788A6C-EC29-F013-CC1C-F41DF049A079}"/>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prstClr val="white"/>
                </a:solidFill>
                <a:effectLst/>
                <a:uLnTx/>
                <a:uFillTx/>
                <a:latin typeface="Aptos Display" panose="020B0004020202020204" pitchFamily="34" charset="0"/>
                <a:ea typeface="+mn-ea"/>
                <a:cs typeface="+mn-cs"/>
              </a:rPr>
              <a:t>When using AI in your work ALWAYS remember:</a:t>
            </a:r>
          </a:p>
        </p:txBody>
      </p:sp>
    </p:spTree>
    <p:extLst>
      <p:ext uri="{BB962C8B-B14F-4D97-AF65-F5344CB8AC3E}">
        <p14:creationId xmlns:p14="http://schemas.microsoft.com/office/powerpoint/2010/main" val="29619892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D2D18-A998-0FC8-F046-BA85D8FB0D5F}"/>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36AA07B-3167-4CC1-CF13-5283303E90B2}"/>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3200"/>
              <a:t>What is Deep Research?</a:t>
            </a:r>
          </a:p>
        </p:txBody>
      </p:sp>
      <p:pic>
        <p:nvPicPr>
          <p:cNvPr id="6" name="Picture 5" descr="File:Google Gemini icon 2025.svg">
            <a:extLst>
              <a:ext uri="{FF2B5EF4-FFF2-40B4-BE49-F238E27FC236}">
                <a16:creationId xmlns:a16="http://schemas.microsoft.com/office/drawing/2014/main" id="{ED04811E-33CF-BB9F-E129-ACD50542C991}"/>
              </a:ext>
            </a:extLst>
          </p:cNvPr>
          <p:cNvPicPr>
            <a:picLocks noChangeAspect="1"/>
          </p:cNvPicPr>
          <p:nvPr/>
        </p:nvPicPr>
        <p:blipFill>
          <a:blip r:embed="rId2"/>
          <a:stretch>
            <a:fillRect/>
          </a:stretch>
        </p:blipFill>
        <p:spPr>
          <a:xfrm>
            <a:off x="618688" y="4261709"/>
            <a:ext cx="2218888" cy="2218888"/>
          </a:xfrm>
          <a:prstGeom prst="rect">
            <a:avLst/>
          </a:prstGeom>
        </p:spPr>
      </p:pic>
      <p:pic>
        <p:nvPicPr>
          <p:cNvPr id="7" name="Picture 6">
            <a:extLst>
              <a:ext uri="{FF2B5EF4-FFF2-40B4-BE49-F238E27FC236}">
                <a16:creationId xmlns:a16="http://schemas.microsoft.com/office/drawing/2014/main" id="{0FAEC77D-820F-16E5-C755-498634D75567}"/>
              </a:ext>
            </a:extLst>
          </p:cNvPr>
          <p:cNvPicPr>
            <a:picLocks noChangeAspect="1"/>
          </p:cNvPicPr>
          <p:nvPr/>
        </p:nvPicPr>
        <p:blipFill>
          <a:blip r:embed="rId3"/>
          <a:stretch>
            <a:fillRect/>
          </a:stretch>
        </p:blipFill>
        <p:spPr>
          <a:xfrm>
            <a:off x="11189170" y="5938829"/>
            <a:ext cx="877900" cy="829128"/>
          </a:xfrm>
          <a:prstGeom prst="rect">
            <a:avLst/>
          </a:prstGeom>
        </p:spPr>
      </p:pic>
      <p:sp>
        <p:nvSpPr>
          <p:cNvPr id="2" name="Content Placeholder 3">
            <a:extLst>
              <a:ext uri="{FF2B5EF4-FFF2-40B4-BE49-F238E27FC236}">
                <a16:creationId xmlns:a16="http://schemas.microsoft.com/office/drawing/2014/main" id="{28A84E45-523A-33B0-E78A-A49A2019B07A}"/>
              </a:ext>
            </a:extLst>
          </p:cNvPr>
          <p:cNvSpPr txBox="1">
            <a:spLocks/>
          </p:cNvSpPr>
          <p:nvPr/>
        </p:nvSpPr>
        <p:spPr>
          <a:xfrm>
            <a:off x="3221372" y="1551963"/>
            <a:ext cx="8900720" cy="49286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2800" b="0" i="0" u="none" strike="noStrike" kern="1200" cap="none" spc="0" normalizeH="0" baseline="0" noProof="0">
              <a:ln>
                <a:noFill/>
              </a:ln>
              <a:solidFill>
                <a:prstClr val="black"/>
              </a:solidFill>
              <a:effectLst/>
              <a:uLnTx/>
              <a:uFillTx/>
              <a:latin typeface="Aptos ExtraBold" panose="020B0004020202020204" pitchFamily="34" charset="0"/>
              <a:ea typeface="+mn-ea"/>
              <a:cs typeface="+mn-cs"/>
            </a:endParaRPr>
          </a:p>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2800" b="0" i="0" u="none" strike="noStrike" kern="1200" cap="none" spc="0" normalizeH="0" baseline="0" noProof="0">
                <a:ln>
                  <a:noFill/>
                </a:ln>
                <a:solidFill>
                  <a:prstClr val="black"/>
                </a:solidFill>
                <a:effectLst/>
                <a:uLnTx/>
                <a:uFillTx/>
                <a:latin typeface="Aptos ExtraBold" panose="020B0004020202020204" pitchFamily="34" charset="0"/>
                <a:ea typeface="+mn-ea"/>
                <a:cs typeface="+mn-cs"/>
              </a:rPr>
              <a:t>Unlike a chatbot which gives a quick answer, deep research browses hundreds of websites and your own files to build a comprehensive report.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2600" b="1" i="0" u="none" strike="noStrike" kern="1200" cap="none" spc="0" normalizeH="0" baseline="0" noProof="0">
              <a:ln>
                <a:noFill/>
              </a:ln>
              <a:solidFill>
                <a:prstClr val="black"/>
              </a:solidFill>
              <a:effectLst/>
              <a:uLnTx/>
              <a:uFillTx/>
              <a:latin typeface="Aptos" panose="02110004020202020204"/>
              <a:ea typeface="+mn-ea"/>
              <a:cs typeface="+mn-cs"/>
            </a:endParaRPr>
          </a:p>
          <a:p>
            <a:pPr>
              <a:defRPr/>
            </a:pPr>
            <a:r>
              <a:rPr kumimoji="0" lang="en-GB" sz="2600" b="1" i="0" u="none" strike="noStrike" kern="1200" cap="none" spc="0" normalizeH="0" baseline="0" noProof="0">
                <a:ln>
                  <a:noFill/>
                </a:ln>
                <a:solidFill>
                  <a:prstClr val="black"/>
                </a:solidFill>
                <a:effectLst/>
                <a:uLnTx/>
                <a:uFillTx/>
                <a:latin typeface="Aptos" panose="02110004020202020204"/>
                <a:ea typeface="+mn-ea"/>
                <a:cs typeface="+mn-cs"/>
              </a:rPr>
              <a:t>Autonomous Browsing</a:t>
            </a:r>
            <a:r>
              <a:rPr kumimoji="0" lang="en-GB" sz="2600" b="0" i="0" u="none" strike="noStrike" kern="1200" cap="none" spc="0" normalizeH="0" baseline="0" noProof="0">
                <a:ln>
                  <a:noFill/>
                </a:ln>
                <a:solidFill>
                  <a:prstClr val="black"/>
                </a:solidFill>
                <a:effectLst/>
                <a:uLnTx/>
                <a:uFillTx/>
                <a:latin typeface="Aptos" panose="02110004020202020204"/>
                <a:ea typeface="+mn-ea"/>
                <a:cs typeface="+mn-cs"/>
              </a:rPr>
              <a:t>: It explores the web iteratively, following leads independently.</a:t>
            </a:r>
          </a:p>
          <a:p>
            <a:pPr>
              <a:defRPr/>
            </a:pPr>
            <a:r>
              <a:rPr kumimoji="0" lang="en-GB" sz="2600" b="1" i="0" u="none" strike="noStrike" kern="1200" cap="none" spc="0" normalizeH="0" baseline="0" noProof="0">
                <a:ln>
                  <a:noFill/>
                </a:ln>
                <a:solidFill>
                  <a:prstClr val="black"/>
                </a:solidFill>
                <a:effectLst/>
                <a:uLnTx/>
                <a:uFillTx/>
                <a:latin typeface="Aptos" panose="02110004020202020204"/>
                <a:ea typeface="+mn-ea"/>
                <a:cs typeface="+mn-cs"/>
              </a:rPr>
              <a:t>Synthesis</a:t>
            </a:r>
            <a:r>
              <a:rPr kumimoji="0" lang="en-GB" sz="2600" b="0" i="0" u="none" strike="noStrike" kern="1200" cap="none" spc="0" normalizeH="0" baseline="0" noProof="0">
                <a:ln>
                  <a:noFill/>
                </a:ln>
                <a:solidFill>
                  <a:prstClr val="black"/>
                </a:solidFill>
                <a:effectLst/>
                <a:uLnTx/>
                <a:uFillTx/>
                <a:latin typeface="Aptos" panose="02110004020202020204"/>
                <a:ea typeface="+mn-ea"/>
                <a:cs typeface="+mn-cs"/>
              </a:rPr>
              <a:t>: Organises findings into a structured report with full citations and source links.</a:t>
            </a:r>
          </a:p>
          <a:p>
            <a:pPr>
              <a:defRPr/>
            </a:pPr>
            <a:r>
              <a:rPr kumimoji="0" lang="en-GB" sz="2600" b="1" i="0" u="none" strike="noStrike" kern="1200" cap="none" spc="0" normalizeH="0" baseline="0" noProof="0">
                <a:ln>
                  <a:noFill/>
                </a:ln>
                <a:solidFill>
                  <a:prstClr val="black"/>
                </a:solidFill>
                <a:effectLst/>
                <a:uLnTx/>
                <a:uFillTx/>
                <a:latin typeface="Aptos" panose="02110004020202020204"/>
                <a:ea typeface="+mn-ea"/>
                <a:cs typeface="+mn-cs"/>
              </a:rPr>
              <a:t>Transparency</a:t>
            </a:r>
            <a:r>
              <a:rPr kumimoji="0" lang="en-GB" sz="2600" b="0" i="0" u="none" strike="noStrike" kern="1200" cap="none" spc="0" normalizeH="0" baseline="0" noProof="0">
                <a:ln>
                  <a:noFill/>
                </a:ln>
                <a:solidFill>
                  <a:prstClr val="black"/>
                </a:solidFill>
                <a:effectLst/>
                <a:uLnTx/>
                <a:uFillTx/>
                <a:latin typeface="Aptos" panose="02110004020202020204"/>
                <a:ea typeface="+mn-ea"/>
                <a:cs typeface="+mn-cs"/>
              </a:rPr>
              <a:t>: It shows its "thought process" and research plan before it starts.</a:t>
            </a:r>
          </a:p>
        </p:txBody>
      </p:sp>
      <p:sp>
        <p:nvSpPr>
          <p:cNvPr id="4" name="Title 1">
            <a:extLst>
              <a:ext uri="{FF2B5EF4-FFF2-40B4-BE49-F238E27FC236}">
                <a16:creationId xmlns:a16="http://schemas.microsoft.com/office/drawing/2014/main" id="{F85F753F-694B-5EBA-9784-FDDD769E61B8}"/>
              </a:ext>
            </a:extLst>
          </p:cNvPr>
          <p:cNvSpPr>
            <a:spLocks noGrp="1"/>
          </p:cNvSpPr>
          <p:nvPr>
            <p:ph type="title"/>
          </p:nvPr>
        </p:nvSpPr>
        <p:spPr>
          <a:xfrm>
            <a:off x="3343012" y="365125"/>
            <a:ext cx="8010788" cy="1325563"/>
          </a:xfrm>
        </p:spPr>
        <p:txBody>
          <a:bodyPr>
            <a:normAutofit/>
          </a:bodyPr>
          <a:lstStyle/>
          <a:p>
            <a:pPr algn="ctr"/>
            <a:r>
              <a:rPr lang="en-GB" sz="7200">
                <a:latin typeface="Aptos Black" panose="020B0004020202020204" pitchFamily="34" charset="0"/>
              </a:rPr>
              <a:t>Deep research</a:t>
            </a:r>
          </a:p>
        </p:txBody>
      </p:sp>
      <p:pic>
        <p:nvPicPr>
          <p:cNvPr id="11" name="Picture 10">
            <a:extLst>
              <a:ext uri="{FF2B5EF4-FFF2-40B4-BE49-F238E27FC236}">
                <a16:creationId xmlns:a16="http://schemas.microsoft.com/office/drawing/2014/main" id="{27D8DE02-C504-6EE5-4EB5-7CE6C328ECF2}"/>
              </a:ext>
            </a:extLst>
          </p:cNvPr>
          <p:cNvPicPr>
            <a:picLocks noChangeAspect="1"/>
          </p:cNvPicPr>
          <p:nvPr/>
        </p:nvPicPr>
        <p:blipFill>
          <a:blip r:embed="rId4"/>
          <a:stretch>
            <a:fillRect/>
          </a:stretch>
        </p:blipFill>
        <p:spPr>
          <a:xfrm>
            <a:off x="618688" y="705483"/>
            <a:ext cx="1946973" cy="719933"/>
          </a:xfrm>
          <a:prstGeom prst="rect">
            <a:avLst/>
          </a:prstGeom>
        </p:spPr>
      </p:pic>
    </p:spTree>
    <p:extLst>
      <p:ext uri="{BB962C8B-B14F-4D97-AF65-F5344CB8AC3E}">
        <p14:creationId xmlns:p14="http://schemas.microsoft.com/office/powerpoint/2010/main" val="4039169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694B2-6FE8-B79B-6017-73AD7F00BCFF}"/>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36E0A2D1-DBD4-94F7-711A-BCFC188C1E11}"/>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D76D102B-CBF8-92B5-E976-BFFE636648EE}"/>
              </a:ext>
            </a:extLst>
          </p:cNvPr>
          <p:cNvPicPr>
            <a:picLocks noChangeAspect="1"/>
          </p:cNvPicPr>
          <p:nvPr/>
        </p:nvPicPr>
        <p:blipFill>
          <a:blip r:embed="rId3"/>
          <a:stretch>
            <a:fillRect/>
          </a:stretch>
        </p:blipFill>
        <p:spPr>
          <a:xfrm>
            <a:off x="11189170" y="5938829"/>
            <a:ext cx="877900" cy="829128"/>
          </a:xfrm>
          <a:prstGeom prst="rect">
            <a:avLst/>
          </a:prstGeom>
        </p:spPr>
      </p:pic>
      <p:sp>
        <p:nvSpPr>
          <p:cNvPr id="2" name="Content Placeholder 3">
            <a:extLst>
              <a:ext uri="{FF2B5EF4-FFF2-40B4-BE49-F238E27FC236}">
                <a16:creationId xmlns:a16="http://schemas.microsoft.com/office/drawing/2014/main" id="{94477170-0F92-973C-7CEC-0BFC1D66366A}"/>
              </a:ext>
            </a:extLst>
          </p:cNvPr>
          <p:cNvSpPr txBox="1">
            <a:spLocks/>
          </p:cNvSpPr>
          <p:nvPr/>
        </p:nvSpPr>
        <p:spPr>
          <a:xfrm>
            <a:off x="3221372" y="1551963"/>
            <a:ext cx="8900720" cy="49286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2800" b="0" i="0" u="none" strike="noStrike" kern="1200" cap="none" spc="0" normalizeH="0" baseline="0" noProof="0">
              <a:ln>
                <a:noFill/>
              </a:ln>
              <a:solidFill>
                <a:prstClr val="black"/>
              </a:solidFill>
              <a:effectLst/>
              <a:uLnTx/>
              <a:uFillTx/>
              <a:latin typeface="Aptos ExtraBold" panose="020B0004020202020204" pitchFamily="34" charset="0"/>
              <a:ea typeface="+mn-ea"/>
              <a:cs typeface="+mn-cs"/>
            </a:endParaRPr>
          </a:p>
          <a:p>
            <a:pPr>
              <a:defRPr/>
            </a:pPr>
            <a:r>
              <a:rPr kumimoji="0" lang="en-GB" sz="2800" b="0" i="0" u="none" strike="noStrike" kern="1200" cap="none" spc="0" normalizeH="0" baseline="0" noProof="0">
                <a:ln>
                  <a:noFill/>
                </a:ln>
                <a:solidFill>
                  <a:prstClr val="black"/>
                </a:solidFill>
                <a:effectLst/>
                <a:uLnTx/>
                <a:uFillTx/>
                <a:ea typeface="+mn-ea"/>
                <a:cs typeface="+mn-cs"/>
              </a:rPr>
              <a:t>Explore how leading universities, public bodies and major organisations are cutting carbon by reducing demand at the source. </a:t>
            </a:r>
          </a:p>
          <a:p>
            <a:pPr>
              <a:defRPr/>
            </a:pPr>
            <a:r>
              <a:rPr kumimoji="0" lang="en-GB" sz="2800" b="0" i="0" u="none" strike="noStrike" kern="1200" cap="none" spc="0" normalizeH="0" baseline="0" noProof="0">
                <a:ln>
                  <a:noFill/>
                </a:ln>
                <a:solidFill>
                  <a:prstClr val="black"/>
                </a:solidFill>
                <a:effectLst/>
                <a:uLnTx/>
                <a:uFillTx/>
                <a:ea typeface="+mn-ea"/>
                <a:cs typeface="+mn-cs"/>
              </a:rPr>
              <a:t>Compare Cardiff University's Demand First approach with real-world examples of smarter travel, leaner procurement, shared resources and behaviour change</a:t>
            </a:r>
          </a:p>
          <a:p>
            <a:pPr>
              <a:defRPr/>
            </a:pPr>
            <a:r>
              <a:rPr kumimoji="0" lang="en-GB" sz="2800" b="0" i="0" u="none" strike="noStrike" kern="1200" cap="none" spc="0" normalizeH="0" baseline="0" noProof="0">
                <a:ln>
                  <a:noFill/>
                </a:ln>
                <a:solidFill>
                  <a:prstClr val="black"/>
                </a:solidFill>
                <a:effectLst/>
                <a:uLnTx/>
                <a:uFillTx/>
                <a:ea typeface="+mn-ea"/>
                <a:cs typeface="+mn-cs"/>
              </a:rPr>
              <a:t>Uncover the policies, nudges and data-driven interventions that are delivering measurable results before technology or offsetting even enters the conversation</a:t>
            </a:r>
          </a:p>
        </p:txBody>
      </p:sp>
      <p:sp>
        <p:nvSpPr>
          <p:cNvPr id="4" name="Title 1">
            <a:extLst>
              <a:ext uri="{FF2B5EF4-FFF2-40B4-BE49-F238E27FC236}">
                <a16:creationId xmlns:a16="http://schemas.microsoft.com/office/drawing/2014/main" id="{BD0E9665-18F5-4B1B-736C-765A1D73AE6B}"/>
              </a:ext>
            </a:extLst>
          </p:cNvPr>
          <p:cNvSpPr>
            <a:spLocks noGrp="1"/>
          </p:cNvSpPr>
          <p:nvPr>
            <p:ph type="title"/>
          </p:nvPr>
        </p:nvSpPr>
        <p:spPr>
          <a:xfrm>
            <a:off x="3343012" y="365125"/>
            <a:ext cx="8010788" cy="1325563"/>
          </a:xfrm>
        </p:spPr>
        <p:txBody>
          <a:bodyPr>
            <a:normAutofit fontScale="90000"/>
          </a:bodyPr>
          <a:lstStyle/>
          <a:p>
            <a:pPr lvl="0">
              <a:spcBef>
                <a:spcPts val="1000"/>
              </a:spcBef>
              <a:defRPr/>
            </a:pPr>
            <a:r>
              <a:rPr lang="en-GB" sz="7200">
                <a:solidFill>
                  <a:prstClr val="black"/>
                </a:solidFill>
                <a:latin typeface="Aptos ExtraBold" panose="020B0004020202020204" pitchFamily="34" charset="0"/>
              </a:rPr>
              <a:t>Our research brief:</a:t>
            </a:r>
          </a:p>
        </p:txBody>
      </p:sp>
      <p:pic>
        <p:nvPicPr>
          <p:cNvPr id="5" name="Content Placeholder 5">
            <a:extLst>
              <a:ext uri="{FF2B5EF4-FFF2-40B4-BE49-F238E27FC236}">
                <a16:creationId xmlns:a16="http://schemas.microsoft.com/office/drawing/2014/main" id="{E0FF9A28-849C-89C6-A2D1-8F3DED9BD4E9}"/>
              </a:ext>
            </a:extLst>
          </p:cNvPr>
          <p:cNvPicPr>
            <a:picLocks noGrp="1" noChangeAspect="1"/>
          </p:cNvPicPr>
          <p:nvPr>
            <p:ph sz="half" idx="1"/>
          </p:nvPr>
        </p:nvPicPr>
        <p:blipFill>
          <a:blip r:embed="rId4"/>
          <a:stretch>
            <a:fillRect/>
          </a:stretch>
        </p:blipFill>
        <p:spPr>
          <a:xfrm>
            <a:off x="805411" y="1508612"/>
            <a:ext cx="1760250" cy="2669901"/>
          </a:xfrm>
          <a:prstGeom prst="rect">
            <a:avLst/>
          </a:prstGeom>
        </p:spPr>
      </p:pic>
      <p:pic>
        <p:nvPicPr>
          <p:cNvPr id="6" name="Picture 5" descr="File:Google Gemini icon 2025.svg">
            <a:extLst>
              <a:ext uri="{FF2B5EF4-FFF2-40B4-BE49-F238E27FC236}">
                <a16:creationId xmlns:a16="http://schemas.microsoft.com/office/drawing/2014/main" id="{1022CCBD-C39D-2140-4D0A-01C9661DB380}"/>
              </a:ext>
            </a:extLst>
          </p:cNvPr>
          <p:cNvPicPr>
            <a:picLocks noChangeAspect="1"/>
          </p:cNvPicPr>
          <p:nvPr/>
        </p:nvPicPr>
        <p:blipFill>
          <a:blip r:embed="rId5"/>
          <a:stretch>
            <a:fillRect/>
          </a:stretch>
        </p:blipFill>
        <p:spPr>
          <a:xfrm>
            <a:off x="618688" y="4261709"/>
            <a:ext cx="2218888" cy="2218888"/>
          </a:xfrm>
          <a:prstGeom prst="rect">
            <a:avLst/>
          </a:prstGeom>
        </p:spPr>
      </p:pic>
      <p:pic>
        <p:nvPicPr>
          <p:cNvPr id="11" name="Picture 10">
            <a:extLst>
              <a:ext uri="{FF2B5EF4-FFF2-40B4-BE49-F238E27FC236}">
                <a16:creationId xmlns:a16="http://schemas.microsoft.com/office/drawing/2014/main" id="{DEF90FC2-27BA-05BC-FD65-88CFB396AD66}"/>
              </a:ext>
            </a:extLst>
          </p:cNvPr>
          <p:cNvPicPr>
            <a:picLocks noChangeAspect="1"/>
          </p:cNvPicPr>
          <p:nvPr/>
        </p:nvPicPr>
        <p:blipFill>
          <a:blip r:embed="rId6"/>
          <a:stretch>
            <a:fillRect/>
          </a:stretch>
        </p:blipFill>
        <p:spPr>
          <a:xfrm>
            <a:off x="618688" y="705483"/>
            <a:ext cx="1946973" cy="719933"/>
          </a:xfrm>
          <a:prstGeom prst="rect">
            <a:avLst/>
          </a:prstGeom>
        </p:spPr>
      </p:pic>
    </p:spTree>
    <p:extLst>
      <p:ext uri="{BB962C8B-B14F-4D97-AF65-F5344CB8AC3E}">
        <p14:creationId xmlns:p14="http://schemas.microsoft.com/office/powerpoint/2010/main" val="2809907146"/>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134FE-46C7-F5C5-D5D2-916D08893871}"/>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F790E4DD-5D92-80FE-6ED2-BCBC71B5C3C8}"/>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pic>
        <p:nvPicPr>
          <p:cNvPr id="6" name="Picture 5" descr="File:Google Gemini icon 2025.svg">
            <a:extLst>
              <a:ext uri="{FF2B5EF4-FFF2-40B4-BE49-F238E27FC236}">
                <a16:creationId xmlns:a16="http://schemas.microsoft.com/office/drawing/2014/main" id="{F39EB78B-4F79-F765-EB6C-87DB670D51DF}"/>
              </a:ext>
            </a:extLst>
          </p:cNvPr>
          <p:cNvPicPr>
            <a:picLocks noChangeAspect="1"/>
          </p:cNvPicPr>
          <p:nvPr/>
        </p:nvPicPr>
        <p:blipFill>
          <a:blip r:embed="rId2"/>
          <a:stretch>
            <a:fillRect/>
          </a:stretch>
        </p:blipFill>
        <p:spPr>
          <a:xfrm>
            <a:off x="618688" y="4261709"/>
            <a:ext cx="2218888" cy="2218888"/>
          </a:xfrm>
          <a:prstGeom prst="rect">
            <a:avLst/>
          </a:prstGeom>
        </p:spPr>
      </p:pic>
      <p:pic>
        <p:nvPicPr>
          <p:cNvPr id="7" name="Picture 6">
            <a:extLst>
              <a:ext uri="{FF2B5EF4-FFF2-40B4-BE49-F238E27FC236}">
                <a16:creationId xmlns:a16="http://schemas.microsoft.com/office/drawing/2014/main" id="{1E7D1034-3BC0-5F7A-162B-674ED616CD49}"/>
              </a:ext>
            </a:extLst>
          </p:cNvPr>
          <p:cNvPicPr>
            <a:picLocks noChangeAspect="1"/>
          </p:cNvPicPr>
          <p:nvPr/>
        </p:nvPicPr>
        <p:blipFill>
          <a:blip r:embed="rId3"/>
          <a:stretch>
            <a:fillRect/>
          </a:stretch>
        </p:blipFill>
        <p:spPr>
          <a:xfrm>
            <a:off x="11189170" y="5938829"/>
            <a:ext cx="877900" cy="829128"/>
          </a:xfrm>
          <a:prstGeom prst="rect">
            <a:avLst/>
          </a:prstGeom>
        </p:spPr>
      </p:pic>
      <p:sp>
        <p:nvSpPr>
          <p:cNvPr id="4" name="Title 1">
            <a:extLst>
              <a:ext uri="{FF2B5EF4-FFF2-40B4-BE49-F238E27FC236}">
                <a16:creationId xmlns:a16="http://schemas.microsoft.com/office/drawing/2014/main" id="{94EC7562-2A70-8B26-E33C-0EC58FD2C063}"/>
              </a:ext>
            </a:extLst>
          </p:cNvPr>
          <p:cNvSpPr>
            <a:spLocks noGrp="1"/>
          </p:cNvSpPr>
          <p:nvPr>
            <p:ph type="title"/>
          </p:nvPr>
        </p:nvSpPr>
        <p:spPr>
          <a:xfrm>
            <a:off x="3343012" y="365125"/>
            <a:ext cx="8010788" cy="1325563"/>
          </a:xfrm>
        </p:spPr>
        <p:txBody>
          <a:bodyPr>
            <a:normAutofit/>
          </a:bodyPr>
          <a:lstStyle/>
          <a:p>
            <a:pPr algn="ctr"/>
            <a:r>
              <a:rPr lang="en-GB" sz="7200">
                <a:latin typeface="Aptos Black" panose="020B0004020202020204" pitchFamily="34" charset="0"/>
              </a:rPr>
              <a:t>Deep research</a:t>
            </a:r>
          </a:p>
        </p:txBody>
      </p:sp>
      <p:pic>
        <p:nvPicPr>
          <p:cNvPr id="11" name="Picture 10">
            <a:extLst>
              <a:ext uri="{FF2B5EF4-FFF2-40B4-BE49-F238E27FC236}">
                <a16:creationId xmlns:a16="http://schemas.microsoft.com/office/drawing/2014/main" id="{F9466AEB-FA1E-A230-DE0E-419B88B99DC7}"/>
              </a:ext>
            </a:extLst>
          </p:cNvPr>
          <p:cNvPicPr>
            <a:picLocks noChangeAspect="1"/>
          </p:cNvPicPr>
          <p:nvPr/>
        </p:nvPicPr>
        <p:blipFill>
          <a:blip r:embed="rId4"/>
          <a:stretch>
            <a:fillRect/>
          </a:stretch>
        </p:blipFill>
        <p:spPr>
          <a:xfrm>
            <a:off x="618688" y="705483"/>
            <a:ext cx="1946973" cy="719933"/>
          </a:xfrm>
          <a:prstGeom prst="rect">
            <a:avLst/>
          </a:prstGeom>
        </p:spPr>
      </p:pic>
      <p:pic>
        <p:nvPicPr>
          <p:cNvPr id="8" name="Picture 7">
            <a:extLst>
              <a:ext uri="{FF2B5EF4-FFF2-40B4-BE49-F238E27FC236}">
                <a16:creationId xmlns:a16="http://schemas.microsoft.com/office/drawing/2014/main" id="{CF224947-581A-4C7B-8221-E685D28D7605}"/>
              </a:ext>
            </a:extLst>
          </p:cNvPr>
          <p:cNvPicPr>
            <a:picLocks noChangeAspect="1"/>
          </p:cNvPicPr>
          <p:nvPr/>
        </p:nvPicPr>
        <p:blipFill>
          <a:blip r:embed="rId5"/>
          <a:stretch>
            <a:fillRect/>
          </a:stretch>
        </p:blipFill>
        <p:spPr>
          <a:xfrm>
            <a:off x="3343012" y="1495124"/>
            <a:ext cx="3340693" cy="2581445"/>
          </a:xfrm>
          <a:prstGeom prst="rect">
            <a:avLst/>
          </a:prstGeom>
        </p:spPr>
      </p:pic>
      <p:pic>
        <p:nvPicPr>
          <p:cNvPr id="10" name="Picture 9">
            <a:extLst>
              <a:ext uri="{FF2B5EF4-FFF2-40B4-BE49-F238E27FC236}">
                <a16:creationId xmlns:a16="http://schemas.microsoft.com/office/drawing/2014/main" id="{016D4B61-1F3F-E729-A57B-C5D3580F9F5B}"/>
              </a:ext>
            </a:extLst>
          </p:cNvPr>
          <p:cNvPicPr>
            <a:picLocks noChangeAspect="1"/>
          </p:cNvPicPr>
          <p:nvPr/>
        </p:nvPicPr>
        <p:blipFill>
          <a:blip r:embed="rId6"/>
          <a:stretch>
            <a:fillRect/>
          </a:stretch>
        </p:blipFill>
        <p:spPr>
          <a:xfrm>
            <a:off x="3343012" y="4195657"/>
            <a:ext cx="4468750" cy="2611152"/>
          </a:xfrm>
          <a:prstGeom prst="rect">
            <a:avLst/>
          </a:prstGeom>
        </p:spPr>
      </p:pic>
      <p:cxnSp>
        <p:nvCxnSpPr>
          <p:cNvPr id="13" name="Straight Arrow Connector 12">
            <a:extLst>
              <a:ext uri="{FF2B5EF4-FFF2-40B4-BE49-F238E27FC236}">
                <a16:creationId xmlns:a16="http://schemas.microsoft.com/office/drawing/2014/main" id="{9078BE3A-E0C6-CF14-10B5-D3C15945A69C}"/>
              </a:ext>
            </a:extLst>
          </p:cNvPr>
          <p:cNvCxnSpPr>
            <a:cxnSpLocks/>
          </p:cNvCxnSpPr>
          <p:nvPr/>
        </p:nvCxnSpPr>
        <p:spPr>
          <a:xfrm flipH="1">
            <a:off x="7000613" y="6353393"/>
            <a:ext cx="1430323" cy="72574"/>
          </a:xfrm>
          <a:prstGeom prst="straightConnector1">
            <a:avLst/>
          </a:prstGeom>
          <a:ln w="76200">
            <a:tailEnd type="triangle"/>
          </a:ln>
        </p:spPr>
        <p:style>
          <a:lnRef idx="2">
            <a:schemeClr val="accent2"/>
          </a:lnRef>
          <a:fillRef idx="0">
            <a:schemeClr val="accent2"/>
          </a:fillRef>
          <a:effectRef idx="1">
            <a:schemeClr val="accent2"/>
          </a:effectRef>
          <a:fontRef idx="minor">
            <a:schemeClr val="tx1"/>
          </a:fontRef>
        </p:style>
      </p:cxnSp>
      <p:pic>
        <p:nvPicPr>
          <p:cNvPr id="17" name="Picture 16">
            <a:extLst>
              <a:ext uri="{FF2B5EF4-FFF2-40B4-BE49-F238E27FC236}">
                <a16:creationId xmlns:a16="http://schemas.microsoft.com/office/drawing/2014/main" id="{C9BD7CBB-A0B6-FE24-7D97-A5A747D116D6}"/>
              </a:ext>
            </a:extLst>
          </p:cNvPr>
          <p:cNvPicPr>
            <a:picLocks noChangeAspect="1"/>
          </p:cNvPicPr>
          <p:nvPr/>
        </p:nvPicPr>
        <p:blipFill>
          <a:blip r:embed="rId7"/>
          <a:stretch>
            <a:fillRect/>
          </a:stretch>
        </p:blipFill>
        <p:spPr>
          <a:xfrm>
            <a:off x="8056809" y="1927726"/>
            <a:ext cx="4039623" cy="3099121"/>
          </a:xfrm>
          <a:prstGeom prst="rect">
            <a:avLst/>
          </a:prstGeom>
        </p:spPr>
      </p:pic>
      <p:sp>
        <p:nvSpPr>
          <p:cNvPr id="22" name="TextBox 21">
            <a:extLst>
              <a:ext uri="{FF2B5EF4-FFF2-40B4-BE49-F238E27FC236}">
                <a16:creationId xmlns:a16="http://schemas.microsoft.com/office/drawing/2014/main" id="{699AF6D4-0C55-A3DD-06CA-5E2DD50AA973}"/>
              </a:ext>
            </a:extLst>
          </p:cNvPr>
          <p:cNvSpPr txBox="1"/>
          <p:nvPr/>
        </p:nvSpPr>
        <p:spPr>
          <a:xfrm>
            <a:off x="3108121" y="885164"/>
            <a:ext cx="830644" cy="1323439"/>
          </a:xfrm>
          <a:prstGeom prst="rect">
            <a:avLst/>
          </a:prstGeom>
          <a:noFill/>
        </p:spPr>
        <p:txBody>
          <a:bodyPr wrap="square">
            <a:spAutoFit/>
          </a:bodyPr>
          <a:lstStyle/>
          <a:p>
            <a:r>
              <a:rPr kumimoji="0" lang="en-GB" sz="8000" b="0" i="0" u="none" strike="noStrike" kern="1200" cap="none" spc="0" normalizeH="0" baseline="0" noProof="0">
                <a:ln>
                  <a:noFill/>
                </a:ln>
                <a:solidFill>
                  <a:srgbClr val="156082">
                    <a:lumMod val="60000"/>
                    <a:lumOff val="40000"/>
                  </a:srgbClr>
                </a:solidFill>
                <a:effectLst/>
                <a:uLnTx/>
                <a:uFillTx/>
                <a:latin typeface="Snap ITC" panose="04040A07060A02020202" pitchFamily="82" charset="0"/>
                <a:ea typeface="+mn-ea"/>
                <a:cs typeface="+mn-cs"/>
              </a:rPr>
              <a:t>1</a:t>
            </a:r>
            <a:endParaRPr lang="en-GB"/>
          </a:p>
        </p:txBody>
      </p:sp>
      <p:sp>
        <p:nvSpPr>
          <p:cNvPr id="24" name="TextBox 23">
            <a:extLst>
              <a:ext uri="{FF2B5EF4-FFF2-40B4-BE49-F238E27FC236}">
                <a16:creationId xmlns:a16="http://schemas.microsoft.com/office/drawing/2014/main" id="{B46104D9-BF66-8950-0830-33D7D1A68087}"/>
              </a:ext>
            </a:extLst>
          </p:cNvPr>
          <p:cNvSpPr txBox="1"/>
          <p:nvPr/>
        </p:nvSpPr>
        <p:spPr>
          <a:xfrm>
            <a:off x="2919369" y="3847197"/>
            <a:ext cx="6182686" cy="1323439"/>
          </a:xfrm>
          <a:prstGeom prst="rect">
            <a:avLst/>
          </a:prstGeom>
          <a:noFill/>
        </p:spPr>
        <p:txBody>
          <a:bodyPr wrap="square">
            <a:spAutoFit/>
          </a:bodyPr>
          <a:lstStyle/>
          <a:p>
            <a:r>
              <a:rPr kumimoji="0" lang="en-GB" sz="8000" b="0" i="0" u="none" strike="noStrike" kern="1200" cap="none" spc="0" normalizeH="0" baseline="0" noProof="0">
                <a:ln>
                  <a:noFill/>
                </a:ln>
                <a:solidFill>
                  <a:srgbClr val="156082">
                    <a:lumMod val="60000"/>
                    <a:lumOff val="40000"/>
                  </a:srgbClr>
                </a:solidFill>
                <a:effectLst/>
                <a:uLnTx/>
                <a:uFillTx/>
                <a:latin typeface="Snap ITC" panose="04040A07060A02020202" pitchFamily="82" charset="0"/>
                <a:ea typeface="+mn-ea"/>
                <a:cs typeface="+mn-cs"/>
              </a:rPr>
              <a:t>2</a:t>
            </a:r>
            <a:endParaRPr lang="en-GB"/>
          </a:p>
        </p:txBody>
      </p:sp>
      <p:sp>
        <p:nvSpPr>
          <p:cNvPr id="26" name="TextBox 25">
            <a:extLst>
              <a:ext uri="{FF2B5EF4-FFF2-40B4-BE49-F238E27FC236}">
                <a16:creationId xmlns:a16="http://schemas.microsoft.com/office/drawing/2014/main" id="{A2233816-5E74-6A37-175D-4E84EBD4DC73}"/>
              </a:ext>
            </a:extLst>
          </p:cNvPr>
          <p:cNvSpPr txBox="1"/>
          <p:nvPr/>
        </p:nvSpPr>
        <p:spPr>
          <a:xfrm>
            <a:off x="7750745" y="1450581"/>
            <a:ext cx="1077985" cy="1323439"/>
          </a:xfrm>
          <a:prstGeom prst="rect">
            <a:avLst/>
          </a:prstGeom>
          <a:noFill/>
        </p:spPr>
        <p:txBody>
          <a:bodyPr wrap="square">
            <a:spAutoFit/>
          </a:bodyPr>
          <a:lstStyle/>
          <a:p>
            <a:r>
              <a:rPr kumimoji="0" lang="en-GB" sz="8000" b="0" i="0" u="none" strike="noStrike" kern="1200" cap="none" spc="0" normalizeH="0" baseline="0" noProof="0">
                <a:ln>
                  <a:noFill/>
                </a:ln>
                <a:solidFill>
                  <a:srgbClr val="156082">
                    <a:lumMod val="60000"/>
                    <a:lumOff val="40000"/>
                  </a:srgbClr>
                </a:solidFill>
                <a:effectLst/>
                <a:uLnTx/>
                <a:uFillTx/>
                <a:latin typeface="Snap ITC" panose="04040A07060A02020202" pitchFamily="82" charset="0"/>
                <a:ea typeface="+mn-ea"/>
                <a:cs typeface="+mn-cs"/>
              </a:rPr>
              <a:t>3</a:t>
            </a:r>
            <a:endParaRPr lang="en-GB"/>
          </a:p>
        </p:txBody>
      </p:sp>
    </p:spTree>
    <p:extLst>
      <p:ext uri="{BB962C8B-B14F-4D97-AF65-F5344CB8AC3E}">
        <p14:creationId xmlns:p14="http://schemas.microsoft.com/office/powerpoint/2010/main" val="2440285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3190B-11CC-F776-B45E-C42BAF8D926C}"/>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D5A513F8-5126-A069-5F86-FF1E1ED77DFE}"/>
              </a:ext>
            </a:extLst>
          </p:cNvPr>
          <p:cNvPicPr>
            <a:picLocks noChangeAspect="1"/>
          </p:cNvPicPr>
          <p:nvPr/>
        </p:nvPicPr>
        <p:blipFill>
          <a:blip r:embed="rId2"/>
          <a:stretch>
            <a:fillRect/>
          </a:stretch>
        </p:blipFill>
        <p:spPr>
          <a:xfrm>
            <a:off x="3842071" y="1642533"/>
            <a:ext cx="7392432" cy="4934639"/>
          </a:xfrm>
          <a:prstGeom prst="rect">
            <a:avLst/>
          </a:prstGeom>
        </p:spPr>
      </p:pic>
      <p:sp>
        <p:nvSpPr>
          <p:cNvPr id="3" name="Rectangle: Rounded Corners 2">
            <a:extLst>
              <a:ext uri="{FF2B5EF4-FFF2-40B4-BE49-F238E27FC236}">
                <a16:creationId xmlns:a16="http://schemas.microsoft.com/office/drawing/2014/main" id="{3D9B0249-754C-0799-224D-70C05F606502}"/>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pic>
        <p:nvPicPr>
          <p:cNvPr id="6" name="Picture 5" descr="File:Google Gemini icon 2025.svg">
            <a:extLst>
              <a:ext uri="{FF2B5EF4-FFF2-40B4-BE49-F238E27FC236}">
                <a16:creationId xmlns:a16="http://schemas.microsoft.com/office/drawing/2014/main" id="{061C5C06-7B70-143B-E6CD-B6FE459F343A}"/>
              </a:ext>
            </a:extLst>
          </p:cNvPr>
          <p:cNvPicPr>
            <a:picLocks noChangeAspect="1"/>
          </p:cNvPicPr>
          <p:nvPr/>
        </p:nvPicPr>
        <p:blipFill>
          <a:blip r:embed="rId3"/>
          <a:stretch>
            <a:fillRect/>
          </a:stretch>
        </p:blipFill>
        <p:spPr>
          <a:xfrm>
            <a:off x="618688" y="4261709"/>
            <a:ext cx="2218888" cy="2218888"/>
          </a:xfrm>
          <a:prstGeom prst="rect">
            <a:avLst/>
          </a:prstGeom>
        </p:spPr>
      </p:pic>
      <p:pic>
        <p:nvPicPr>
          <p:cNvPr id="7" name="Picture 6">
            <a:extLst>
              <a:ext uri="{FF2B5EF4-FFF2-40B4-BE49-F238E27FC236}">
                <a16:creationId xmlns:a16="http://schemas.microsoft.com/office/drawing/2014/main" id="{913306D4-C488-79DF-797B-AAA7011A53F0}"/>
              </a:ext>
            </a:extLst>
          </p:cNvPr>
          <p:cNvPicPr>
            <a:picLocks noChangeAspect="1"/>
          </p:cNvPicPr>
          <p:nvPr/>
        </p:nvPicPr>
        <p:blipFill>
          <a:blip r:embed="rId4"/>
          <a:stretch>
            <a:fillRect/>
          </a:stretch>
        </p:blipFill>
        <p:spPr>
          <a:xfrm>
            <a:off x="11189170" y="5938829"/>
            <a:ext cx="877900" cy="829128"/>
          </a:xfrm>
          <a:prstGeom prst="rect">
            <a:avLst/>
          </a:prstGeom>
        </p:spPr>
      </p:pic>
      <p:sp>
        <p:nvSpPr>
          <p:cNvPr id="2" name="Content Placeholder 3">
            <a:extLst>
              <a:ext uri="{FF2B5EF4-FFF2-40B4-BE49-F238E27FC236}">
                <a16:creationId xmlns:a16="http://schemas.microsoft.com/office/drawing/2014/main" id="{CAAD26AC-4C92-F3A3-D618-B1A44217FCD5}"/>
              </a:ext>
            </a:extLst>
          </p:cNvPr>
          <p:cNvSpPr txBox="1">
            <a:spLocks/>
          </p:cNvSpPr>
          <p:nvPr/>
        </p:nvSpPr>
        <p:spPr>
          <a:xfrm>
            <a:off x="3221372" y="1551963"/>
            <a:ext cx="8900720" cy="49286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2800" b="0" i="0" u="none" strike="noStrike" kern="1200" cap="none" spc="0" normalizeH="0" baseline="0" noProof="0">
              <a:ln>
                <a:noFill/>
              </a:ln>
              <a:solidFill>
                <a:prstClr val="black"/>
              </a:solidFill>
              <a:effectLst/>
              <a:uLnTx/>
              <a:uFillTx/>
              <a:latin typeface="Aptos ExtraBold" panose="020B0004020202020204" pitchFamily="34" charset="0"/>
              <a:ea typeface="+mn-ea"/>
              <a:cs typeface="+mn-cs"/>
            </a:endParaRPr>
          </a:p>
        </p:txBody>
      </p:sp>
      <p:sp>
        <p:nvSpPr>
          <p:cNvPr id="4" name="Title 1">
            <a:extLst>
              <a:ext uri="{FF2B5EF4-FFF2-40B4-BE49-F238E27FC236}">
                <a16:creationId xmlns:a16="http://schemas.microsoft.com/office/drawing/2014/main" id="{678227C9-08B5-668E-1552-3CDEA20B88B4}"/>
              </a:ext>
            </a:extLst>
          </p:cNvPr>
          <p:cNvSpPr>
            <a:spLocks noGrp="1"/>
          </p:cNvSpPr>
          <p:nvPr>
            <p:ph type="title"/>
          </p:nvPr>
        </p:nvSpPr>
        <p:spPr>
          <a:xfrm>
            <a:off x="3343012" y="365125"/>
            <a:ext cx="8010788" cy="1325563"/>
          </a:xfrm>
        </p:spPr>
        <p:txBody>
          <a:bodyPr>
            <a:normAutofit/>
          </a:bodyPr>
          <a:lstStyle/>
          <a:p>
            <a:pPr algn="ctr"/>
            <a:r>
              <a:rPr lang="en-GB" sz="7200">
                <a:latin typeface="Aptos Black" panose="020B0004020202020204" pitchFamily="34" charset="0"/>
              </a:rPr>
              <a:t>Deep research</a:t>
            </a:r>
          </a:p>
        </p:txBody>
      </p:sp>
      <p:pic>
        <p:nvPicPr>
          <p:cNvPr id="11" name="Picture 10">
            <a:extLst>
              <a:ext uri="{FF2B5EF4-FFF2-40B4-BE49-F238E27FC236}">
                <a16:creationId xmlns:a16="http://schemas.microsoft.com/office/drawing/2014/main" id="{473F8B25-D8A3-6593-75B6-532397FC6007}"/>
              </a:ext>
            </a:extLst>
          </p:cNvPr>
          <p:cNvPicPr>
            <a:picLocks noChangeAspect="1"/>
          </p:cNvPicPr>
          <p:nvPr/>
        </p:nvPicPr>
        <p:blipFill>
          <a:blip r:embed="rId5"/>
          <a:stretch>
            <a:fillRect/>
          </a:stretch>
        </p:blipFill>
        <p:spPr>
          <a:xfrm>
            <a:off x="618688" y="705483"/>
            <a:ext cx="1946973" cy="719933"/>
          </a:xfrm>
          <a:prstGeom prst="rect">
            <a:avLst/>
          </a:prstGeom>
        </p:spPr>
      </p:pic>
    </p:spTree>
    <p:extLst>
      <p:ext uri="{BB962C8B-B14F-4D97-AF65-F5344CB8AC3E}">
        <p14:creationId xmlns:p14="http://schemas.microsoft.com/office/powerpoint/2010/main" val="1954996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DEE4C-6A7B-2BA0-9247-AA4337DDB3D8}"/>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396248F-DF14-D6EB-386E-55E12F26B47D}"/>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sp>
        <p:nvSpPr>
          <p:cNvPr id="2" name="Content Placeholder 3">
            <a:extLst>
              <a:ext uri="{FF2B5EF4-FFF2-40B4-BE49-F238E27FC236}">
                <a16:creationId xmlns:a16="http://schemas.microsoft.com/office/drawing/2014/main" id="{1CD9015A-D64F-90EE-9674-4C03386DB91B}"/>
              </a:ext>
            </a:extLst>
          </p:cNvPr>
          <p:cNvSpPr txBox="1">
            <a:spLocks/>
          </p:cNvSpPr>
          <p:nvPr/>
        </p:nvSpPr>
        <p:spPr>
          <a:xfrm>
            <a:off x="3221372" y="1551963"/>
            <a:ext cx="8900720" cy="49286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2800" b="0" i="0" u="none" strike="noStrike" kern="1200" cap="none" spc="0" normalizeH="0" baseline="0" noProof="0">
              <a:ln>
                <a:noFill/>
              </a:ln>
              <a:solidFill>
                <a:prstClr val="black"/>
              </a:solidFill>
              <a:effectLst/>
              <a:uLnTx/>
              <a:uFillTx/>
              <a:latin typeface="Aptos ExtraBold" panose="020B0004020202020204" pitchFamily="34" charset="0"/>
              <a:ea typeface="+mn-ea"/>
              <a:cs typeface="+mn-cs"/>
            </a:endParaRPr>
          </a:p>
        </p:txBody>
      </p:sp>
      <p:sp>
        <p:nvSpPr>
          <p:cNvPr id="4" name="Title 1">
            <a:extLst>
              <a:ext uri="{FF2B5EF4-FFF2-40B4-BE49-F238E27FC236}">
                <a16:creationId xmlns:a16="http://schemas.microsoft.com/office/drawing/2014/main" id="{89DCE2BE-6013-25C1-CBBB-7CD28DA6F921}"/>
              </a:ext>
            </a:extLst>
          </p:cNvPr>
          <p:cNvSpPr>
            <a:spLocks noGrp="1"/>
          </p:cNvSpPr>
          <p:nvPr>
            <p:ph type="title"/>
          </p:nvPr>
        </p:nvSpPr>
        <p:spPr>
          <a:xfrm>
            <a:off x="3343012" y="365125"/>
            <a:ext cx="8010788" cy="1325563"/>
          </a:xfrm>
        </p:spPr>
        <p:txBody>
          <a:bodyPr>
            <a:normAutofit/>
          </a:bodyPr>
          <a:lstStyle/>
          <a:p>
            <a:pPr algn="ctr"/>
            <a:r>
              <a:rPr lang="en-GB" sz="7200">
                <a:latin typeface="Aptos Black" panose="020B0004020202020204" pitchFamily="34" charset="0"/>
              </a:rPr>
              <a:t>Deep research</a:t>
            </a:r>
          </a:p>
        </p:txBody>
      </p:sp>
      <p:pic>
        <p:nvPicPr>
          <p:cNvPr id="11" name="Picture 10">
            <a:extLst>
              <a:ext uri="{FF2B5EF4-FFF2-40B4-BE49-F238E27FC236}">
                <a16:creationId xmlns:a16="http://schemas.microsoft.com/office/drawing/2014/main" id="{D24CC985-9F4B-4079-4D2F-46F34D6566C9}"/>
              </a:ext>
            </a:extLst>
          </p:cNvPr>
          <p:cNvPicPr>
            <a:picLocks noChangeAspect="1"/>
          </p:cNvPicPr>
          <p:nvPr/>
        </p:nvPicPr>
        <p:blipFill>
          <a:blip r:embed="rId2"/>
          <a:stretch>
            <a:fillRect/>
          </a:stretch>
        </p:blipFill>
        <p:spPr>
          <a:xfrm>
            <a:off x="618688" y="705483"/>
            <a:ext cx="1946973" cy="719933"/>
          </a:xfrm>
          <a:prstGeom prst="rect">
            <a:avLst/>
          </a:prstGeom>
        </p:spPr>
      </p:pic>
      <p:pic>
        <p:nvPicPr>
          <p:cNvPr id="12" name="Picture 11">
            <a:extLst>
              <a:ext uri="{FF2B5EF4-FFF2-40B4-BE49-F238E27FC236}">
                <a16:creationId xmlns:a16="http://schemas.microsoft.com/office/drawing/2014/main" id="{B4915C1F-1EF9-4342-C316-FF7890C98631}"/>
              </a:ext>
            </a:extLst>
          </p:cNvPr>
          <p:cNvPicPr>
            <a:picLocks noChangeAspect="1"/>
          </p:cNvPicPr>
          <p:nvPr/>
        </p:nvPicPr>
        <p:blipFill>
          <a:blip r:embed="rId3"/>
          <a:stretch>
            <a:fillRect/>
          </a:stretch>
        </p:blipFill>
        <p:spPr>
          <a:xfrm>
            <a:off x="2160165" y="1551963"/>
            <a:ext cx="9872444" cy="4791039"/>
          </a:xfrm>
          <a:prstGeom prst="rect">
            <a:avLst/>
          </a:prstGeom>
        </p:spPr>
      </p:pic>
      <p:pic>
        <p:nvPicPr>
          <p:cNvPr id="6" name="Picture 5" descr="File:Google Gemini icon 2025.svg">
            <a:extLst>
              <a:ext uri="{FF2B5EF4-FFF2-40B4-BE49-F238E27FC236}">
                <a16:creationId xmlns:a16="http://schemas.microsoft.com/office/drawing/2014/main" id="{BEE9EDC1-4312-9501-0E4C-8D44834E2374}"/>
              </a:ext>
            </a:extLst>
          </p:cNvPr>
          <p:cNvPicPr>
            <a:picLocks noChangeAspect="1"/>
          </p:cNvPicPr>
          <p:nvPr/>
        </p:nvPicPr>
        <p:blipFill>
          <a:blip r:embed="rId4"/>
          <a:stretch>
            <a:fillRect/>
          </a:stretch>
        </p:blipFill>
        <p:spPr>
          <a:xfrm>
            <a:off x="618688" y="4261709"/>
            <a:ext cx="2218888" cy="2218888"/>
          </a:xfrm>
          <a:prstGeom prst="rect">
            <a:avLst/>
          </a:prstGeom>
        </p:spPr>
      </p:pic>
      <p:pic>
        <p:nvPicPr>
          <p:cNvPr id="7" name="Picture 6">
            <a:extLst>
              <a:ext uri="{FF2B5EF4-FFF2-40B4-BE49-F238E27FC236}">
                <a16:creationId xmlns:a16="http://schemas.microsoft.com/office/drawing/2014/main" id="{F49E0D3E-9F2B-BE10-22F7-5CBBEAB8FE21}"/>
              </a:ext>
            </a:extLst>
          </p:cNvPr>
          <p:cNvPicPr>
            <a:picLocks noChangeAspect="1"/>
          </p:cNvPicPr>
          <p:nvPr/>
        </p:nvPicPr>
        <p:blipFill>
          <a:blip r:embed="rId5"/>
          <a:stretch>
            <a:fillRect/>
          </a:stretch>
        </p:blipFill>
        <p:spPr>
          <a:xfrm>
            <a:off x="11189170" y="5938829"/>
            <a:ext cx="877900" cy="829128"/>
          </a:xfrm>
          <a:prstGeom prst="rect">
            <a:avLst/>
          </a:prstGeom>
        </p:spPr>
      </p:pic>
    </p:spTree>
    <p:extLst>
      <p:ext uri="{BB962C8B-B14F-4D97-AF65-F5344CB8AC3E}">
        <p14:creationId xmlns:p14="http://schemas.microsoft.com/office/powerpoint/2010/main" val="1311588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F3BC9-3CEC-EA2F-FCCB-9D1295D38FD2}"/>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D277A736-EEEC-A238-14A0-8FB2CA11CDE0}"/>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Rounded Corners 9">
            <a:extLst>
              <a:ext uri="{FF2B5EF4-FFF2-40B4-BE49-F238E27FC236}">
                <a16:creationId xmlns:a16="http://schemas.microsoft.com/office/drawing/2014/main" id="{4FD18DA4-49F1-D180-B464-648765BE4BBA}"/>
              </a:ext>
            </a:extLst>
          </p:cNvPr>
          <p:cNvSpPr/>
          <p:nvPr/>
        </p:nvSpPr>
        <p:spPr>
          <a:xfrm>
            <a:off x="398476" y="5164375"/>
            <a:ext cx="2650922" cy="7744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27437EF4-39CF-0051-CF42-7AF1787B2528}"/>
              </a:ext>
            </a:extLst>
          </p:cNvPr>
          <p:cNvPicPr>
            <a:picLocks noChangeAspect="1"/>
          </p:cNvPicPr>
          <p:nvPr/>
        </p:nvPicPr>
        <p:blipFill>
          <a:blip r:embed="rId2"/>
          <a:stretch>
            <a:fillRect/>
          </a:stretch>
        </p:blipFill>
        <p:spPr>
          <a:xfrm>
            <a:off x="11189170" y="5938829"/>
            <a:ext cx="877900" cy="829128"/>
          </a:xfrm>
          <a:prstGeom prst="rect">
            <a:avLst/>
          </a:prstGeom>
        </p:spPr>
      </p:pic>
      <p:sp>
        <p:nvSpPr>
          <p:cNvPr id="4" name="Content Placeholder 3">
            <a:extLst>
              <a:ext uri="{FF2B5EF4-FFF2-40B4-BE49-F238E27FC236}">
                <a16:creationId xmlns:a16="http://schemas.microsoft.com/office/drawing/2014/main" id="{85738FD7-4816-CB86-F904-322CCE19357F}"/>
              </a:ext>
            </a:extLst>
          </p:cNvPr>
          <p:cNvSpPr>
            <a:spLocks noGrp="1"/>
          </p:cNvSpPr>
          <p:nvPr>
            <p:ph idx="1"/>
          </p:nvPr>
        </p:nvSpPr>
        <p:spPr>
          <a:xfrm>
            <a:off x="3280095" y="2034329"/>
            <a:ext cx="8716161" cy="4142633"/>
          </a:xfrm>
        </p:spPr>
        <p:txBody>
          <a:bodyPr>
            <a:normAutofit/>
          </a:bodyPr>
          <a:lstStyle/>
          <a:p>
            <a:pPr marL="0" indent="0">
              <a:buNone/>
            </a:pPr>
            <a:endParaRPr lang="en-GB"/>
          </a:p>
          <a:p>
            <a:pPr marL="0" indent="0">
              <a:buNone/>
            </a:pPr>
            <a:r>
              <a:rPr lang="en-GB"/>
              <a:t>Fact check the document</a:t>
            </a:r>
          </a:p>
          <a:p>
            <a:pPr marL="0" indent="0">
              <a:buNone/>
            </a:pPr>
            <a:r>
              <a:rPr lang="en-GB"/>
              <a:t>Add any additional research</a:t>
            </a:r>
          </a:p>
          <a:p>
            <a:pPr marL="0" indent="0">
              <a:buNone/>
            </a:pPr>
            <a:r>
              <a:rPr lang="en-GB"/>
              <a:t>Generate a ‘new report’.</a:t>
            </a:r>
          </a:p>
          <a:p>
            <a:pPr marL="0" indent="0">
              <a:buNone/>
            </a:pPr>
            <a:r>
              <a:rPr lang="en-GB"/>
              <a:t>Run a quality control </a:t>
            </a:r>
          </a:p>
          <a:p>
            <a:pPr marL="0" indent="0">
              <a:buNone/>
            </a:pPr>
            <a:r>
              <a:rPr lang="en-GB"/>
              <a:t>Have an appendix that details changes from the original</a:t>
            </a:r>
          </a:p>
        </p:txBody>
      </p:sp>
      <p:sp>
        <p:nvSpPr>
          <p:cNvPr id="12" name="Title 1">
            <a:extLst>
              <a:ext uri="{FF2B5EF4-FFF2-40B4-BE49-F238E27FC236}">
                <a16:creationId xmlns:a16="http://schemas.microsoft.com/office/drawing/2014/main" id="{F63FBEFA-EDBD-79CE-EAE5-C4CFCF3292E5}"/>
              </a:ext>
            </a:extLst>
          </p:cNvPr>
          <p:cNvSpPr>
            <a:spLocks noGrp="1"/>
          </p:cNvSpPr>
          <p:nvPr>
            <p:ph type="title"/>
          </p:nvPr>
        </p:nvSpPr>
        <p:spPr>
          <a:xfrm>
            <a:off x="3410124" y="365125"/>
            <a:ext cx="7943675" cy="1325563"/>
          </a:xfrm>
        </p:spPr>
        <p:txBody>
          <a:bodyPr>
            <a:normAutofit fontScale="90000"/>
          </a:bodyPr>
          <a:lstStyle/>
          <a:p>
            <a:pPr algn="ctr"/>
            <a:r>
              <a:rPr lang="en-GB" sz="7200">
                <a:latin typeface="Aptos Black" panose="020B0004020202020204" pitchFamily="34" charset="0"/>
              </a:rPr>
              <a:t>Copilot top and tail</a:t>
            </a:r>
          </a:p>
        </p:txBody>
      </p:sp>
      <p:pic>
        <p:nvPicPr>
          <p:cNvPr id="15" name="Content Placeholder 4">
            <a:extLst>
              <a:ext uri="{FF2B5EF4-FFF2-40B4-BE49-F238E27FC236}">
                <a16:creationId xmlns:a16="http://schemas.microsoft.com/office/drawing/2014/main" id="{0E77DDB6-C19F-2382-5C3C-125E8EF99270}"/>
              </a:ext>
            </a:extLst>
          </p:cNvPr>
          <p:cNvPicPr>
            <a:picLocks noChangeAspect="1"/>
          </p:cNvPicPr>
          <p:nvPr/>
        </p:nvPicPr>
        <p:blipFill>
          <a:blip r:embed="rId3"/>
          <a:stretch>
            <a:fillRect/>
          </a:stretch>
        </p:blipFill>
        <p:spPr>
          <a:xfrm>
            <a:off x="465588" y="743188"/>
            <a:ext cx="2307543" cy="2307543"/>
          </a:xfrm>
          <a:prstGeom prst="rect">
            <a:avLst/>
          </a:prstGeom>
        </p:spPr>
      </p:pic>
      <p:pic>
        <p:nvPicPr>
          <p:cNvPr id="9" name="Picture 8">
            <a:extLst>
              <a:ext uri="{FF2B5EF4-FFF2-40B4-BE49-F238E27FC236}">
                <a16:creationId xmlns:a16="http://schemas.microsoft.com/office/drawing/2014/main" id="{195D766B-71C0-5786-AC29-1194B4A7EC41}"/>
              </a:ext>
            </a:extLst>
          </p:cNvPr>
          <p:cNvPicPr>
            <a:picLocks noChangeAspect="1"/>
          </p:cNvPicPr>
          <p:nvPr/>
        </p:nvPicPr>
        <p:blipFill>
          <a:blip r:embed="rId4"/>
          <a:stretch>
            <a:fillRect/>
          </a:stretch>
        </p:blipFill>
        <p:spPr>
          <a:xfrm>
            <a:off x="398476" y="5296127"/>
            <a:ext cx="2456612" cy="555194"/>
          </a:xfrm>
          <a:prstGeom prst="rect">
            <a:avLst/>
          </a:prstGeom>
        </p:spPr>
      </p:pic>
    </p:spTree>
    <p:extLst>
      <p:ext uri="{BB962C8B-B14F-4D97-AF65-F5344CB8AC3E}">
        <p14:creationId xmlns:p14="http://schemas.microsoft.com/office/powerpoint/2010/main" val="709968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FC0BB1-7555-7A43-E45F-6CF3340B361E}"/>
              </a:ext>
            </a:extLst>
          </p:cNvPr>
          <p:cNvSpPr>
            <a:spLocks noGrp="1"/>
          </p:cNvSpPr>
          <p:nvPr>
            <p:ph idx="1"/>
          </p:nvPr>
        </p:nvSpPr>
        <p:spPr>
          <a:xfrm>
            <a:off x="3330428" y="1589714"/>
            <a:ext cx="8762302" cy="5033394"/>
          </a:xfrm>
        </p:spPr>
        <p:txBody>
          <a:bodyPr>
            <a:normAutofit/>
          </a:bodyPr>
          <a:lstStyle/>
          <a:p>
            <a:pPr marL="0" indent="0">
              <a:buNone/>
            </a:pPr>
            <a:r>
              <a:rPr lang="en-GB"/>
              <a:t>When generating material for broachers or online teaching it’s handy to have consistent imagery.</a:t>
            </a:r>
          </a:p>
          <a:p>
            <a:pPr marL="0" indent="0">
              <a:buNone/>
            </a:pPr>
            <a:endParaRPr lang="en-GB"/>
          </a:p>
          <a:p>
            <a:pPr marL="0" indent="0">
              <a:buNone/>
            </a:pPr>
            <a:r>
              <a:rPr lang="en-GB" b="1"/>
              <a:t>Reverse engineering: </a:t>
            </a:r>
            <a:r>
              <a:rPr lang="en-GB"/>
              <a:t>Turn an existing source into a prompt that recreates its style, structure or content.</a:t>
            </a:r>
          </a:p>
          <a:p>
            <a:pPr marL="0" indent="0">
              <a:buNone/>
            </a:pPr>
            <a:r>
              <a:rPr lang="en-GB" b="1"/>
              <a:t>Style guide: </a:t>
            </a:r>
            <a:r>
              <a:rPr lang="en-GB"/>
              <a:t>Set rules and guidelines to keep your content generation consistent.</a:t>
            </a:r>
          </a:p>
          <a:p>
            <a:pPr marL="0" indent="0">
              <a:buNone/>
            </a:pPr>
            <a:r>
              <a:rPr lang="en-GB" b="1"/>
              <a:t>Accessibility audit: </a:t>
            </a:r>
            <a:r>
              <a:rPr lang="en-GB"/>
              <a:t>Does your description really match the image?</a:t>
            </a:r>
          </a:p>
          <a:p>
            <a:pPr marL="0" indent="0">
              <a:buNone/>
            </a:pPr>
            <a:r>
              <a:rPr lang="en-GB" b="1"/>
              <a:t>Not being negative: </a:t>
            </a:r>
            <a:r>
              <a:rPr lang="en-GB"/>
              <a:t>using the right terms for the image you want</a:t>
            </a:r>
          </a:p>
          <a:p>
            <a:pPr marL="0" indent="0">
              <a:buNone/>
            </a:pPr>
            <a:endParaRPr lang="en-GB"/>
          </a:p>
        </p:txBody>
      </p:sp>
      <p:sp>
        <p:nvSpPr>
          <p:cNvPr id="4" name="Title 1">
            <a:extLst>
              <a:ext uri="{FF2B5EF4-FFF2-40B4-BE49-F238E27FC236}">
                <a16:creationId xmlns:a16="http://schemas.microsoft.com/office/drawing/2014/main" id="{B2F1B95E-3CC9-0EA7-2139-57735E1F01B3}"/>
              </a:ext>
            </a:extLst>
          </p:cNvPr>
          <p:cNvSpPr>
            <a:spLocks noGrp="1"/>
          </p:cNvSpPr>
          <p:nvPr>
            <p:ph type="title"/>
          </p:nvPr>
        </p:nvSpPr>
        <p:spPr>
          <a:xfrm>
            <a:off x="3330429" y="365125"/>
            <a:ext cx="8023370" cy="1325563"/>
          </a:xfrm>
        </p:spPr>
        <p:txBody>
          <a:bodyPr>
            <a:normAutofit/>
          </a:bodyPr>
          <a:lstStyle/>
          <a:p>
            <a:r>
              <a:rPr lang="en-GB" sz="7200">
                <a:latin typeface="Aptos Black" panose="020B0004020202020204" pitchFamily="34" charset="0"/>
              </a:rPr>
              <a:t>Image Generation</a:t>
            </a:r>
          </a:p>
        </p:txBody>
      </p:sp>
      <p:sp>
        <p:nvSpPr>
          <p:cNvPr id="6" name="Rectangle: Rounded Corners 5">
            <a:extLst>
              <a:ext uri="{FF2B5EF4-FFF2-40B4-BE49-F238E27FC236}">
                <a16:creationId xmlns:a16="http://schemas.microsoft.com/office/drawing/2014/main" id="{052DAF98-FB1D-65BC-37FE-8C39A3765C1F}"/>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endParaRPr lang="en-GB">
              <a:solidFill>
                <a:schemeClr val="bg1"/>
              </a:solidFill>
            </a:endParaRPr>
          </a:p>
          <a:p>
            <a:endParaRPr lang="en-GB">
              <a:solidFill>
                <a:schemeClr val="bg1"/>
              </a:solidFill>
            </a:endParaRPr>
          </a:p>
          <a:p>
            <a:endParaRPr lang="en-GB">
              <a:solidFill>
                <a:schemeClr val="bg1"/>
              </a:solidFill>
            </a:endParaRPr>
          </a:p>
          <a:p>
            <a:endParaRPr lang="en-GB">
              <a:solidFill>
                <a:schemeClr val="bg1"/>
              </a:solidFill>
            </a:endParaRPr>
          </a:p>
          <a:p>
            <a:endParaRPr lang="en-GB">
              <a:solidFill>
                <a:schemeClr val="bg1"/>
              </a:solidFill>
            </a:endParaRPr>
          </a:p>
          <a:p>
            <a:endParaRPr lang="en-GB">
              <a:solidFill>
                <a:schemeClr val="bg1"/>
              </a:solidFill>
            </a:endParaRPr>
          </a:p>
          <a:p>
            <a:endParaRPr lang="en-GB">
              <a:solidFill>
                <a:schemeClr val="bg1"/>
              </a:solidFill>
            </a:endParaRPr>
          </a:p>
          <a:p>
            <a:endParaRPr lang="en-GB">
              <a:solidFill>
                <a:schemeClr val="bg1"/>
              </a:solidFill>
            </a:endParaRPr>
          </a:p>
          <a:p>
            <a:endParaRPr lang="en-GB">
              <a:solidFill>
                <a:schemeClr val="bg1"/>
              </a:solidFill>
            </a:endParaRPr>
          </a:p>
          <a:p>
            <a:endParaRPr lang="en-GB">
              <a:solidFill>
                <a:schemeClr val="bg1"/>
              </a:solidFill>
            </a:endParaRPr>
          </a:p>
          <a:p>
            <a:endParaRPr lang="en-GB">
              <a:solidFill>
                <a:schemeClr val="bg1"/>
              </a:solidFill>
            </a:endParaRPr>
          </a:p>
          <a:p>
            <a:endParaRPr lang="en-GB">
              <a:solidFill>
                <a:schemeClr val="bg1"/>
              </a:solidFill>
            </a:endParaRPr>
          </a:p>
          <a:p>
            <a:endParaRPr lang="en-GB">
              <a:solidFill>
                <a:schemeClr val="bg1"/>
              </a:solidFill>
            </a:endParaRPr>
          </a:p>
          <a:p>
            <a:endParaRPr lang="en-GB">
              <a:solidFill>
                <a:schemeClr val="bg1"/>
              </a:solidFill>
            </a:endParaRPr>
          </a:p>
          <a:p>
            <a:endParaRPr lang="en-GB">
              <a:solidFill>
                <a:schemeClr val="bg1"/>
              </a:solidFill>
            </a:endParaRPr>
          </a:p>
          <a:p>
            <a:endParaRPr lang="en-GB">
              <a:solidFill>
                <a:schemeClr val="bg1"/>
              </a:solidFill>
            </a:endParaRPr>
          </a:p>
          <a:p>
            <a:endParaRPr lang="en-GB">
              <a:solidFill>
                <a:schemeClr val="bg1"/>
              </a:solidFill>
            </a:endParaRPr>
          </a:p>
          <a:p>
            <a:endParaRPr lang="en-GB">
              <a:solidFill>
                <a:schemeClr val="bg1"/>
              </a:solidFill>
            </a:endParaRPr>
          </a:p>
          <a:p>
            <a:r>
              <a:rPr lang="en-GB">
                <a:solidFill>
                  <a:schemeClr val="bg1"/>
                </a:solidFill>
              </a:rPr>
              <a:t>NB: Using copilot for the exercises but these tips are model agnostic</a:t>
            </a:r>
          </a:p>
        </p:txBody>
      </p:sp>
      <p:pic>
        <p:nvPicPr>
          <p:cNvPr id="7" name="Content Placeholder 5">
            <a:extLst>
              <a:ext uri="{FF2B5EF4-FFF2-40B4-BE49-F238E27FC236}">
                <a16:creationId xmlns:a16="http://schemas.microsoft.com/office/drawing/2014/main" id="{8D4B7467-A11E-C874-9B2A-DE918561EE34}"/>
              </a:ext>
            </a:extLst>
          </p:cNvPr>
          <p:cNvPicPr>
            <a:picLocks noChangeAspect="1"/>
          </p:cNvPicPr>
          <p:nvPr/>
        </p:nvPicPr>
        <p:blipFill>
          <a:blip r:embed="rId2"/>
          <a:stretch>
            <a:fillRect/>
          </a:stretch>
        </p:blipFill>
        <p:spPr>
          <a:xfrm>
            <a:off x="533037" y="1643489"/>
            <a:ext cx="2363995" cy="3585646"/>
          </a:xfrm>
          <a:prstGeom prst="rect">
            <a:avLst/>
          </a:prstGeom>
        </p:spPr>
      </p:pic>
      <p:sp>
        <p:nvSpPr>
          <p:cNvPr id="11" name="Rectangle: Rounded Corners 10">
            <a:extLst>
              <a:ext uri="{FF2B5EF4-FFF2-40B4-BE49-F238E27FC236}">
                <a16:creationId xmlns:a16="http://schemas.microsoft.com/office/drawing/2014/main" id="{4F020AFC-F3CF-A9D3-556F-64575A8B22A9}"/>
              </a:ext>
            </a:extLst>
          </p:cNvPr>
          <p:cNvSpPr/>
          <p:nvPr/>
        </p:nvSpPr>
        <p:spPr>
          <a:xfrm>
            <a:off x="360726" y="759406"/>
            <a:ext cx="2650922" cy="7744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Picture 12">
            <a:extLst>
              <a:ext uri="{FF2B5EF4-FFF2-40B4-BE49-F238E27FC236}">
                <a16:creationId xmlns:a16="http://schemas.microsoft.com/office/drawing/2014/main" id="{70257994-1233-9862-6F56-D43FE23A9E34}"/>
              </a:ext>
            </a:extLst>
          </p:cNvPr>
          <p:cNvPicPr>
            <a:picLocks noChangeAspect="1"/>
          </p:cNvPicPr>
          <p:nvPr/>
        </p:nvPicPr>
        <p:blipFill>
          <a:blip r:embed="rId3"/>
          <a:stretch>
            <a:fillRect/>
          </a:stretch>
        </p:blipFill>
        <p:spPr>
          <a:xfrm>
            <a:off x="360726" y="869036"/>
            <a:ext cx="2456612" cy="555194"/>
          </a:xfrm>
          <a:prstGeom prst="rect">
            <a:avLst/>
          </a:prstGeom>
        </p:spPr>
      </p:pic>
    </p:spTree>
    <p:extLst>
      <p:ext uri="{BB962C8B-B14F-4D97-AF65-F5344CB8AC3E}">
        <p14:creationId xmlns:p14="http://schemas.microsoft.com/office/powerpoint/2010/main" val="3505138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AC87-E795-6417-6C1C-278C8B7C3398}"/>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2040C8B-4F54-3AB2-8692-06DA63EB5914}"/>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Rounded Corners 9">
            <a:extLst>
              <a:ext uri="{FF2B5EF4-FFF2-40B4-BE49-F238E27FC236}">
                <a16:creationId xmlns:a16="http://schemas.microsoft.com/office/drawing/2014/main" id="{10BCE613-5F20-1108-2A43-E5CB7A4AC8CF}"/>
              </a:ext>
            </a:extLst>
          </p:cNvPr>
          <p:cNvSpPr/>
          <p:nvPr/>
        </p:nvSpPr>
        <p:spPr>
          <a:xfrm>
            <a:off x="398476" y="5164375"/>
            <a:ext cx="2650922" cy="7744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257D2E44-3C72-98BB-C8A8-393541F9D862}"/>
              </a:ext>
            </a:extLst>
          </p:cNvPr>
          <p:cNvPicPr>
            <a:picLocks noChangeAspect="1"/>
          </p:cNvPicPr>
          <p:nvPr/>
        </p:nvPicPr>
        <p:blipFill>
          <a:blip r:embed="rId3"/>
          <a:stretch>
            <a:fillRect/>
          </a:stretch>
        </p:blipFill>
        <p:spPr>
          <a:xfrm>
            <a:off x="11189170" y="5938829"/>
            <a:ext cx="877900" cy="829128"/>
          </a:xfrm>
          <a:prstGeom prst="rect">
            <a:avLst/>
          </a:prstGeom>
        </p:spPr>
      </p:pic>
      <p:sp>
        <p:nvSpPr>
          <p:cNvPr id="4" name="Content Placeholder 3">
            <a:extLst>
              <a:ext uri="{FF2B5EF4-FFF2-40B4-BE49-F238E27FC236}">
                <a16:creationId xmlns:a16="http://schemas.microsoft.com/office/drawing/2014/main" id="{F38FCF48-D33F-A307-C1DC-50A7CBBC25A2}"/>
              </a:ext>
            </a:extLst>
          </p:cNvPr>
          <p:cNvSpPr>
            <a:spLocks noGrp="1"/>
          </p:cNvSpPr>
          <p:nvPr>
            <p:ph idx="1"/>
          </p:nvPr>
        </p:nvSpPr>
        <p:spPr>
          <a:xfrm>
            <a:off x="7662672" y="1847089"/>
            <a:ext cx="4404398" cy="4920868"/>
          </a:xfrm>
        </p:spPr>
        <p:txBody>
          <a:bodyPr>
            <a:normAutofit/>
          </a:bodyPr>
          <a:lstStyle/>
          <a:p>
            <a:pPr marL="0" indent="0">
              <a:buNone/>
            </a:pPr>
            <a:r>
              <a:rPr lang="en-GB"/>
              <a:t>"Describe this image as a </a:t>
            </a:r>
            <a:r>
              <a:rPr lang="en-GB" b="1"/>
              <a:t>generation prompt</a:t>
            </a:r>
            <a:r>
              <a:rPr lang="en-GB"/>
              <a:t>. Break it into </a:t>
            </a:r>
            <a:r>
              <a:rPr lang="en-GB" b="1"/>
              <a:t>subject, composition, camera or perspective, lighting, colour palette, illustration style, and mood. </a:t>
            </a:r>
            <a:r>
              <a:rPr lang="en-GB"/>
              <a:t>Then give me a reusable template version with the subject left as a placeholder."</a:t>
            </a:r>
          </a:p>
        </p:txBody>
      </p:sp>
      <p:sp>
        <p:nvSpPr>
          <p:cNvPr id="12" name="Title 1">
            <a:extLst>
              <a:ext uri="{FF2B5EF4-FFF2-40B4-BE49-F238E27FC236}">
                <a16:creationId xmlns:a16="http://schemas.microsoft.com/office/drawing/2014/main" id="{64D6649E-17F8-69F7-5151-19B4155BF6D0}"/>
              </a:ext>
            </a:extLst>
          </p:cNvPr>
          <p:cNvSpPr>
            <a:spLocks noGrp="1"/>
          </p:cNvSpPr>
          <p:nvPr>
            <p:ph type="title"/>
          </p:nvPr>
        </p:nvSpPr>
        <p:spPr>
          <a:xfrm>
            <a:off x="3343012" y="365125"/>
            <a:ext cx="8724058" cy="1325563"/>
          </a:xfrm>
        </p:spPr>
        <p:txBody>
          <a:bodyPr>
            <a:normAutofit fontScale="90000"/>
          </a:bodyPr>
          <a:lstStyle/>
          <a:p>
            <a:r>
              <a:rPr lang="en-GB" sz="7200">
                <a:latin typeface="Aptos Black" panose="020B0004020202020204" pitchFamily="34" charset="0"/>
              </a:rPr>
              <a:t>Reverse engineering</a:t>
            </a:r>
            <a:endParaRPr lang="en-GB" sz="7200">
              <a:latin typeface="Aptos Black"/>
            </a:endParaRPr>
          </a:p>
        </p:txBody>
      </p:sp>
      <p:pic>
        <p:nvPicPr>
          <p:cNvPr id="15" name="Content Placeholder 4">
            <a:extLst>
              <a:ext uri="{FF2B5EF4-FFF2-40B4-BE49-F238E27FC236}">
                <a16:creationId xmlns:a16="http://schemas.microsoft.com/office/drawing/2014/main" id="{65E331F5-4EAA-6202-A4B7-2EA4732C8553}"/>
              </a:ext>
            </a:extLst>
          </p:cNvPr>
          <p:cNvPicPr>
            <a:picLocks noChangeAspect="1"/>
          </p:cNvPicPr>
          <p:nvPr/>
        </p:nvPicPr>
        <p:blipFill>
          <a:blip r:embed="rId4"/>
          <a:stretch>
            <a:fillRect/>
          </a:stretch>
        </p:blipFill>
        <p:spPr>
          <a:xfrm>
            <a:off x="465588" y="743188"/>
            <a:ext cx="2307543" cy="2307543"/>
          </a:xfrm>
          <a:prstGeom prst="rect">
            <a:avLst/>
          </a:prstGeom>
        </p:spPr>
      </p:pic>
      <p:pic>
        <p:nvPicPr>
          <p:cNvPr id="9" name="Picture 8">
            <a:extLst>
              <a:ext uri="{FF2B5EF4-FFF2-40B4-BE49-F238E27FC236}">
                <a16:creationId xmlns:a16="http://schemas.microsoft.com/office/drawing/2014/main" id="{8329BD2D-D666-1C2D-FBE5-930BC86E2E72}"/>
              </a:ext>
            </a:extLst>
          </p:cNvPr>
          <p:cNvPicPr>
            <a:picLocks noChangeAspect="1"/>
          </p:cNvPicPr>
          <p:nvPr/>
        </p:nvPicPr>
        <p:blipFill>
          <a:blip r:embed="rId5"/>
          <a:stretch>
            <a:fillRect/>
          </a:stretch>
        </p:blipFill>
        <p:spPr>
          <a:xfrm>
            <a:off x="398476" y="5296127"/>
            <a:ext cx="2456612" cy="555194"/>
          </a:xfrm>
          <a:prstGeom prst="rect">
            <a:avLst/>
          </a:prstGeom>
        </p:spPr>
      </p:pic>
      <p:pic>
        <p:nvPicPr>
          <p:cNvPr id="5" name="Picture 4">
            <a:extLst>
              <a:ext uri="{FF2B5EF4-FFF2-40B4-BE49-F238E27FC236}">
                <a16:creationId xmlns:a16="http://schemas.microsoft.com/office/drawing/2014/main" id="{3BC29DF7-A792-671F-90B4-0EAA24CC6FA0}"/>
              </a:ext>
            </a:extLst>
          </p:cNvPr>
          <p:cNvPicPr>
            <a:picLocks noChangeAspect="1"/>
          </p:cNvPicPr>
          <p:nvPr/>
        </p:nvPicPr>
        <p:blipFill>
          <a:blip r:embed="rId6"/>
          <a:stretch>
            <a:fillRect/>
          </a:stretch>
        </p:blipFill>
        <p:spPr>
          <a:xfrm>
            <a:off x="3297276" y="2334692"/>
            <a:ext cx="4247950" cy="2829683"/>
          </a:xfrm>
          <a:prstGeom prst="rect">
            <a:avLst/>
          </a:prstGeom>
        </p:spPr>
      </p:pic>
      <p:sp>
        <p:nvSpPr>
          <p:cNvPr id="6" name="TextBox 5">
            <a:extLst>
              <a:ext uri="{FF2B5EF4-FFF2-40B4-BE49-F238E27FC236}">
                <a16:creationId xmlns:a16="http://schemas.microsoft.com/office/drawing/2014/main" id="{DE9ABBCF-AF44-F6DA-974B-39E3F42CA64A}"/>
              </a:ext>
            </a:extLst>
          </p:cNvPr>
          <p:cNvSpPr txBox="1"/>
          <p:nvPr/>
        </p:nvSpPr>
        <p:spPr>
          <a:xfrm>
            <a:off x="398476" y="3182483"/>
            <a:ext cx="2650922" cy="1569660"/>
          </a:xfrm>
          <a:prstGeom prst="rect">
            <a:avLst/>
          </a:prstGeom>
          <a:noFill/>
        </p:spPr>
        <p:txBody>
          <a:bodyPr wrap="square" rtlCol="0">
            <a:spAutoFit/>
          </a:bodyPr>
          <a:lstStyle/>
          <a:p>
            <a:r>
              <a:rPr lang="en-GB" sz="2400">
                <a:solidFill>
                  <a:schemeClr val="bg1"/>
                </a:solidFill>
              </a:rPr>
              <a:t>NB: Using copilot for the exercises but these tips are model agnostic</a:t>
            </a:r>
          </a:p>
        </p:txBody>
      </p:sp>
    </p:spTree>
    <p:extLst>
      <p:ext uri="{BB962C8B-B14F-4D97-AF65-F5344CB8AC3E}">
        <p14:creationId xmlns:p14="http://schemas.microsoft.com/office/powerpoint/2010/main" val="3577610221"/>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B3E75-354C-4425-C6B6-A644F8059902}"/>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FFBC876-A5B6-CFFE-687E-C07793160E17}"/>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Rounded Corners 9">
            <a:extLst>
              <a:ext uri="{FF2B5EF4-FFF2-40B4-BE49-F238E27FC236}">
                <a16:creationId xmlns:a16="http://schemas.microsoft.com/office/drawing/2014/main" id="{88D00EFD-A2DF-985A-294B-55AA6A2D0AB8}"/>
              </a:ext>
            </a:extLst>
          </p:cNvPr>
          <p:cNvSpPr/>
          <p:nvPr/>
        </p:nvSpPr>
        <p:spPr>
          <a:xfrm>
            <a:off x="398476" y="5164375"/>
            <a:ext cx="2650922" cy="7744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F72FC596-749A-44A2-9EAE-467CADAD6022}"/>
              </a:ext>
            </a:extLst>
          </p:cNvPr>
          <p:cNvPicPr>
            <a:picLocks noChangeAspect="1"/>
          </p:cNvPicPr>
          <p:nvPr/>
        </p:nvPicPr>
        <p:blipFill>
          <a:blip r:embed="rId3"/>
          <a:stretch>
            <a:fillRect/>
          </a:stretch>
        </p:blipFill>
        <p:spPr>
          <a:xfrm>
            <a:off x="11189170" y="5938829"/>
            <a:ext cx="877900" cy="829128"/>
          </a:xfrm>
          <a:prstGeom prst="rect">
            <a:avLst/>
          </a:prstGeom>
        </p:spPr>
      </p:pic>
      <p:sp>
        <p:nvSpPr>
          <p:cNvPr id="4" name="Content Placeholder 3">
            <a:extLst>
              <a:ext uri="{FF2B5EF4-FFF2-40B4-BE49-F238E27FC236}">
                <a16:creationId xmlns:a16="http://schemas.microsoft.com/office/drawing/2014/main" id="{415F7E79-2636-D32D-7BBD-1048F2912CB8}"/>
              </a:ext>
            </a:extLst>
          </p:cNvPr>
          <p:cNvSpPr>
            <a:spLocks noGrp="1"/>
          </p:cNvSpPr>
          <p:nvPr>
            <p:ph idx="1"/>
          </p:nvPr>
        </p:nvSpPr>
        <p:spPr>
          <a:xfrm>
            <a:off x="3343012" y="1847089"/>
            <a:ext cx="8724058" cy="4920868"/>
          </a:xfrm>
        </p:spPr>
        <p:txBody>
          <a:bodyPr>
            <a:normAutofit/>
          </a:bodyPr>
          <a:lstStyle/>
          <a:p>
            <a:pPr marL="0" indent="0">
              <a:buNone/>
            </a:pPr>
            <a:endParaRPr lang="en-GB"/>
          </a:p>
          <a:p>
            <a:pPr marL="0" indent="0">
              <a:buNone/>
            </a:pPr>
            <a:r>
              <a:rPr lang="en-GB"/>
              <a:t>Ask Copilot to write you a reusable style block: a fixed paragraph specifying palette, line weight, perspective, background treatment and character description. Then generate every asset with that block pasted at the top and only the subject line changing. Where the tool supports it, feed a previously generated image back in as a visual reference to lock the look.</a:t>
            </a:r>
          </a:p>
        </p:txBody>
      </p:sp>
      <p:sp>
        <p:nvSpPr>
          <p:cNvPr id="12" name="Title 1">
            <a:extLst>
              <a:ext uri="{FF2B5EF4-FFF2-40B4-BE49-F238E27FC236}">
                <a16:creationId xmlns:a16="http://schemas.microsoft.com/office/drawing/2014/main" id="{2054E6E1-C965-647C-3D6A-ED7E1BC55436}"/>
              </a:ext>
            </a:extLst>
          </p:cNvPr>
          <p:cNvSpPr>
            <a:spLocks noGrp="1"/>
          </p:cNvSpPr>
          <p:nvPr>
            <p:ph type="title"/>
          </p:nvPr>
        </p:nvSpPr>
        <p:spPr>
          <a:xfrm>
            <a:off x="3343012" y="365125"/>
            <a:ext cx="8724058" cy="1325563"/>
          </a:xfrm>
        </p:spPr>
        <p:txBody>
          <a:bodyPr>
            <a:normAutofit/>
          </a:bodyPr>
          <a:lstStyle/>
          <a:p>
            <a:r>
              <a:rPr lang="en-GB" sz="7200">
                <a:latin typeface="Aptos Black" panose="020B0004020202020204" pitchFamily="34" charset="0"/>
              </a:rPr>
              <a:t>Style guide</a:t>
            </a:r>
          </a:p>
        </p:txBody>
      </p:sp>
      <p:pic>
        <p:nvPicPr>
          <p:cNvPr id="15" name="Content Placeholder 4">
            <a:extLst>
              <a:ext uri="{FF2B5EF4-FFF2-40B4-BE49-F238E27FC236}">
                <a16:creationId xmlns:a16="http://schemas.microsoft.com/office/drawing/2014/main" id="{5DF3D699-7676-B9A0-A695-28268A8E43CA}"/>
              </a:ext>
            </a:extLst>
          </p:cNvPr>
          <p:cNvPicPr>
            <a:picLocks noChangeAspect="1"/>
          </p:cNvPicPr>
          <p:nvPr/>
        </p:nvPicPr>
        <p:blipFill>
          <a:blip r:embed="rId4"/>
          <a:stretch>
            <a:fillRect/>
          </a:stretch>
        </p:blipFill>
        <p:spPr>
          <a:xfrm>
            <a:off x="465588" y="743188"/>
            <a:ext cx="2307543" cy="2307543"/>
          </a:xfrm>
          <a:prstGeom prst="rect">
            <a:avLst/>
          </a:prstGeom>
        </p:spPr>
      </p:pic>
      <p:pic>
        <p:nvPicPr>
          <p:cNvPr id="9" name="Picture 8">
            <a:extLst>
              <a:ext uri="{FF2B5EF4-FFF2-40B4-BE49-F238E27FC236}">
                <a16:creationId xmlns:a16="http://schemas.microsoft.com/office/drawing/2014/main" id="{5F0BE251-370D-921A-2449-7AB3262768F3}"/>
              </a:ext>
            </a:extLst>
          </p:cNvPr>
          <p:cNvPicPr>
            <a:picLocks noChangeAspect="1"/>
          </p:cNvPicPr>
          <p:nvPr/>
        </p:nvPicPr>
        <p:blipFill>
          <a:blip r:embed="rId5"/>
          <a:stretch>
            <a:fillRect/>
          </a:stretch>
        </p:blipFill>
        <p:spPr>
          <a:xfrm>
            <a:off x="398476" y="5296127"/>
            <a:ext cx="2456612" cy="555194"/>
          </a:xfrm>
          <a:prstGeom prst="rect">
            <a:avLst/>
          </a:prstGeom>
        </p:spPr>
      </p:pic>
      <p:sp>
        <p:nvSpPr>
          <p:cNvPr id="6" name="TextBox 5">
            <a:extLst>
              <a:ext uri="{FF2B5EF4-FFF2-40B4-BE49-F238E27FC236}">
                <a16:creationId xmlns:a16="http://schemas.microsoft.com/office/drawing/2014/main" id="{572CB016-E742-8041-03C3-944AF4A7E14D}"/>
              </a:ext>
            </a:extLst>
          </p:cNvPr>
          <p:cNvSpPr txBox="1"/>
          <p:nvPr/>
        </p:nvSpPr>
        <p:spPr>
          <a:xfrm>
            <a:off x="398476" y="3182483"/>
            <a:ext cx="2650922" cy="1569660"/>
          </a:xfrm>
          <a:prstGeom prst="rect">
            <a:avLst/>
          </a:prstGeom>
          <a:noFill/>
        </p:spPr>
        <p:txBody>
          <a:bodyPr wrap="square" rtlCol="0">
            <a:spAutoFit/>
          </a:bodyPr>
          <a:lstStyle/>
          <a:p>
            <a:r>
              <a:rPr lang="en-GB" sz="2400">
                <a:solidFill>
                  <a:schemeClr val="bg1"/>
                </a:solidFill>
              </a:rPr>
              <a:t>NB: Using copilot for the exercises but these tips are model agnostic</a:t>
            </a:r>
          </a:p>
        </p:txBody>
      </p:sp>
    </p:spTree>
    <p:extLst>
      <p:ext uri="{BB962C8B-B14F-4D97-AF65-F5344CB8AC3E}">
        <p14:creationId xmlns:p14="http://schemas.microsoft.com/office/powerpoint/2010/main" val="4286862909"/>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28FA6-062B-4696-B761-19A78769FF87}"/>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7B6CA4C9-4C66-47C6-6205-47899216ABAD}"/>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Rounded Corners 9">
            <a:extLst>
              <a:ext uri="{FF2B5EF4-FFF2-40B4-BE49-F238E27FC236}">
                <a16:creationId xmlns:a16="http://schemas.microsoft.com/office/drawing/2014/main" id="{28B16791-A98A-4936-DB52-29DEF058FE4C}"/>
              </a:ext>
            </a:extLst>
          </p:cNvPr>
          <p:cNvSpPr/>
          <p:nvPr/>
        </p:nvSpPr>
        <p:spPr>
          <a:xfrm>
            <a:off x="398476" y="5164375"/>
            <a:ext cx="2650922" cy="7744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DF719527-4893-D018-5FED-B375EC8F098B}"/>
              </a:ext>
            </a:extLst>
          </p:cNvPr>
          <p:cNvPicPr>
            <a:picLocks noChangeAspect="1"/>
          </p:cNvPicPr>
          <p:nvPr/>
        </p:nvPicPr>
        <p:blipFill>
          <a:blip r:embed="rId2"/>
          <a:stretch>
            <a:fillRect/>
          </a:stretch>
        </p:blipFill>
        <p:spPr>
          <a:xfrm>
            <a:off x="11189170" y="5938829"/>
            <a:ext cx="877900" cy="829128"/>
          </a:xfrm>
          <a:prstGeom prst="rect">
            <a:avLst/>
          </a:prstGeom>
        </p:spPr>
      </p:pic>
      <p:sp>
        <p:nvSpPr>
          <p:cNvPr id="4" name="Content Placeholder 3">
            <a:extLst>
              <a:ext uri="{FF2B5EF4-FFF2-40B4-BE49-F238E27FC236}">
                <a16:creationId xmlns:a16="http://schemas.microsoft.com/office/drawing/2014/main" id="{8904C3E4-DC8C-01A7-16F8-8E85262248A3}"/>
              </a:ext>
            </a:extLst>
          </p:cNvPr>
          <p:cNvSpPr>
            <a:spLocks noGrp="1"/>
          </p:cNvSpPr>
          <p:nvPr>
            <p:ph idx="1"/>
          </p:nvPr>
        </p:nvSpPr>
        <p:spPr>
          <a:xfrm>
            <a:off x="3225566" y="1581912"/>
            <a:ext cx="8841504" cy="5186045"/>
          </a:xfrm>
        </p:spPr>
        <p:txBody>
          <a:bodyPr>
            <a:normAutofit lnSpcReduction="10000"/>
          </a:bodyPr>
          <a:lstStyle/>
          <a:p>
            <a:pPr marL="0" indent="0">
              <a:buNone/>
            </a:pPr>
            <a:r>
              <a:rPr lang="en-GB"/>
              <a:t>Generate an image, then open a new Copilot chat, upload your image, and ask:</a:t>
            </a:r>
          </a:p>
          <a:p>
            <a:pPr marL="0" indent="0">
              <a:buNone/>
            </a:pPr>
            <a:endParaRPr lang="en-GB"/>
          </a:p>
          <a:p>
            <a:pPr marL="0" indent="0">
              <a:buNone/>
            </a:pPr>
            <a:r>
              <a:rPr lang="en-GB" b="1"/>
              <a:t>"Describe this image for someone who cannot see it. What is the main message? What might be ambiguous or misleading?“</a:t>
            </a:r>
          </a:p>
          <a:p>
            <a:pPr marL="0" indent="0">
              <a:buNone/>
            </a:pPr>
            <a:endParaRPr lang="en-GB" b="1"/>
          </a:p>
          <a:p>
            <a:pPr marL="0" indent="0">
              <a:buNone/>
            </a:pPr>
            <a:r>
              <a:rPr lang="en-GB"/>
              <a:t>If the description does not match what you intended, the image has </a:t>
            </a:r>
            <a:r>
              <a:rPr lang="en-GB" b="1"/>
              <a:t>failed</a:t>
            </a:r>
            <a:r>
              <a:rPr lang="en-GB"/>
              <a:t>, and it would have failed for a screen reader user too. </a:t>
            </a:r>
          </a:p>
          <a:p>
            <a:pPr marL="0" indent="0">
              <a:buNone/>
            </a:pPr>
            <a:endParaRPr lang="en-GB"/>
          </a:p>
          <a:p>
            <a:pPr marL="0" indent="0">
              <a:buNone/>
            </a:pPr>
            <a:r>
              <a:rPr lang="en-GB" b="1">
                <a:solidFill>
                  <a:srgbClr val="FF0000"/>
                </a:solidFill>
              </a:rPr>
              <a:t>And a handy way of starting a new image prompt</a:t>
            </a:r>
          </a:p>
        </p:txBody>
      </p:sp>
      <p:sp>
        <p:nvSpPr>
          <p:cNvPr id="12" name="Title 1">
            <a:extLst>
              <a:ext uri="{FF2B5EF4-FFF2-40B4-BE49-F238E27FC236}">
                <a16:creationId xmlns:a16="http://schemas.microsoft.com/office/drawing/2014/main" id="{4FED00AB-D5F0-217E-3045-C4AAC1D4C14E}"/>
              </a:ext>
            </a:extLst>
          </p:cNvPr>
          <p:cNvSpPr>
            <a:spLocks noGrp="1"/>
          </p:cNvSpPr>
          <p:nvPr>
            <p:ph type="title"/>
          </p:nvPr>
        </p:nvSpPr>
        <p:spPr>
          <a:xfrm>
            <a:off x="3343012" y="365125"/>
            <a:ext cx="8724058" cy="1325563"/>
          </a:xfrm>
        </p:spPr>
        <p:txBody>
          <a:bodyPr>
            <a:normAutofit/>
          </a:bodyPr>
          <a:lstStyle/>
          <a:p>
            <a:r>
              <a:rPr lang="en-GB" sz="5400">
                <a:latin typeface="Aptos Black" panose="020B0004020202020204" pitchFamily="34" charset="0"/>
              </a:rPr>
              <a:t>Accessibility Audit</a:t>
            </a:r>
            <a:endParaRPr lang="en-GB" sz="9600">
              <a:latin typeface="Aptos Black" panose="020B0004020202020204" pitchFamily="34" charset="0"/>
            </a:endParaRPr>
          </a:p>
        </p:txBody>
      </p:sp>
      <p:pic>
        <p:nvPicPr>
          <p:cNvPr id="15" name="Content Placeholder 4">
            <a:extLst>
              <a:ext uri="{FF2B5EF4-FFF2-40B4-BE49-F238E27FC236}">
                <a16:creationId xmlns:a16="http://schemas.microsoft.com/office/drawing/2014/main" id="{792EFD9F-606D-8B78-475F-33DC76A928D0}"/>
              </a:ext>
            </a:extLst>
          </p:cNvPr>
          <p:cNvPicPr>
            <a:picLocks noChangeAspect="1"/>
          </p:cNvPicPr>
          <p:nvPr/>
        </p:nvPicPr>
        <p:blipFill>
          <a:blip r:embed="rId3"/>
          <a:stretch>
            <a:fillRect/>
          </a:stretch>
        </p:blipFill>
        <p:spPr>
          <a:xfrm>
            <a:off x="465588" y="743188"/>
            <a:ext cx="2307543" cy="2307543"/>
          </a:xfrm>
          <a:prstGeom prst="rect">
            <a:avLst/>
          </a:prstGeom>
        </p:spPr>
      </p:pic>
      <p:pic>
        <p:nvPicPr>
          <p:cNvPr id="9" name="Picture 8">
            <a:extLst>
              <a:ext uri="{FF2B5EF4-FFF2-40B4-BE49-F238E27FC236}">
                <a16:creationId xmlns:a16="http://schemas.microsoft.com/office/drawing/2014/main" id="{6B6D53EE-6F0D-DBB0-9915-952BD64602F1}"/>
              </a:ext>
            </a:extLst>
          </p:cNvPr>
          <p:cNvPicPr>
            <a:picLocks noChangeAspect="1"/>
          </p:cNvPicPr>
          <p:nvPr/>
        </p:nvPicPr>
        <p:blipFill>
          <a:blip r:embed="rId4"/>
          <a:stretch>
            <a:fillRect/>
          </a:stretch>
        </p:blipFill>
        <p:spPr>
          <a:xfrm>
            <a:off x="398476" y="5296127"/>
            <a:ext cx="2456612" cy="555194"/>
          </a:xfrm>
          <a:prstGeom prst="rect">
            <a:avLst/>
          </a:prstGeom>
        </p:spPr>
      </p:pic>
      <p:sp>
        <p:nvSpPr>
          <p:cNvPr id="6" name="TextBox 5">
            <a:extLst>
              <a:ext uri="{FF2B5EF4-FFF2-40B4-BE49-F238E27FC236}">
                <a16:creationId xmlns:a16="http://schemas.microsoft.com/office/drawing/2014/main" id="{84FDD17C-AD76-DF76-998B-FA3AD8A7F780}"/>
              </a:ext>
            </a:extLst>
          </p:cNvPr>
          <p:cNvSpPr txBox="1"/>
          <p:nvPr/>
        </p:nvSpPr>
        <p:spPr>
          <a:xfrm>
            <a:off x="398476" y="3182483"/>
            <a:ext cx="2650922" cy="1569660"/>
          </a:xfrm>
          <a:prstGeom prst="rect">
            <a:avLst/>
          </a:prstGeom>
          <a:noFill/>
        </p:spPr>
        <p:txBody>
          <a:bodyPr wrap="square" rtlCol="0">
            <a:spAutoFit/>
          </a:bodyPr>
          <a:lstStyle/>
          <a:p>
            <a:r>
              <a:rPr lang="en-GB" sz="2400">
                <a:solidFill>
                  <a:schemeClr val="bg1"/>
                </a:solidFill>
              </a:rPr>
              <a:t>NB: Using copilot for the exercises but these tips are model agnostic</a:t>
            </a:r>
          </a:p>
        </p:txBody>
      </p:sp>
    </p:spTree>
    <p:extLst>
      <p:ext uri="{BB962C8B-B14F-4D97-AF65-F5344CB8AC3E}">
        <p14:creationId xmlns:p14="http://schemas.microsoft.com/office/powerpoint/2010/main" val="162877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AE7AF-470F-8601-B7F0-ED9107388B7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D5D5DD5-42F1-0AB7-048B-2961FC5C4F95}"/>
              </a:ext>
            </a:extLst>
          </p:cNvPr>
          <p:cNvPicPr>
            <a:picLocks noChangeAspect="1"/>
          </p:cNvPicPr>
          <p:nvPr/>
        </p:nvPicPr>
        <p:blipFill>
          <a:blip r:embed="rId3"/>
          <a:stretch>
            <a:fillRect/>
          </a:stretch>
        </p:blipFill>
        <p:spPr>
          <a:xfrm>
            <a:off x="3275900" y="3947905"/>
            <a:ext cx="8620517" cy="2432939"/>
          </a:xfrm>
          <a:prstGeom prst="rect">
            <a:avLst/>
          </a:prstGeom>
        </p:spPr>
      </p:pic>
      <p:sp>
        <p:nvSpPr>
          <p:cNvPr id="3" name="Rectangle: Rounded Corners 2">
            <a:extLst>
              <a:ext uri="{FF2B5EF4-FFF2-40B4-BE49-F238E27FC236}">
                <a16:creationId xmlns:a16="http://schemas.microsoft.com/office/drawing/2014/main" id="{A6E36FCC-A330-E590-69C4-80C32B39ADE9}"/>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Rounded Corners 9">
            <a:extLst>
              <a:ext uri="{FF2B5EF4-FFF2-40B4-BE49-F238E27FC236}">
                <a16:creationId xmlns:a16="http://schemas.microsoft.com/office/drawing/2014/main" id="{4C17C243-E4D8-70CD-7E1C-1005D3FFC913}"/>
              </a:ext>
            </a:extLst>
          </p:cNvPr>
          <p:cNvSpPr/>
          <p:nvPr/>
        </p:nvSpPr>
        <p:spPr>
          <a:xfrm>
            <a:off x="398476" y="5164375"/>
            <a:ext cx="2650922" cy="7744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795E95B8-69F9-0715-4791-A1F4B7D4D4FC}"/>
              </a:ext>
            </a:extLst>
          </p:cNvPr>
          <p:cNvPicPr>
            <a:picLocks noChangeAspect="1"/>
          </p:cNvPicPr>
          <p:nvPr/>
        </p:nvPicPr>
        <p:blipFill>
          <a:blip r:embed="rId4"/>
          <a:stretch>
            <a:fillRect/>
          </a:stretch>
        </p:blipFill>
        <p:spPr>
          <a:xfrm>
            <a:off x="11189170" y="5938829"/>
            <a:ext cx="877900" cy="829128"/>
          </a:xfrm>
          <a:prstGeom prst="rect">
            <a:avLst/>
          </a:prstGeom>
        </p:spPr>
      </p:pic>
      <p:sp>
        <p:nvSpPr>
          <p:cNvPr id="4" name="Content Placeholder 3">
            <a:extLst>
              <a:ext uri="{FF2B5EF4-FFF2-40B4-BE49-F238E27FC236}">
                <a16:creationId xmlns:a16="http://schemas.microsoft.com/office/drawing/2014/main" id="{25C4AC4F-87F6-BE89-FB2F-EBC7828C7D88}"/>
              </a:ext>
            </a:extLst>
          </p:cNvPr>
          <p:cNvSpPr>
            <a:spLocks noGrp="1"/>
          </p:cNvSpPr>
          <p:nvPr>
            <p:ph idx="1"/>
          </p:nvPr>
        </p:nvSpPr>
        <p:spPr>
          <a:xfrm>
            <a:off x="3343012" y="1847089"/>
            <a:ext cx="8724058" cy="4398263"/>
          </a:xfrm>
        </p:spPr>
        <p:txBody>
          <a:bodyPr>
            <a:normAutofit/>
          </a:bodyPr>
          <a:lstStyle/>
          <a:p>
            <a:r>
              <a:rPr lang="en-GB"/>
              <a:t>Demanding an exclusion often summons the thing. </a:t>
            </a:r>
          </a:p>
          <a:p>
            <a:r>
              <a:rPr lang="en-GB"/>
              <a:t>"No text on the wall" Gives .. You guessed it text on the wall</a:t>
            </a:r>
          </a:p>
          <a:p>
            <a:r>
              <a:rPr lang="en-GB"/>
              <a:t>The model weights the noun, not the negation.</a:t>
            </a:r>
          </a:p>
        </p:txBody>
      </p:sp>
      <p:sp>
        <p:nvSpPr>
          <p:cNvPr id="12" name="Title 1">
            <a:extLst>
              <a:ext uri="{FF2B5EF4-FFF2-40B4-BE49-F238E27FC236}">
                <a16:creationId xmlns:a16="http://schemas.microsoft.com/office/drawing/2014/main" id="{B07C651D-CEF8-C0F5-4625-68BA5C96F920}"/>
              </a:ext>
            </a:extLst>
          </p:cNvPr>
          <p:cNvSpPr>
            <a:spLocks noGrp="1"/>
          </p:cNvSpPr>
          <p:nvPr>
            <p:ph type="title"/>
          </p:nvPr>
        </p:nvSpPr>
        <p:spPr>
          <a:xfrm>
            <a:off x="3343012" y="365125"/>
            <a:ext cx="8724058" cy="1325563"/>
          </a:xfrm>
        </p:spPr>
        <p:txBody>
          <a:bodyPr>
            <a:normAutofit/>
          </a:bodyPr>
          <a:lstStyle/>
          <a:p>
            <a:r>
              <a:rPr lang="en-GB" sz="6600">
                <a:latin typeface="Aptos Black" panose="020B0004020202020204" pitchFamily="34" charset="0"/>
              </a:rPr>
              <a:t>Don’t be so negative</a:t>
            </a:r>
            <a:endParaRPr lang="en-GB" sz="13800">
              <a:latin typeface="Aptos Black" panose="020B0004020202020204" pitchFamily="34" charset="0"/>
            </a:endParaRPr>
          </a:p>
        </p:txBody>
      </p:sp>
      <p:pic>
        <p:nvPicPr>
          <p:cNvPr id="15" name="Content Placeholder 4">
            <a:extLst>
              <a:ext uri="{FF2B5EF4-FFF2-40B4-BE49-F238E27FC236}">
                <a16:creationId xmlns:a16="http://schemas.microsoft.com/office/drawing/2014/main" id="{2273F028-91EE-76A7-6644-3284C6AE4CE9}"/>
              </a:ext>
            </a:extLst>
          </p:cNvPr>
          <p:cNvPicPr>
            <a:picLocks noChangeAspect="1"/>
          </p:cNvPicPr>
          <p:nvPr/>
        </p:nvPicPr>
        <p:blipFill>
          <a:blip r:embed="rId5"/>
          <a:stretch>
            <a:fillRect/>
          </a:stretch>
        </p:blipFill>
        <p:spPr>
          <a:xfrm>
            <a:off x="465588" y="743188"/>
            <a:ext cx="2307543" cy="2307543"/>
          </a:xfrm>
          <a:prstGeom prst="rect">
            <a:avLst/>
          </a:prstGeom>
        </p:spPr>
      </p:pic>
      <p:pic>
        <p:nvPicPr>
          <p:cNvPr id="9" name="Picture 8">
            <a:extLst>
              <a:ext uri="{FF2B5EF4-FFF2-40B4-BE49-F238E27FC236}">
                <a16:creationId xmlns:a16="http://schemas.microsoft.com/office/drawing/2014/main" id="{B183AE93-8E81-B626-DB1A-09DE863AE18D}"/>
              </a:ext>
            </a:extLst>
          </p:cNvPr>
          <p:cNvPicPr>
            <a:picLocks noChangeAspect="1"/>
          </p:cNvPicPr>
          <p:nvPr/>
        </p:nvPicPr>
        <p:blipFill>
          <a:blip r:embed="rId6"/>
          <a:stretch>
            <a:fillRect/>
          </a:stretch>
        </p:blipFill>
        <p:spPr>
          <a:xfrm>
            <a:off x="398476" y="5296127"/>
            <a:ext cx="2456612" cy="555194"/>
          </a:xfrm>
          <a:prstGeom prst="rect">
            <a:avLst/>
          </a:prstGeom>
        </p:spPr>
      </p:pic>
      <p:sp>
        <p:nvSpPr>
          <p:cNvPr id="11" name="TextBox 10">
            <a:extLst>
              <a:ext uri="{FF2B5EF4-FFF2-40B4-BE49-F238E27FC236}">
                <a16:creationId xmlns:a16="http://schemas.microsoft.com/office/drawing/2014/main" id="{FDBA1F1E-AF6D-5FA7-853C-C6A22F203A0F}"/>
              </a:ext>
            </a:extLst>
          </p:cNvPr>
          <p:cNvSpPr txBox="1"/>
          <p:nvPr/>
        </p:nvSpPr>
        <p:spPr>
          <a:xfrm>
            <a:off x="398476" y="3182483"/>
            <a:ext cx="2650922" cy="1569660"/>
          </a:xfrm>
          <a:prstGeom prst="rect">
            <a:avLst/>
          </a:prstGeom>
          <a:noFill/>
        </p:spPr>
        <p:txBody>
          <a:bodyPr wrap="square" rtlCol="0">
            <a:spAutoFit/>
          </a:bodyPr>
          <a:lstStyle/>
          <a:p>
            <a:r>
              <a:rPr lang="en-GB" sz="2400">
                <a:solidFill>
                  <a:schemeClr val="bg1"/>
                </a:solidFill>
              </a:rPr>
              <a:t>NB: Using copilot for the exercises but these tips are model agnostic</a:t>
            </a:r>
          </a:p>
        </p:txBody>
      </p:sp>
    </p:spTree>
    <p:extLst>
      <p:ext uri="{BB962C8B-B14F-4D97-AF65-F5344CB8AC3E}">
        <p14:creationId xmlns:p14="http://schemas.microsoft.com/office/powerpoint/2010/main" val="32472479"/>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5ADDF-65F1-8EC3-21C6-BA296F4882D9}"/>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3E569822-54DE-8D3B-089E-0B816FBAA37D}"/>
              </a:ext>
            </a:extLst>
          </p:cNvPr>
          <p:cNvPicPr>
            <a:picLocks noChangeAspect="1"/>
          </p:cNvPicPr>
          <p:nvPr/>
        </p:nvPicPr>
        <p:blipFill>
          <a:blip r:embed="rId2">
            <a:alphaModFix amt="52000"/>
          </a:blip>
          <a:stretch>
            <a:fillRect/>
          </a:stretch>
        </p:blipFill>
        <p:spPr>
          <a:xfrm>
            <a:off x="-37122" y="0"/>
            <a:ext cx="12289244" cy="6839905"/>
          </a:xfrm>
          <a:prstGeom prst="rect">
            <a:avLst/>
          </a:prstGeom>
        </p:spPr>
      </p:pic>
      <p:sp>
        <p:nvSpPr>
          <p:cNvPr id="3" name="Rectangle: Rounded Corners 2">
            <a:extLst>
              <a:ext uri="{FF2B5EF4-FFF2-40B4-BE49-F238E27FC236}">
                <a16:creationId xmlns:a16="http://schemas.microsoft.com/office/drawing/2014/main" id="{D7A4AAC6-6D69-F43B-E6C8-7E605890983B}"/>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pic>
        <p:nvPicPr>
          <p:cNvPr id="6" name="Picture 5" descr="File:Google Gemini icon 2025.svg">
            <a:extLst>
              <a:ext uri="{FF2B5EF4-FFF2-40B4-BE49-F238E27FC236}">
                <a16:creationId xmlns:a16="http://schemas.microsoft.com/office/drawing/2014/main" id="{752AEABC-4599-7143-BBF1-95D3E2E76CAC}"/>
              </a:ext>
            </a:extLst>
          </p:cNvPr>
          <p:cNvPicPr>
            <a:picLocks noChangeAspect="1"/>
          </p:cNvPicPr>
          <p:nvPr/>
        </p:nvPicPr>
        <p:blipFill>
          <a:blip r:embed="rId3"/>
          <a:stretch>
            <a:fillRect/>
          </a:stretch>
        </p:blipFill>
        <p:spPr>
          <a:xfrm>
            <a:off x="618688" y="4261709"/>
            <a:ext cx="2218888" cy="2218888"/>
          </a:xfrm>
          <a:prstGeom prst="rect">
            <a:avLst/>
          </a:prstGeom>
        </p:spPr>
      </p:pic>
      <p:pic>
        <p:nvPicPr>
          <p:cNvPr id="7" name="Picture 6">
            <a:extLst>
              <a:ext uri="{FF2B5EF4-FFF2-40B4-BE49-F238E27FC236}">
                <a16:creationId xmlns:a16="http://schemas.microsoft.com/office/drawing/2014/main" id="{DC838773-51E6-CB44-9D97-E602B0175E3E}"/>
              </a:ext>
            </a:extLst>
          </p:cNvPr>
          <p:cNvPicPr>
            <a:picLocks noChangeAspect="1"/>
          </p:cNvPicPr>
          <p:nvPr/>
        </p:nvPicPr>
        <p:blipFill>
          <a:blip r:embed="rId4"/>
          <a:stretch>
            <a:fillRect/>
          </a:stretch>
        </p:blipFill>
        <p:spPr>
          <a:xfrm>
            <a:off x="11189170" y="5938829"/>
            <a:ext cx="877900" cy="829128"/>
          </a:xfrm>
          <a:prstGeom prst="rect">
            <a:avLst/>
          </a:prstGeom>
        </p:spPr>
      </p:pic>
      <p:sp>
        <p:nvSpPr>
          <p:cNvPr id="4" name="Title 1">
            <a:extLst>
              <a:ext uri="{FF2B5EF4-FFF2-40B4-BE49-F238E27FC236}">
                <a16:creationId xmlns:a16="http://schemas.microsoft.com/office/drawing/2014/main" id="{BC057D61-B269-8248-DC5C-434FCC2ADA90}"/>
              </a:ext>
            </a:extLst>
          </p:cNvPr>
          <p:cNvSpPr>
            <a:spLocks noGrp="1"/>
          </p:cNvSpPr>
          <p:nvPr>
            <p:ph type="title"/>
          </p:nvPr>
        </p:nvSpPr>
        <p:spPr>
          <a:xfrm>
            <a:off x="3238150" y="365125"/>
            <a:ext cx="8115650" cy="1325563"/>
          </a:xfrm>
        </p:spPr>
        <p:txBody>
          <a:bodyPr>
            <a:normAutofit/>
          </a:bodyPr>
          <a:lstStyle/>
          <a:p>
            <a:pPr algn="ctr"/>
            <a:r>
              <a:rPr lang="en-GB" sz="7200">
                <a:latin typeface="Aptos Black" panose="020B0004020202020204" pitchFamily="34" charset="0"/>
              </a:rPr>
              <a:t>Canvas</a:t>
            </a:r>
          </a:p>
        </p:txBody>
      </p:sp>
      <p:sp>
        <p:nvSpPr>
          <p:cNvPr id="14" name="Content Placeholder 13">
            <a:extLst>
              <a:ext uri="{FF2B5EF4-FFF2-40B4-BE49-F238E27FC236}">
                <a16:creationId xmlns:a16="http://schemas.microsoft.com/office/drawing/2014/main" id="{4D2EE7A9-8335-6E59-1B95-4AE12BBEDC39}"/>
              </a:ext>
            </a:extLst>
          </p:cNvPr>
          <p:cNvSpPr>
            <a:spLocks noGrp="1"/>
          </p:cNvSpPr>
          <p:nvPr>
            <p:ph sz="half" idx="2"/>
          </p:nvPr>
        </p:nvSpPr>
        <p:spPr>
          <a:xfrm>
            <a:off x="3166845" y="1598103"/>
            <a:ext cx="8703578" cy="4578860"/>
          </a:xfrm>
        </p:spPr>
        <p:txBody>
          <a:bodyPr>
            <a:normAutofit/>
          </a:bodyPr>
          <a:lstStyle/>
          <a:p>
            <a:pPr marL="0" indent="0">
              <a:buNone/>
            </a:pPr>
            <a:r>
              <a:rPr lang="en-GB"/>
              <a:t>Interactive workspace creates working web apps, presentation decks and polished documents.</a:t>
            </a:r>
          </a:p>
          <a:p>
            <a:pPr marL="0" indent="0">
              <a:buNone/>
            </a:pPr>
            <a:endParaRPr lang="en-GB"/>
          </a:p>
          <a:p>
            <a:pPr marL="0" indent="0">
              <a:buNone/>
            </a:pPr>
            <a:r>
              <a:rPr lang="en-GB">
                <a:solidFill>
                  <a:srgbClr val="FF0000"/>
                </a:solidFill>
              </a:rPr>
              <a:t>Now for a bit of basic vibe coding…</a:t>
            </a:r>
          </a:p>
          <a:p>
            <a:pPr marL="0" indent="0">
              <a:buNone/>
            </a:pPr>
            <a:endParaRPr lang="en-GB"/>
          </a:p>
          <a:p>
            <a:pPr marL="0" indent="0">
              <a:buNone/>
            </a:pPr>
            <a:endParaRPr lang="en-GB"/>
          </a:p>
          <a:p>
            <a:pPr marL="0" indent="0">
              <a:buNone/>
            </a:pPr>
            <a:r>
              <a:rPr lang="en-GB">
                <a:solidFill>
                  <a:srgbClr val="002060"/>
                </a:solidFill>
                <a:latin typeface="OCR-A BT" panose="020F0501020204020304" pitchFamily="34" charset="0"/>
              </a:rPr>
              <a:t>Generate a functional 8-bit mini-game. Where a character navigates a university dining hall to collect low-impact foods while dodging high-carbon options.</a:t>
            </a:r>
          </a:p>
        </p:txBody>
      </p:sp>
      <p:pic>
        <p:nvPicPr>
          <p:cNvPr id="11" name="Picture 10">
            <a:extLst>
              <a:ext uri="{FF2B5EF4-FFF2-40B4-BE49-F238E27FC236}">
                <a16:creationId xmlns:a16="http://schemas.microsoft.com/office/drawing/2014/main" id="{3D762F99-B426-9064-300F-716C24721558}"/>
              </a:ext>
            </a:extLst>
          </p:cNvPr>
          <p:cNvPicPr>
            <a:picLocks noChangeAspect="1"/>
          </p:cNvPicPr>
          <p:nvPr/>
        </p:nvPicPr>
        <p:blipFill>
          <a:blip r:embed="rId5"/>
          <a:stretch>
            <a:fillRect/>
          </a:stretch>
        </p:blipFill>
        <p:spPr>
          <a:xfrm>
            <a:off x="618688" y="705483"/>
            <a:ext cx="1946973" cy="719933"/>
          </a:xfrm>
          <a:prstGeom prst="rect">
            <a:avLst/>
          </a:prstGeom>
        </p:spPr>
      </p:pic>
      <p:pic>
        <p:nvPicPr>
          <p:cNvPr id="5" name="Picture 4">
            <a:extLst>
              <a:ext uri="{FF2B5EF4-FFF2-40B4-BE49-F238E27FC236}">
                <a16:creationId xmlns:a16="http://schemas.microsoft.com/office/drawing/2014/main" id="{183EDD01-2C43-1C26-39AB-FEB11EC077F8}"/>
              </a:ext>
            </a:extLst>
          </p:cNvPr>
          <p:cNvPicPr>
            <a:picLocks noChangeAspect="1"/>
          </p:cNvPicPr>
          <p:nvPr/>
        </p:nvPicPr>
        <p:blipFill>
          <a:blip r:embed="rId6"/>
          <a:srcRect l="10489" t="4709" r="15464" b="42509"/>
          <a:stretch>
            <a:fillRect/>
          </a:stretch>
        </p:blipFill>
        <p:spPr>
          <a:xfrm>
            <a:off x="6471058" y="3607002"/>
            <a:ext cx="824917" cy="588026"/>
          </a:xfrm>
          <a:prstGeom prst="rect">
            <a:avLst/>
          </a:prstGeom>
        </p:spPr>
      </p:pic>
      <p:pic>
        <p:nvPicPr>
          <p:cNvPr id="9" name="Picture 8">
            <a:extLst>
              <a:ext uri="{FF2B5EF4-FFF2-40B4-BE49-F238E27FC236}">
                <a16:creationId xmlns:a16="http://schemas.microsoft.com/office/drawing/2014/main" id="{B71F714E-DF8C-8DDA-8149-50F2F596BBFD}"/>
              </a:ext>
            </a:extLst>
          </p:cNvPr>
          <p:cNvPicPr>
            <a:picLocks noChangeAspect="1"/>
          </p:cNvPicPr>
          <p:nvPr/>
        </p:nvPicPr>
        <p:blipFill>
          <a:blip r:embed="rId7"/>
          <a:stretch>
            <a:fillRect/>
          </a:stretch>
        </p:blipFill>
        <p:spPr>
          <a:xfrm>
            <a:off x="289283" y="2730482"/>
            <a:ext cx="2877561" cy="1170533"/>
          </a:xfrm>
          <a:prstGeom prst="rect">
            <a:avLst/>
          </a:prstGeom>
        </p:spPr>
      </p:pic>
      <p:pic>
        <p:nvPicPr>
          <p:cNvPr id="12" name="Picture 11">
            <a:extLst>
              <a:ext uri="{FF2B5EF4-FFF2-40B4-BE49-F238E27FC236}">
                <a16:creationId xmlns:a16="http://schemas.microsoft.com/office/drawing/2014/main" id="{51165D1C-1138-0452-E9D4-ABC09EF2B13A}"/>
              </a:ext>
            </a:extLst>
          </p:cNvPr>
          <p:cNvPicPr>
            <a:picLocks noChangeAspect="1"/>
          </p:cNvPicPr>
          <p:nvPr/>
        </p:nvPicPr>
        <p:blipFill>
          <a:blip r:embed="rId8"/>
          <a:stretch>
            <a:fillRect/>
          </a:stretch>
        </p:blipFill>
        <p:spPr>
          <a:xfrm>
            <a:off x="10512949" y="3980536"/>
            <a:ext cx="581605" cy="562346"/>
          </a:xfrm>
          <a:prstGeom prst="rect">
            <a:avLst/>
          </a:prstGeom>
        </p:spPr>
      </p:pic>
    </p:spTree>
    <p:extLst>
      <p:ext uri="{BB962C8B-B14F-4D97-AF65-F5344CB8AC3E}">
        <p14:creationId xmlns:p14="http://schemas.microsoft.com/office/powerpoint/2010/main" val="3296553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5550EA5D-B953-A8C1-B8FD-7C43A97349DC}"/>
              </a:ext>
            </a:extLst>
          </p:cNvPr>
          <p:cNvSpPr/>
          <p:nvPr/>
        </p:nvSpPr>
        <p:spPr>
          <a:xfrm>
            <a:off x="422945" y="6153122"/>
            <a:ext cx="10930855" cy="486765"/>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1D68A63-3CC4-9263-2D71-AF06A9037525}"/>
              </a:ext>
            </a:extLst>
          </p:cNvPr>
          <p:cNvSpPr>
            <a:spLocks noGrp="1"/>
          </p:cNvSpPr>
          <p:nvPr>
            <p:ph type="title"/>
          </p:nvPr>
        </p:nvSpPr>
        <p:spPr/>
        <p:txBody>
          <a:bodyPr/>
          <a:lstStyle/>
          <a:p>
            <a:endParaRPr lang="en-GB"/>
          </a:p>
        </p:txBody>
      </p:sp>
      <p:sp>
        <p:nvSpPr>
          <p:cNvPr id="4" name="Content Placeholder 3">
            <a:extLst>
              <a:ext uri="{FF2B5EF4-FFF2-40B4-BE49-F238E27FC236}">
                <a16:creationId xmlns:a16="http://schemas.microsoft.com/office/drawing/2014/main" id="{B3DE6D39-67B2-D898-E017-55B6244EEB4D}"/>
              </a:ext>
            </a:extLst>
          </p:cNvPr>
          <p:cNvSpPr>
            <a:spLocks noGrp="1"/>
          </p:cNvSpPr>
          <p:nvPr>
            <p:ph sz="half" idx="2"/>
          </p:nvPr>
        </p:nvSpPr>
        <p:spPr/>
        <p:txBody>
          <a:bodyPr/>
          <a:lstStyle/>
          <a:p>
            <a:endParaRPr lang="en-GB"/>
          </a:p>
        </p:txBody>
      </p:sp>
      <p:pic>
        <p:nvPicPr>
          <p:cNvPr id="6" name="Picture 5">
            <a:extLst>
              <a:ext uri="{FF2B5EF4-FFF2-40B4-BE49-F238E27FC236}">
                <a16:creationId xmlns:a16="http://schemas.microsoft.com/office/drawing/2014/main" id="{55882E76-65CD-DCC5-98CA-D4FD72E10028}"/>
              </a:ext>
            </a:extLst>
          </p:cNvPr>
          <p:cNvPicPr>
            <a:picLocks noChangeAspect="1"/>
          </p:cNvPicPr>
          <p:nvPr/>
        </p:nvPicPr>
        <p:blipFill>
          <a:blip r:embed="rId2"/>
          <a:stretch>
            <a:fillRect/>
          </a:stretch>
        </p:blipFill>
        <p:spPr>
          <a:xfrm>
            <a:off x="0" y="134694"/>
            <a:ext cx="12192000" cy="5894102"/>
          </a:xfrm>
          <a:prstGeom prst="rect">
            <a:avLst/>
          </a:prstGeom>
        </p:spPr>
      </p:pic>
      <p:sp>
        <p:nvSpPr>
          <p:cNvPr id="7" name="Arrow: Down 6">
            <a:extLst>
              <a:ext uri="{FF2B5EF4-FFF2-40B4-BE49-F238E27FC236}">
                <a16:creationId xmlns:a16="http://schemas.microsoft.com/office/drawing/2014/main" id="{E017490E-035E-4D83-FDA0-0BB3DCF8C647}"/>
              </a:ext>
            </a:extLst>
          </p:cNvPr>
          <p:cNvSpPr/>
          <p:nvPr/>
        </p:nvSpPr>
        <p:spPr>
          <a:xfrm flipV="1">
            <a:off x="9740038" y="969236"/>
            <a:ext cx="691671" cy="905704"/>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5FAA8461-DEF5-003B-6483-6B5623DF341B}"/>
              </a:ext>
            </a:extLst>
          </p:cNvPr>
          <p:cNvSpPr txBox="1"/>
          <p:nvPr/>
        </p:nvSpPr>
        <p:spPr>
          <a:xfrm>
            <a:off x="8384913" y="1938167"/>
            <a:ext cx="3648948" cy="646331"/>
          </a:xfrm>
          <a:prstGeom prst="rect">
            <a:avLst/>
          </a:prstGeom>
          <a:noFill/>
        </p:spPr>
        <p:txBody>
          <a:bodyPr wrap="none" rtlCol="0">
            <a:spAutoFit/>
          </a:bodyPr>
          <a:lstStyle/>
          <a:p>
            <a:r>
              <a:rPr lang="en-GB">
                <a:solidFill>
                  <a:srgbClr val="FF0000"/>
                </a:solidFill>
              </a:rPr>
              <a:t>(Hint: You can check the code with </a:t>
            </a:r>
          </a:p>
          <a:p>
            <a:r>
              <a:rPr lang="en-GB">
                <a:solidFill>
                  <a:srgbClr val="FF0000"/>
                </a:solidFill>
              </a:rPr>
              <a:t>this tab when its created)</a:t>
            </a:r>
          </a:p>
        </p:txBody>
      </p:sp>
      <p:pic>
        <p:nvPicPr>
          <p:cNvPr id="10" name="Picture 9">
            <a:extLst>
              <a:ext uri="{FF2B5EF4-FFF2-40B4-BE49-F238E27FC236}">
                <a16:creationId xmlns:a16="http://schemas.microsoft.com/office/drawing/2014/main" id="{62C7F1B7-47D0-8F74-624A-CDB05F1690B1}"/>
              </a:ext>
            </a:extLst>
          </p:cNvPr>
          <p:cNvPicPr>
            <a:picLocks noChangeAspect="1"/>
          </p:cNvPicPr>
          <p:nvPr/>
        </p:nvPicPr>
        <p:blipFill>
          <a:blip r:embed="rId3"/>
          <a:stretch>
            <a:fillRect/>
          </a:stretch>
        </p:blipFill>
        <p:spPr>
          <a:xfrm>
            <a:off x="4477111" y="4799330"/>
            <a:ext cx="3907802" cy="1609095"/>
          </a:xfrm>
          <a:prstGeom prst="rect">
            <a:avLst/>
          </a:prstGeom>
          <a:ln w="57150">
            <a:solidFill>
              <a:srgbClr val="770100"/>
            </a:solidFill>
          </a:ln>
        </p:spPr>
      </p:pic>
      <p:pic>
        <p:nvPicPr>
          <p:cNvPr id="12" name="Picture 11">
            <a:extLst>
              <a:ext uri="{FF2B5EF4-FFF2-40B4-BE49-F238E27FC236}">
                <a16:creationId xmlns:a16="http://schemas.microsoft.com/office/drawing/2014/main" id="{8362BCF4-B615-206B-4F6F-AA378B4E6308}"/>
              </a:ext>
            </a:extLst>
          </p:cNvPr>
          <p:cNvPicPr>
            <a:picLocks noChangeAspect="1"/>
          </p:cNvPicPr>
          <p:nvPr/>
        </p:nvPicPr>
        <p:blipFill>
          <a:blip r:embed="rId4"/>
          <a:stretch>
            <a:fillRect/>
          </a:stretch>
        </p:blipFill>
        <p:spPr>
          <a:xfrm>
            <a:off x="11189170" y="5938829"/>
            <a:ext cx="877900" cy="829128"/>
          </a:xfrm>
          <a:prstGeom prst="rect">
            <a:avLst/>
          </a:prstGeom>
        </p:spPr>
      </p:pic>
      <p:pic>
        <p:nvPicPr>
          <p:cNvPr id="16" name="Picture 15">
            <a:extLst>
              <a:ext uri="{FF2B5EF4-FFF2-40B4-BE49-F238E27FC236}">
                <a16:creationId xmlns:a16="http://schemas.microsoft.com/office/drawing/2014/main" id="{4834B2D0-C647-C071-C872-A1213E43DBCA}"/>
              </a:ext>
            </a:extLst>
          </p:cNvPr>
          <p:cNvPicPr>
            <a:picLocks noChangeAspect="1"/>
          </p:cNvPicPr>
          <p:nvPr/>
        </p:nvPicPr>
        <p:blipFill>
          <a:blip r:embed="rId5"/>
          <a:stretch>
            <a:fillRect/>
          </a:stretch>
        </p:blipFill>
        <p:spPr>
          <a:xfrm>
            <a:off x="664918" y="6163733"/>
            <a:ext cx="1122028" cy="414893"/>
          </a:xfrm>
          <a:prstGeom prst="rect">
            <a:avLst/>
          </a:prstGeom>
        </p:spPr>
      </p:pic>
      <p:pic>
        <p:nvPicPr>
          <p:cNvPr id="18" name="Picture 17" descr="File:Google Gemini icon 2025.svg">
            <a:extLst>
              <a:ext uri="{FF2B5EF4-FFF2-40B4-BE49-F238E27FC236}">
                <a16:creationId xmlns:a16="http://schemas.microsoft.com/office/drawing/2014/main" id="{6BA4CFB5-FB57-5C09-B9D4-D161FF239A34}"/>
              </a:ext>
            </a:extLst>
          </p:cNvPr>
          <p:cNvPicPr>
            <a:picLocks noChangeAspect="1"/>
          </p:cNvPicPr>
          <p:nvPr/>
        </p:nvPicPr>
        <p:blipFill>
          <a:blip r:embed="rId6"/>
          <a:stretch>
            <a:fillRect/>
          </a:stretch>
        </p:blipFill>
        <p:spPr>
          <a:xfrm>
            <a:off x="2059496" y="6289169"/>
            <a:ext cx="270545" cy="270545"/>
          </a:xfrm>
          <a:prstGeom prst="rect">
            <a:avLst/>
          </a:prstGeom>
        </p:spPr>
      </p:pic>
    </p:spTree>
    <p:extLst>
      <p:ext uri="{BB962C8B-B14F-4D97-AF65-F5344CB8AC3E}">
        <p14:creationId xmlns:p14="http://schemas.microsoft.com/office/powerpoint/2010/main" val="3376572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539C0-37BC-C5AE-D97B-1D43F77389B1}"/>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748AE962-D9D7-BCD4-D1B6-A925E07330BD}"/>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pic>
        <p:nvPicPr>
          <p:cNvPr id="6" name="Picture 5" descr="File:Google Gemini icon 2025.svg">
            <a:extLst>
              <a:ext uri="{FF2B5EF4-FFF2-40B4-BE49-F238E27FC236}">
                <a16:creationId xmlns:a16="http://schemas.microsoft.com/office/drawing/2014/main" id="{229FFB87-CE5E-3A10-BD9F-5B11C254FAD7}"/>
              </a:ext>
            </a:extLst>
          </p:cNvPr>
          <p:cNvPicPr>
            <a:picLocks noChangeAspect="1"/>
          </p:cNvPicPr>
          <p:nvPr/>
        </p:nvPicPr>
        <p:blipFill>
          <a:blip r:embed="rId2"/>
          <a:stretch>
            <a:fillRect/>
          </a:stretch>
        </p:blipFill>
        <p:spPr>
          <a:xfrm>
            <a:off x="618688" y="4261709"/>
            <a:ext cx="2218888" cy="2218888"/>
          </a:xfrm>
          <a:prstGeom prst="rect">
            <a:avLst/>
          </a:prstGeom>
        </p:spPr>
      </p:pic>
      <p:pic>
        <p:nvPicPr>
          <p:cNvPr id="7" name="Picture 6">
            <a:extLst>
              <a:ext uri="{FF2B5EF4-FFF2-40B4-BE49-F238E27FC236}">
                <a16:creationId xmlns:a16="http://schemas.microsoft.com/office/drawing/2014/main" id="{1930A336-7663-7D31-F744-51434DFB0A6A}"/>
              </a:ext>
            </a:extLst>
          </p:cNvPr>
          <p:cNvPicPr>
            <a:picLocks noChangeAspect="1"/>
          </p:cNvPicPr>
          <p:nvPr/>
        </p:nvPicPr>
        <p:blipFill>
          <a:blip r:embed="rId3"/>
          <a:stretch>
            <a:fillRect/>
          </a:stretch>
        </p:blipFill>
        <p:spPr>
          <a:xfrm>
            <a:off x="11189170" y="5938829"/>
            <a:ext cx="877900" cy="829128"/>
          </a:xfrm>
          <a:prstGeom prst="rect">
            <a:avLst/>
          </a:prstGeom>
        </p:spPr>
      </p:pic>
      <p:sp>
        <p:nvSpPr>
          <p:cNvPr id="4" name="Title 1">
            <a:extLst>
              <a:ext uri="{FF2B5EF4-FFF2-40B4-BE49-F238E27FC236}">
                <a16:creationId xmlns:a16="http://schemas.microsoft.com/office/drawing/2014/main" id="{EAA34377-6195-47B8-1B9A-E09B8419E95F}"/>
              </a:ext>
            </a:extLst>
          </p:cNvPr>
          <p:cNvSpPr>
            <a:spLocks noGrp="1"/>
          </p:cNvSpPr>
          <p:nvPr>
            <p:ph type="title"/>
          </p:nvPr>
        </p:nvSpPr>
        <p:spPr/>
        <p:txBody>
          <a:bodyPr>
            <a:normAutofit/>
          </a:bodyPr>
          <a:lstStyle/>
          <a:p>
            <a:pPr algn="ctr"/>
            <a:r>
              <a:rPr lang="en-GB" sz="7200">
                <a:latin typeface="Aptos Black" panose="020B0004020202020204" pitchFamily="34" charset="0"/>
              </a:rPr>
              <a:t>Canvas</a:t>
            </a:r>
          </a:p>
        </p:txBody>
      </p:sp>
      <p:sp>
        <p:nvSpPr>
          <p:cNvPr id="14" name="Content Placeholder 13">
            <a:extLst>
              <a:ext uri="{FF2B5EF4-FFF2-40B4-BE49-F238E27FC236}">
                <a16:creationId xmlns:a16="http://schemas.microsoft.com/office/drawing/2014/main" id="{3FD5AD2A-9C8E-3272-4561-736135575F4B}"/>
              </a:ext>
            </a:extLst>
          </p:cNvPr>
          <p:cNvSpPr>
            <a:spLocks noGrp="1"/>
          </p:cNvSpPr>
          <p:nvPr>
            <p:ph sz="half" idx="2"/>
          </p:nvPr>
        </p:nvSpPr>
        <p:spPr>
          <a:xfrm>
            <a:off x="3309457" y="1635853"/>
            <a:ext cx="8556771" cy="4541110"/>
          </a:xfrm>
        </p:spPr>
        <p:txBody>
          <a:bodyPr>
            <a:normAutofit/>
          </a:bodyPr>
          <a:lstStyle/>
          <a:p>
            <a:pPr marL="0" indent="0">
              <a:buNone/>
            </a:pPr>
            <a:r>
              <a:rPr lang="en-GB"/>
              <a:t>So, you have your game – and its probably not perfect.</a:t>
            </a:r>
          </a:p>
          <a:p>
            <a:pPr marL="0" indent="0">
              <a:buNone/>
            </a:pPr>
            <a:endParaRPr lang="en-GB"/>
          </a:p>
          <a:p>
            <a:pPr marL="0" indent="0">
              <a:buNone/>
            </a:pPr>
            <a:endParaRPr lang="en-GB"/>
          </a:p>
          <a:p>
            <a:pPr marL="0" indent="0">
              <a:buNone/>
            </a:pPr>
            <a:endParaRPr lang="en-GB"/>
          </a:p>
          <a:p>
            <a:pPr marL="0" indent="0">
              <a:buNone/>
            </a:pPr>
            <a:endParaRPr lang="en-GB"/>
          </a:p>
          <a:p>
            <a:pPr marL="0" indent="0">
              <a:buNone/>
            </a:pPr>
            <a:r>
              <a:rPr lang="en-GB"/>
              <a:t>I had to ask it to </a:t>
            </a:r>
            <a:r>
              <a:rPr lang="en-GB" i="1"/>
              <a:t>slow down </a:t>
            </a:r>
            <a:r>
              <a:rPr lang="en-GB"/>
              <a:t>its frogger style game and add a ‘rest lane’</a:t>
            </a:r>
          </a:p>
        </p:txBody>
      </p:sp>
      <p:pic>
        <p:nvPicPr>
          <p:cNvPr id="11" name="Picture 10">
            <a:extLst>
              <a:ext uri="{FF2B5EF4-FFF2-40B4-BE49-F238E27FC236}">
                <a16:creationId xmlns:a16="http://schemas.microsoft.com/office/drawing/2014/main" id="{AB8AFB38-8F7E-6742-5333-B860E36D0ADC}"/>
              </a:ext>
            </a:extLst>
          </p:cNvPr>
          <p:cNvPicPr>
            <a:picLocks noChangeAspect="1"/>
          </p:cNvPicPr>
          <p:nvPr/>
        </p:nvPicPr>
        <p:blipFill>
          <a:blip r:embed="rId4"/>
          <a:stretch>
            <a:fillRect/>
          </a:stretch>
        </p:blipFill>
        <p:spPr>
          <a:xfrm>
            <a:off x="618688" y="705483"/>
            <a:ext cx="1946973" cy="719933"/>
          </a:xfrm>
          <a:prstGeom prst="rect">
            <a:avLst/>
          </a:prstGeom>
        </p:spPr>
      </p:pic>
      <p:pic>
        <p:nvPicPr>
          <p:cNvPr id="12" name="Picture 11">
            <a:extLst>
              <a:ext uri="{FF2B5EF4-FFF2-40B4-BE49-F238E27FC236}">
                <a16:creationId xmlns:a16="http://schemas.microsoft.com/office/drawing/2014/main" id="{709B29E7-928B-FF6A-D9B4-1871922747C3}"/>
              </a:ext>
            </a:extLst>
          </p:cNvPr>
          <p:cNvPicPr>
            <a:picLocks noChangeAspect="1"/>
          </p:cNvPicPr>
          <p:nvPr/>
        </p:nvPicPr>
        <p:blipFill>
          <a:blip r:embed="rId5"/>
          <a:srcRect l="10489" t="4709" r="15464" b="42509"/>
          <a:stretch>
            <a:fillRect/>
          </a:stretch>
        </p:blipFill>
        <p:spPr>
          <a:xfrm>
            <a:off x="4449622" y="59735"/>
            <a:ext cx="824917" cy="588026"/>
          </a:xfrm>
          <a:prstGeom prst="rect">
            <a:avLst/>
          </a:prstGeom>
        </p:spPr>
      </p:pic>
      <p:pic>
        <p:nvPicPr>
          <p:cNvPr id="17" name="Picture 16">
            <a:extLst>
              <a:ext uri="{FF2B5EF4-FFF2-40B4-BE49-F238E27FC236}">
                <a16:creationId xmlns:a16="http://schemas.microsoft.com/office/drawing/2014/main" id="{19D29223-B5DB-FA19-BFEB-8361518EC041}"/>
              </a:ext>
            </a:extLst>
          </p:cNvPr>
          <p:cNvPicPr>
            <a:picLocks noChangeAspect="1"/>
          </p:cNvPicPr>
          <p:nvPr/>
        </p:nvPicPr>
        <p:blipFill>
          <a:blip r:embed="rId6"/>
          <a:srcRect l="12797" t="14373" r="12795" b="13403"/>
          <a:stretch>
            <a:fillRect/>
          </a:stretch>
        </p:blipFill>
        <p:spPr>
          <a:xfrm>
            <a:off x="3625538" y="5908521"/>
            <a:ext cx="916660" cy="889744"/>
          </a:xfrm>
          <a:prstGeom prst="rect">
            <a:avLst/>
          </a:prstGeom>
        </p:spPr>
      </p:pic>
      <p:pic>
        <p:nvPicPr>
          <p:cNvPr id="8" name="Picture 7">
            <a:extLst>
              <a:ext uri="{FF2B5EF4-FFF2-40B4-BE49-F238E27FC236}">
                <a16:creationId xmlns:a16="http://schemas.microsoft.com/office/drawing/2014/main" id="{B9794CEF-FBDE-7F27-0A10-32263EC99029}"/>
              </a:ext>
            </a:extLst>
          </p:cNvPr>
          <p:cNvPicPr>
            <a:picLocks noChangeAspect="1"/>
          </p:cNvPicPr>
          <p:nvPr/>
        </p:nvPicPr>
        <p:blipFill>
          <a:blip r:embed="rId7"/>
          <a:stretch>
            <a:fillRect/>
          </a:stretch>
        </p:blipFill>
        <p:spPr>
          <a:xfrm>
            <a:off x="3309457" y="2124164"/>
            <a:ext cx="2654344" cy="2028038"/>
          </a:xfrm>
          <a:prstGeom prst="rect">
            <a:avLst/>
          </a:prstGeom>
        </p:spPr>
      </p:pic>
      <p:pic>
        <p:nvPicPr>
          <p:cNvPr id="10" name="Picture 9">
            <a:extLst>
              <a:ext uri="{FF2B5EF4-FFF2-40B4-BE49-F238E27FC236}">
                <a16:creationId xmlns:a16="http://schemas.microsoft.com/office/drawing/2014/main" id="{517C206B-2CF5-3F68-A3B8-D23673344444}"/>
              </a:ext>
            </a:extLst>
          </p:cNvPr>
          <p:cNvPicPr>
            <a:picLocks noChangeAspect="1"/>
          </p:cNvPicPr>
          <p:nvPr/>
        </p:nvPicPr>
        <p:blipFill>
          <a:blip r:embed="rId8"/>
          <a:stretch>
            <a:fillRect/>
          </a:stretch>
        </p:blipFill>
        <p:spPr>
          <a:xfrm>
            <a:off x="6370450" y="2580109"/>
            <a:ext cx="2049650" cy="897178"/>
          </a:xfrm>
          <a:prstGeom prst="rect">
            <a:avLst/>
          </a:prstGeom>
        </p:spPr>
      </p:pic>
      <p:pic>
        <p:nvPicPr>
          <p:cNvPr id="15" name="Picture 14">
            <a:extLst>
              <a:ext uri="{FF2B5EF4-FFF2-40B4-BE49-F238E27FC236}">
                <a16:creationId xmlns:a16="http://schemas.microsoft.com/office/drawing/2014/main" id="{1AF9626F-184F-3197-C195-DA292EF52331}"/>
              </a:ext>
            </a:extLst>
          </p:cNvPr>
          <p:cNvPicPr>
            <a:picLocks noChangeAspect="1"/>
          </p:cNvPicPr>
          <p:nvPr/>
        </p:nvPicPr>
        <p:blipFill>
          <a:blip r:embed="rId9"/>
          <a:stretch>
            <a:fillRect/>
          </a:stretch>
        </p:blipFill>
        <p:spPr>
          <a:xfrm>
            <a:off x="9062602" y="2202030"/>
            <a:ext cx="2565518" cy="1950172"/>
          </a:xfrm>
          <a:prstGeom prst="rect">
            <a:avLst/>
          </a:prstGeom>
        </p:spPr>
      </p:pic>
      <p:pic>
        <p:nvPicPr>
          <p:cNvPr id="20" name="Picture 19">
            <a:extLst>
              <a:ext uri="{FF2B5EF4-FFF2-40B4-BE49-F238E27FC236}">
                <a16:creationId xmlns:a16="http://schemas.microsoft.com/office/drawing/2014/main" id="{9A07C92D-864E-CE91-7FC1-C97F4E2E4F8F}"/>
              </a:ext>
            </a:extLst>
          </p:cNvPr>
          <p:cNvPicPr>
            <a:picLocks noChangeAspect="1"/>
          </p:cNvPicPr>
          <p:nvPr/>
        </p:nvPicPr>
        <p:blipFill>
          <a:blip r:embed="rId10"/>
          <a:stretch>
            <a:fillRect/>
          </a:stretch>
        </p:blipFill>
        <p:spPr>
          <a:xfrm>
            <a:off x="292217" y="2447825"/>
            <a:ext cx="2945934" cy="1458583"/>
          </a:xfrm>
          <a:prstGeom prst="rect">
            <a:avLst/>
          </a:prstGeom>
        </p:spPr>
      </p:pic>
      <p:pic>
        <p:nvPicPr>
          <p:cNvPr id="22" name="Picture 21">
            <a:extLst>
              <a:ext uri="{FF2B5EF4-FFF2-40B4-BE49-F238E27FC236}">
                <a16:creationId xmlns:a16="http://schemas.microsoft.com/office/drawing/2014/main" id="{52C7BC73-3FD2-9E10-FD71-8EF052DE2130}"/>
              </a:ext>
            </a:extLst>
          </p:cNvPr>
          <p:cNvPicPr>
            <a:picLocks noChangeAspect="1"/>
          </p:cNvPicPr>
          <p:nvPr/>
        </p:nvPicPr>
        <p:blipFill>
          <a:blip r:embed="rId11"/>
          <a:stretch>
            <a:fillRect/>
          </a:stretch>
        </p:blipFill>
        <p:spPr>
          <a:xfrm>
            <a:off x="7537660" y="5075567"/>
            <a:ext cx="3401583" cy="1667573"/>
          </a:xfrm>
          <a:prstGeom prst="rect">
            <a:avLst/>
          </a:prstGeom>
        </p:spPr>
      </p:pic>
    </p:spTree>
    <p:extLst>
      <p:ext uri="{BB962C8B-B14F-4D97-AF65-F5344CB8AC3E}">
        <p14:creationId xmlns:p14="http://schemas.microsoft.com/office/powerpoint/2010/main" val="19748332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55A98-BB84-8902-F779-AA3E4FF5845B}"/>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790AD5EC-E2D2-34E0-5E0D-C54250438B17}"/>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816CA517-84DD-AD93-F599-BAB3E91EBC50}"/>
              </a:ext>
            </a:extLst>
          </p:cNvPr>
          <p:cNvPicPr>
            <a:picLocks noChangeAspect="1"/>
          </p:cNvPicPr>
          <p:nvPr/>
        </p:nvPicPr>
        <p:blipFill>
          <a:blip r:embed="rId2"/>
          <a:stretch>
            <a:fillRect/>
          </a:stretch>
        </p:blipFill>
        <p:spPr>
          <a:xfrm>
            <a:off x="11189170" y="5938829"/>
            <a:ext cx="877900" cy="829128"/>
          </a:xfrm>
          <a:prstGeom prst="rect">
            <a:avLst/>
          </a:prstGeom>
        </p:spPr>
      </p:pic>
      <p:sp>
        <p:nvSpPr>
          <p:cNvPr id="4" name="Title 1">
            <a:extLst>
              <a:ext uri="{FF2B5EF4-FFF2-40B4-BE49-F238E27FC236}">
                <a16:creationId xmlns:a16="http://schemas.microsoft.com/office/drawing/2014/main" id="{AB5CDAA5-D0E9-2136-9552-3CF708255389}"/>
              </a:ext>
            </a:extLst>
          </p:cNvPr>
          <p:cNvSpPr>
            <a:spLocks noGrp="1"/>
          </p:cNvSpPr>
          <p:nvPr>
            <p:ph type="title"/>
          </p:nvPr>
        </p:nvSpPr>
        <p:spPr>
          <a:xfrm>
            <a:off x="3343012" y="365125"/>
            <a:ext cx="8010788" cy="1325563"/>
          </a:xfrm>
        </p:spPr>
        <p:txBody>
          <a:bodyPr>
            <a:normAutofit/>
          </a:bodyPr>
          <a:lstStyle/>
          <a:p>
            <a:pPr algn="ctr"/>
            <a:r>
              <a:rPr lang="en-GB" sz="7200">
                <a:latin typeface="Aptos Black" panose="020B0004020202020204" pitchFamily="34" charset="0"/>
              </a:rPr>
              <a:t>Gemini notebook</a:t>
            </a:r>
          </a:p>
        </p:txBody>
      </p:sp>
      <p:pic>
        <p:nvPicPr>
          <p:cNvPr id="11" name="Picture 10">
            <a:extLst>
              <a:ext uri="{FF2B5EF4-FFF2-40B4-BE49-F238E27FC236}">
                <a16:creationId xmlns:a16="http://schemas.microsoft.com/office/drawing/2014/main" id="{CA60B614-DB56-DFA9-EA79-B7889067E32E}"/>
              </a:ext>
            </a:extLst>
          </p:cNvPr>
          <p:cNvPicPr>
            <a:picLocks noChangeAspect="1"/>
          </p:cNvPicPr>
          <p:nvPr/>
        </p:nvPicPr>
        <p:blipFill>
          <a:blip r:embed="rId3"/>
          <a:stretch>
            <a:fillRect/>
          </a:stretch>
        </p:blipFill>
        <p:spPr>
          <a:xfrm>
            <a:off x="618688" y="705483"/>
            <a:ext cx="1946973" cy="719933"/>
          </a:xfrm>
          <a:prstGeom prst="rect">
            <a:avLst/>
          </a:prstGeom>
        </p:spPr>
      </p:pic>
      <p:pic>
        <p:nvPicPr>
          <p:cNvPr id="9" name="Picture 8">
            <a:extLst>
              <a:ext uri="{FF2B5EF4-FFF2-40B4-BE49-F238E27FC236}">
                <a16:creationId xmlns:a16="http://schemas.microsoft.com/office/drawing/2014/main" id="{9BFD9C43-CE87-0426-C5BB-D1DB6C7BE76A}"/>
              </a:ext>
            </a:extLst>
          </p:cNvPr>
          <p:cNvPicPr>
            <a:picLocks noChangeAspect="1"/>
          </p:cNvPicPr>
          <p:nvPr/>
        </p:nvPicPr>
        <p:blipFill>
          <a:blip r:embed="rId4"/>
          <a:stretch>
            <a:fillRect/>
          </a:stretch>
        </p:blipFill>
        <p:spPr>
          <a:xfrm>
            <a:off x="736546" y="4497425"/>
            <a:ext cx="1983172" cy="1983172"/>
          </a:xfrm>
          <a:prstGeom prst="rect">
            <a:avLst/>
          </a:prstGeom>
        </p:spPr>
      </p:pic>
      <p:sp>
        <p:nvSpPr>
          <p:cNvPr id="21" name="TextBox 20">
            <a:extLst>
              <a:ext uri="{FF2B5EF4-FFF2-40B4-BE49-F238E27FC236}">
                <a16:creationId xmlns:a16="http://schemas.microsoft.com/office/drawing/2014/main" id="{3DC7F0FA-BF7F-1F4C-7FF6-807FEFBB88FA}"/>
              </a:ext>
            </a:extLst>
          </p:cNvPr>
          <p:cNvSpPr txBox="1"/>
          <p:nvPr/>
        </p:nvSpPr>
        <p:spPr>
          <a:xfrm>
            <a:off x="570412" y="1467918"/>
            <a:ext cx="2149306" cy="646331"/>
          </a:xfrm>
          <a:prstGeom prst="rect">
            <a:avLst/>
          </a:prstGeom>
          <a:noFill/>
        </p:spPr>
        <p:txBody>
          <a:bodyPr wrap="none" rtlCol="0">
            <a:spAutoFit/>
          </a:bodyPr>
          <a:lstStyle/>
          <a:p>
            <a:r>
              <a:rPr lang="en-GB" sz="3600">
                <a:solidFill>
                  <a:schemeClr val="bg1"/>
                </a:solidFill>
              </a:rPr>
              <a:t>Notebook</a:t>
            </a:r>
          </a:p>
        </p:txBody>
      </p:sp>
      <p:sp>
        <p:nvSpPr>
          <p:cNvPr id="2" name="TextBox 1">
            <a:extLst>
              <a:ext uri="{FF2B5EF4-FFF2-40B4-BE49-F238E27FC236}">
                <a16:creationId xmlns:a16="http://schemas.microsoft.com/office/drawing/2014/main" id="{5A6B49B0-19E5-DE7B-452B-F4E11428C438}"/>
              </a:ext>
            </a:extLst>
          </p:cNvPr>
          <p:cNvSpPr txBox="1"/>
          <p:nvPr/>
        </p:nvSpPr>
        <p:spPr>
          <a:xfrm>
            <a:off x="3600275" y="1737360"/>
            <a:ext cx="7948568" cy="44805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800"/>
              </a:spcAft>
            </a:pPr>
            <a:r>
              <a:rPr sz="2000">
                <a:latin typeface="Aptos"/>
              </a:rPr>
              <a:t>New notebook. Add your training PDF, or the site's backup.</a:t>
            </a:r>
          </a:p>
          <a:p>
            <a:pPr>
              <a:spcAft>
                <a:spcPts val="800"/>
              </a:spcAft>
            </a:pPr>
            <a:r>
              <a:rPr sz="2000">
                <a:latin typeface="Aptos"/>
              </a:rPr>
              <a:t>Slide deck: paste Cardiff_Brand_SKILL.md as the description.</a:t>
            </a:r>
          </a:p>
          <a:p>
            <a:pPr>
              <a:spcAft>
                <a:spcPts val="800"/>
              </a:spcAft>
            </a:pPr>
            <a:r>
              <a:rPr sz="2000">
                <a:latin typeface="Aptos"/>
              </a:rPr>
              <a:t>Generate. Notebook builds the deck to the skill.</a:t>
            </a:r>
          </a:p>
          <a:p>
            <a:pPr>
              <a:spcAft>
                <a:spcPts val="800"/>
              </a:spcAft>
            </a:pPr>
            <a:r>
              <a:rPr sz="2000">
                <a:solidFill>
                  <a:srgbClr val="59595B"/>
                </a:solidFill>
                <a:latin typeface="Aptos"/>
              </a:rPr>
              <a:t>[OPTIONAL] Second run with TheMattsBrandSkill.md. Compare.</a:t>
            </a:r>
          </a:p>
          <a:p>
            <a:pPr>
              <a:spcAft>
                <a:spcPts val="800"/>
              </a:spcAft>
            </a:pPr>
            <a:r>
              <a:rPr sz="2000">
                <a:latin typeface="Aptos"/>
              </a:rPr>
              <a:t>Responsible AI: internal only. Public-facing is a human job.</a:t>
            </a:r>
          </a:p>
          <a:p>
            <a:pPr>
              <a:spcBef>
                <a:spcPts val="1000"/>
              </a:spcBef>
            </a:pPr>
            <a:r>
              <a:rPr sz="1400">
                <a:solidFill>
                  <a:srgbClr val="59595B"/>
                </a:solidFill>
                <a:latin typeface="Aptos"/>
              </a:rPr>
              <a:t>Website: Exercise 05   https://wmgmm.github.io/part2/</a:t>
            </a:r>
          </a:p>
        </p:txBody>
      </p:sp>
    </p:spTree>
    <p:extLst>
      <p:ext uri="{BB962C8B-B14F-4D97-AF65-F5344CB8AC3E}">
        <p14:creationId xmlns:p14="http://schemas.microsoft.com/office/powerpoint/2010/main" val="278031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E345E-94B5-F8EF-BB43-9FC5303ADEA4}"/>
            </a:ext>
          </a:extLst>
        </p:cNvPr>
        <p:cNvGrpSpPr/>
        <p:nvPr/>
      </p:nvGrpSpPr>
      <p:grpSpPr>
        <a:xfrm>
          <a:off x="0" y="0"/>
          <a:ext cx="0" cy="0"/>
          <a:chOff x="0" y="0"/>
          <a:chExt cx="0" cy="0"/>
        </a:xfrm>
      </p:grpSpPr>
      <p:pic>
        <p:nvPicPr>
          <p:cNvPr id="14" name="Picture 2" descr="Light Blue Chrome Cog Wheel Clip Art at Clker.com - vector clip art online,  royalty free &amp; public domain">
            <a:extLst>
              <a:ext uri="{FF2B5EF4-FFF2-40B4-BE49-F238E27FC236}">
                <a16:creationId xmlns:a16="http://schemas.microsoft.com/office/drawing/2014/main" id="{9EF09D79-D413-5759-5FC4-7E275AA2E8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1906" y="3630690"/>
            <a:ext cx="2877424" cy="294648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F8A95095-A340-0332-F535-4808B7693B11}"/>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ECDC3128-B718-590D-A79A-7F435926DD52}"/>
              </a:ext>
            </a:extLst>
          </p:cNvPr>
          <p:cNvPicPr>
            <a:picLocks noChangeAspect="1"/>
          </p:cNvPicPr>
          <p:nvPr/>
        </p:nvPicPr>
        <p:blipFill>
          <a:blip r:embed="rId3"/>
          <a:stretch>
            <a:fillRect/>
          </a:stretch>
        </p:blipFill>
        <p:spPr>
          <a:xfrm>
            <a:off x="11189170" y="5938829"/>
            <a:ext cx="877900" cy="829128"/>
          </a:xfrm>
          <a:prstGeom prst="rect">
            <a:avLst/>
          </a:prstGeom>
        </p:spPr>
      </p:pic>
      <p:sp>
        <p:nvSpPr>
          <p:cNvPr id="4" name="Title 1">
            <a:extLst>
              <a:ext uri="{FF2B5EF4-FFF2-40B4-BE49-F238E27FC236}">
                <a16:creationId xmlns:a16="http://schemas.microsoft.com/office/drawing/2014/main" id="{6A4BED62-01EA-0BE0-895E-7E4D7C774121}"/>
              </a:ext>
            </a:extLst>
          </p:cNvPr>
          <p:cNvSpPr>
            <a:spLocks noGrp="1"/>
          </p:cNvSpPr>
          <p:nvPr>
            <p:ph type="title"/>
          </p:nvPr>
        </p:nvSpPr>
        <p:spPr>
          <a:xfrm>
            <a:off x="3343012" y="365125"/>
            <a:ext cx="8010788" cy="4892675"/>
          </a:xfrm>
        </p:spPr>
        <p:txBody>
          <a:bodyPr>
            <a:normAutofit/>
          </a:bodyPr>
          <a:lstStyle/>
          <a:p>
            <a:pPr algn="ctr"/>
            <a:r>
              <a:rPr lang="en-GB" sz="7200" dirty="0">
                <a:latin typeface="Aptos Black" panose="020B0004020202020204" pitchFamily="34" charset="0"/>
              </a:rPr>
              <a:t>How have </a:t>
            </a:r>
            <a:r>
              <a:rPr lang="en-GB" sz="7200" i="1" dirty="0">
                <a:latin typeface="Aptos Black" panose="020B0004020202020204" pitchFamily="34" charset="0"/>
              </a:rPr>
              <a:t>your</a:t>
            </a:r>
            <a:r>
              <a:rPr lang="en-GB" sz="7200" dirty="0">
                <a:latin typeface="Aptos Black" panose="020B0004020202020204" pitchFamily="34" charset="0"/>
              </a:rPr>
              <a:t> experiments been going?</a:t>
            </a:r>
          </a:p>
        </p:txBody>
      </p:sp>
      <p:pic>
        <p:nvPicPr>
          <p:cNvPr id="5" name="Picture 4">
            <a:extLst>
              <a:ext uri="{FF2B5EF4-FFF2-40B4-BE49-F238E27FC236}">
                <a16:creationId xmlns:a16="http://schemas.microsoft.com/office/drawing/2014/main" id="{2803B301-2146-9FC8-463C-A7D5EFFDC476}"/>
              </a:ext>
            </a:extLst>
          </p:cNvPr>
          <p:cNvPicPr>
            <a:picLocks noChangeAspect="1"/>
          </p:cNvPicPr>
          <p:nvPr/>
        </p:nvPicPr>
        <p:blipFill>
          <a:blip r:embed="rId4"/>
          <a:stretch>
            <a:fillRect/>
          </a:stretch>
        </p:blipFill>
        <p:spPr>
          <a:xfrm>
            <a:off x="506004" y="560583"/>
            <a:ext cx="2371550" cy="5736833"/>
          </a:xfrm>
          <a:prstGeom prst="rect">
            <a:avLst/>
          </a:prstGeom>
        </p:spPr>
      </p:pic>
      <p:pic>
        <p:nvPicPr>
          <p:cNvPr id="8" name="Picture 2" descr="Light Blue Chrome Cog Wheel Clip Art at Clker.com - vector clip art online,  royalty free &amp; public domain">
            <a:extLst>
              <a:ext uri="{FF2B5EF4-FFF2-40B4-BE49-F238E27FC236}">
                <a16:creationId xmlns:a16="http://schemas.microsoft.com/office/drawing/2014/main" id="{E9C03D62-81BD-90F9-0F84-F86D45C8CA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1589" y="3881235"/>
            <a:ext cx="1596107" cy="163441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Light Blue Chrome Cog Wheel Clip Art at Clker.com - vector clip art online,  royalty free &amp; public domain">
            <a:extLst>
              <a:ext uri="{FF2B5EF4-FFF2-40B4-BE49-F238E27FC236}">
                <a16:creationId xmlns:a16="http://schemas.microsoft.com/office/drawing/2014/main" id="{E2E506B7-AEBB-0C65-3A18-72B9C5C0E2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5491" y="4486852"/>
            <a:ext cx="2009369" cy="205759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Light Blue Chrome Cog Wheel Clip Art at Clker.com - vector clip art online,  royalty free &amp; public domain">
            <a:extLst>
              <a:ext uri="{FF2B5EF4-FFF2-40B4-BE49-F238E27FC236}">
                <a16:creationId xmlns:a16="http://schemas.microsoft.com/office/drawing/2014/main" id="{28C16DA8-B6A9-7C55-DFDB-F561933222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4599" y="3043484"/>
            <a:ext cx="1409539" cy="144336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Light Blue Chrome Cog Wheel Clip Art at Clker.com - vector clip art online,  royalty free &amp; public domain">
            <a:extLst>
              <a:ext uri="{FF2B5EF4-FFF2-40B4-BE49-F238E27FC236}">
                <a16:creationId xmlns:a16="http://schemas.microsoft.com/office/drawing/2014/main" id="{965413C7-560F-97C3-BA25-781C276C4D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1789" y="2631938"/>
            <a:ext cx="975344" cy="998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43562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CCD03-712E-005B-E608-CEC5E249D77A}"/>
            </a:ext>
          </a:extLst>
        </p:cNvPr>
        <p:cNvGrpSpPr/>
        <p:nvPr/>
      </p:nvGrpSpPr>
      <p:grpSpPr>
        <a:xfrm>
          <a:off x="0" y="0"/>
          <a:ext cx="0" cy="0"/>
          <a:chOff x="0" y="0"/>
          <a:chExt cx="0" cy="0"/>
        </a:xfrm>
      </p:grpSpPr>
      <p:sp>
        <p:nvSpPr>
          <p:cNvPr id="56" name="Shape 19">
            <a:extLst>
              <a:ext uri="{FF2B5EF4-FFF2-40B4-BE49-F238E27FC236}">
                <a16:creationId xmlns:a16="http://schemas.microsoft.com/office/drawing/2014/main" id="{2BC2F440-A649-D435-829A-B490D3F72F93}"/>
              </a:ext>
            </a:extLst>
          </p:cNvPr>
          <p:cNvSpPr/>
          <p:nvPr/>
        </p:nvSpPr>
        <p:spPr>
          <a:xfrm>
            <a:off x="713232" y="6053328"/>
            <a:ext cx="10643616" cy="603504"/>
          </a:xfrm>
          <a:prstGeom prst="roundRect">
            <a:avLst/>
          </a:prstGeom>
          <a:solidFill>
            <a:srgbClr val="780100"/>
          </a:solidFill>
          <a:ln w="12700">
            <a:solidFill>
              <a:srgbClr val="12324A"/>
            </a:solidFill>
            <a:prstDash val="solid"/>
          </a:ln>
        </p:spPr>
        <p:txBody>
          <a:bodyPr/>
          <a:lstStyle/>
          <a:p>
            <a:endParaRPr lang="en-GB"/>
          </a:p>
        </p:txBody>
      </p:sp>
      <p:pic>
        <p:nvPicPr>
          <p:cNvPr id="35" name="Picture 2" descr="Light Blue Chrome Cog Wheel Clip Art at Clker.com - vector clip art online,  royalty free &amp; public domain">
            <a:extLst>
              <a:ext uri="{FF2B5EF4-FFF2-40B4-BE49-F238E27FC236}">
                <a16:creationId xmlns:a16="http://schemas.microsoft.com/office/drawing/2014/main" id="{65D68B81-B2D1-BC34-72FC-B4D7C8C1BE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7131" y="4058442"/>
            <a:ext cx="2009369" cy="205759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Light Blue Chrome Cog Wheel Clip Art at Clker.com - vector clip art online,  royalty free &amp; public domain">
            <a:extLst>
              <a:ext uri="{FF2B5EF4-FFF2-40B4-BE49-F238E27FC236}">
                <a16:creationId xmlns:a16="http://schemas.microsoft.com/office/drawing/2014/main" id="{2A5E3216-7A1B-49E0-614C-D3B59D7A57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1291" y="2513685"/>
            <a:ext cx="2009369" cy="2057594"/>
          </a:xfrm>
          <a:prstGeom prst="rect">
            <a:avLst/>
          </a:prstGeom>
          <a:noFill/>
          <a:extLst>
            <a:ext uri="{909E8E84-426E-40DD-AFC4-6F175D3DCCD1}">
              <a14:hiddenFill xmlns:a14="http://schemas.microsoft.com/office/drawing/2010/main">
                <a:solidFill>
                  <a:srgbClr val="FFFFFF"/>
                </a:solidFill>
              </a14:hiddenFill>
            </a:ext>
          </a:extLst>
        </p:spPr>
      </p:pic>
      <p:sp>
        <p:nvSpPr>
          <p:cNvPr id="5" name="Shape 7">
            <a:extLst>
              <a:ext uri="{FF2B5EF4-FFF2-40B4-BE49-F238E27FC236}">
                <a16:creationId xmlns:a16="http://schemas.microsoft.com/office/drawing/2014/main" id="{E4755E2D-2B89-00A2-90C8-A63258D6650A}"/>
              </a:ext>
            </a:extLst>
          </p:cNvPr>
          <p:cNvSpPr/>
          <p:nvPr/>
        </p:nvSpPr>
        <p:spPr>
          <a:xfrm>
            <a:off x="756918" y="1157681"/>
            <a:ext cx="4251960" cy="5280870"/>
          </a:xfrm>
          <a:prstGeom prst="roundRect">
            <a:avLst/>
          </a:prstGeom>
          <a:solidFill>
            <a:srgbClr val="EAF3F7"/>
          </a:solidFill>
          <a:ln w="17780">
            <a:solidFill>
              <a:srgbClr val="247BA0"/>
            </a:solidFill>
            <a:prstDash val="solid"/>
          </a:ln>
        </p:spPr>
        <p:txBody>
          <a:bodyPr/>
          <a:lstStyle/>
          <a:p>
            <a:endParaRPr lang="en-GB">
              <a:solidFill>
                <a:prstClr val="black"/>
              </a:solidFill>
              <a:latin typeface="Aptos" panose="02110004020202020204"/>
            </a:endParaRPr>
          </a:p>
        </p:txBody>
      </p:sp>
      <p:sp>
        <p:nvSpPr>
          <p:cNvPr id="6" name="Text 8">
            <a:extLst>
              <a:ext uri="{FF2B5EF4-FFF2-40B4-BE49-F238E27FC236}">
                <a16:creationId xmlns:a16="http://schemas.microsoft.com/office/drawing/2014/main" id="{C6B203C9-1B5B-D32B-4BA9-249BB8E65D5E}"/>
              </a:ext>
            </a:extLst>
          </p:cNvPr>
          <p:cNvSpPr/>
          <p:nvPr/>
        </p:nvSpPr>
        <p:spPr>
          <a:xfrm>
            <a:off x="1712871" y="1556179"/>
            <a:ext cx="3813048" cy="164592"/>
          </a:xfrm>
          <a:prstGeom prst="rect">
            <a:avLst/>
          </a:prstGeom>
          <a:noFill/>
          <a:ln/>
        </p:spPr>
        <p:txBody>
          <a:bodyPr wrap="square" lIns="0" tIns="0" rIns="0" bIns="0" rtlCol="0" anchor="ctr"/>
          <a:lstStyle/>
          <a:p>
            <a:r>
              <a:rPr lang="en-US" sz="2800" b="1" kern="0" spc="100" dirty="0">
                <a:solidFill>
                  <a:srgbClr val="247BA0"/>
                </a:solidFill>
                <a:latin typeface="Aptos" panose="02110004020202020204"/>
              </a:rPr>
              <a:t>INDIVIDUAL EXPERIMENT</a:t>
            </a:r>
            <a:endParaRPr lang="en-US" sz="2800" dirty="0">
              <a:solidFill>
                <a:prstClr val="black"/>
              </a:solidFill>
              <a:latin typeface="Aptos" panose="02110004020202020204"/>
            </a:endParaRPr>
          </a:p>
        </p:txBody>
      </p:sp>
      <p:sp>
        <p:nvSpPr>
          <p:cNvPr id="7" name="Text 9">
            <a:extLst>
              <a:ext uri="{FF2B5EF4-FFF2-40B4-BE49-F238E27FC236}">
                <a16:creationId xmlns:a16="http://schemas.microsoft.com/office/drawing/2014/main" id="{415363A8-A77D-92CB-7C4B-2249E7077595}"/>
              </a:ext>
            </a:extLst>
          </p:cNvPr>
          <p:cNvSpPr/>
          <p:nvPr/>
        </p:nvSpPr>
        <p:spPr>
          <a:xfrm>
            <a:off x="810763" y="2117089"/>
            <a:ext cx="3813048" cy="2726422"/>
          </a:xfrm>
          <a:prstGeom prst="rect">
            <a:avLst/>
          </a:prstGeom>
          <a:noFill/>
          <a:ln/>
        </p:spPr>
        <p:txBody>
          <a:bodyPr wrap="square" lIns="0" tIns="0" rIns="0" bIns="0" rtlCol="0" anchor="ctr"/>
          <a:lstStyle/>
          <a:p>
            <a:pPr algn="ctr"/>
            <a:r>
              <a:rPr lang="en-US" sz="2800" b="1" dirty="0">
                <a:solidFill>
                  <a:srgbClr val="12324A"/>
                </a:solidFill>
                <a:latin typeface="Aptos" panose="02110004020202020204"/>
              </a:rPr>
              <a:t>Person</a:t>
            </a:r>
          </a:p>
          <a:p>
            <a:pPr algn="ctr"/>
            <a:endParaRPr lang="en-US" b="1" dirty="0">
              <a:solidFill>
                <a:srgbClr val="12324A"/>
              </a:solidFill>
              <a:latin typeface="Aptos" panose="02110004020202020204"/>
            </a:endParaRPr>
          </a:p>
          <a:p>
            <a:pPr algn="ctr"/>
            <a:r>
              <a:rPr lang="en-US" b="1" dirty="0">
                <a:solidFill>
                  <a:srgbClr val="12324A"/>
                </a:solidFill>
                <a:latin typeface="Aptos" panose="02110004020202020204"/>
              </a:rPr>
              <a:t> </a:t>
            </a:r>
          </a:p>
          <a:p>
            <a:pPr algn="ctr"/>
            <a:r>
              <a:rPr lang="en-US" sz="2800" b="1" dirty="0">
                <a:solidFill>
                  <a:srgbClr val="12324A"/>
                </a:solidFill>
                <a:latin typeface="Aptos" panose="02110004020202020204"/>
              </a:rPr>
              <a:t>Prompt</a:t>
            </a:r>
          </a:p>
          <a:p>
            <a:pPr algn="ctr"/>
            <a:r>
              <a:rPr lang="en-US" b="1" dirty="0">
                <a:solidFill>
                  <a:srgbClr val="12324A"/>
                </a:solidFill>
                <a:latin typeface="Aptos" panose="02110004020202020204"/>
              </a:rPr>
              <a:t> </a:t>
            </a:r>
          </a:p>
          <a:p>
            <a:pPr algn="ctr"/>
            <a:endParaRPr lang="en-US" b="1" dirty="0">
              <a:solidFill>
                <a:srgbClr val="12324A"/>
              </a:solidFill>
              <a:latin typeface="Aptos" panose="02110004020202020204"/>
            </a:endParaRPr>
          </a:p>
          <a:p>
            <a:pPr algn="ctr"/>
            <a:r>
              <a:rPr lang="en-US" sz="2800" b="1" dirty="0">
                <a:solidFill>
                  <a:srgbClr val="12324A"/>
                </a:solidFill>
                <a:latin typeface="Aptos" panose="02110004020202020204"/>
              </a:rPr>
              <a:t>Output</a:t>
            </a:r>
            <a:endParaRPr lang="en-US" sz="2800" dirty="0">
              <a:solidFill>
                <a:prstClr val="black"/>
              </a:solidFill>
              <a:latin typeface="Aptos" panose="02110004020202020204"/>
            </a:endParaRPr>
          </a:p>
        </p:txBody>
      </p:sp>
      <p:sp>
        <p:nvSpPr>
          <p:cNvPr id="8" name="Text 10">
            <a:extLst>
              <a:ext uri="{FF2B5EF4-FFF2-40B4-BE49-F238E27FC236}">
                <a16:creationId xmlns:a16="http://schemas.microsoft.com/office/drawing/2014/main" id="{D1D63A59-927A-98AB-3ABA-4C23F4E2D7E8}"/>
              </a:ext>
            </a:extLst>
          </p:cNvPr>
          <p:cNvSpPr/>
          <p:nvPr/>
        </p:nvSpPr>
        <p:spPr>
          <a:xfrm>
            <a:off x="1029365" y="5102352"/>
            <a:ext cx="3813048" cy="872540"/>
          </a:xfrm>
          <a:prstGeom prst="rect">
            <a:avLst/>
          </a:prstGeom>
          <a:noFill/>
          <a:ln/>
        </p:spPr>
        <p:txBody>
          <a:bodyPr wrap="square" lIns="254" tIns="254" rIns="254" bIns="254" rtlCol="0" anchor="ctr"/>
          <a:lstStyle/>
          <a:p>
            <a:pPr algn="ctr"/>
            <a:r>
              <a:rPr lang="en-US" dirty="0">
                <a:solidFill>
                  <a:srgbClr val="1F2933"/>
                </a:solidFill>
                <a:latin typeface="Aptos" panose="02110004020202020204"/>
              </a:rPr>
              <a:t>Useful, but variable. Different inputs, checks and judgement produce different results.</a:t>
            </a:r>
            <a:endParaRPr lang="en-US" dirty="0">
              <a:solidFill>
                <a:prstClr val="black"/>
              </a:solidFill>
              <a:latin typeface="Aptos" panose="02110004020202020204"/>
            </a:endParaRPr>
          </a:p>
        </p:txBody>
      </p:sp>
      <p:sp>
        <p:nvSpPr>
          <p:cNvPr id="10" name="Shape 12">
            <a:extLst>
              <a:ext uri="{FF2B5EF4-FFF2-40B4-BE49-F238E27FC236}">
                <a16:creationId xmlns:a16="http://schemas.microsoft.com/office/drawing/2014/main" id="{3C75A648-7080-762D-C79F-3B064B48A9DE}"/>
              </a:ext>
            </a:extLst>
          </p:cNvPr>
          <p:cNvSpPr/>
          <p:nvPr/>
        </p:nvSpPr>
        <p:spPr>
          <a:xfrm>
            <a:off x="6412987" y="1157681"/>
            <a:ext cx="4983480" cy="5280870"/>
          </a:xfrm>
          <a:prstGeom prst="roundRect">
            <a:avLst/>
          </a:prstGeom>
          <a:solidFill>
            <a:srgbClr val="F1F3F5"/>
          </a:solidFill>
          <a:ln w="17780">
            <a:solidFill>
              <a:srgbClr val="A51C30"/>
            </a:solidFill>
            <a:prstDash val="solid"/>
          </a:ln>
        </p:spPr>
        <p:txBody>
          <a:bodyPr/>
          <a:lstStyle/>
          <a:p>
            <a:endParaRPr lang="en-GB" dirty="0">
              <a:solidFill>
                <a:prstClr val="black"/>
              </a:solidFill>
              <a:latin typeface="Aptos" panose="02110004020202020204"/>
            </a:endParaRPr>
          </a:p>
        </p:txBody>
      </p:sp>
      <p:sp>
        <p:nvSpPr>
          <p:cNvPr id="11" name="Text 13">
            <a:extLst>
              <a:ext uri="{FF2B5EF4-FFF2-40B4-BE49-F238E27FC236}">
                <a16:creationId xmlns:a16="http://schemas.microsoft.com/office/drawing/2014/main" id="{B0EA381F-7A4E-C85A-A686-A2CBC8A7804B}"/>
              </a:ext>
            </a:extLst>
          </p:cNvPr>
          <p:cNvSpPr/>
          <p:nvPr/>
        </p:nvSpPr>
        <p:spPr>
          <a:xfrm>
            <a:off x="6723184" y="1638475"/>
            <a:ext cx="4544568" cy="164592"/>
          </a:xfrm>
          <a:prstGeom prst="rect">
            <a:avLst/>
          </a:prstGeom>
          <a:noFill/>
          <a:ln/>
        </p:spPr>
        <p:txBody>
          <a:bodyPr wrap="square" lIns="0" tIns="0" rIns="0" bIns="0" rtlCol="0" anchor="ctr"/>
          <a:lstStyle/>
          <a:p>
            <a:r>
              <a:rPr lang="en-US" sz="2800" b="1" kern="0" spc="100" dirty="0">
                <a:solidFill>
                  <a:srgbClr val="A51C30"/>
                </a:solidFill>
                <a:latin typeface="Aptos" panose="02110004020202020204"/>
              </a:rPr>
              <a:t>GOVERNED WORKFLOW</a:t>
            </a:r>
            <a:endParaRPr lang="en-US" sz="2800" dirty="0">
              <a:solidFill>
                <a:prstClr val="black"/>
              </a:solidFill>
              <a:latin typeface="Aptos" panose="02110004020202020204"/>
            </a:endParaRPr>
          </a:p>
        </p:txBody>
      </p:sp>
      <p:sp>
        <p:nvSpPr>
          <p:cNvPr id="12" name="Text 14">
            <a:extLst>
              <a:ext uri="{FF2B5EF4-FFF2-40B4-BE49-F238E27FC236}">
                <a16:creationId xmlns:a16="http://schemas.microsoft.com/office/drawing/2014/main" id="{22D61C3F-0A07-1A26-8169-1BD4D0E9F6B5}"/>
              </a:ext>
            </a:extLst>
          </p:cNvPr>
          <p:cNvSpPr/>
          <p:nvPr/>
        </p:nvSpPr>
        <p:spPr>
          <a:xfrm>
            <a:off x="6647683" y="1979802"/>
            <a:ext cx="4544568" cy="3275901"/>
          </a:xfrm>
          <a:prstGeom prst="rect">
            <a:avLst/>
          </a:prstGeom>
          <a:noFill/>
          <a:ln/>
        </p:spPr>
        <p:txBody>
          <a:bodyPr wrap="square" lIns="0" tIns="0" rIns="0" bIns="0" rtlCol="0" anchor="ctr"/>
          <a:lstStyle/>
          <a:p>
            <a:pPr algn="ctr"/>
            <a:r>
              <a:rPr lang="en-US" sz="2000" b="1" dirty="0">
                <a:solidFill>
                  <a:srgbClr val="12324A"/>
                </a:solidFill>
                <a:latin typeface="Aptos" panose="02110004020202020204"/>
              </a:rPr>
              <a:t>People</a:t>
            </a:r>
          </a:p>
          <a:p>
            <a:pPr algn="ctr"/>
            <a:r>
              <a:rPr lang="en-US" sz="2000" b="1" dirty="0">
                <a:solidFill>
                  <a:srgbClr val="12324A"/>
                </a:solidFill>
                <a:latin typeface="Aptos" panose="02110004020202020204"/>
              </a:rPr>
              <a:t> </a:t>
            </a:r>
          </a:p>
          <a:p>
            <a:pPr algn="ctr"/>
            <a:r>
              <a:rPr lang="en-US" sz="2000" b="1" dirty="0">
                <a:solidFill>
                  <a:srgbClr val="12324A"/>
                </a:solidFill>
                <a:latin typeface="Aptos" panose="02110004020202020204"/>
              </a:rPr>
              <a:t>Information </a:t>
            </a:r>
          </a:p>
          <a:p>
            <a:pPr algn="ctr"/>
            <a:endParaRPr lang="en-US" sz="2000" b="1" dirty="0">
              <a:solidFill>
                <a:srgbClr val="12324A"/>
              </a:solidFill>
              <a:latin typeface="Aptos" panose="02110004020202020204"/>
            </a:endParaRPr>
          </a:p>
          <a:p>
            <a:pPr algn="ctr"/>
            <a:r>
              <a:rPr lang="en-US" sz="2000" b="1" dirty="0">
                <a:solidFill>
                  <a:srgbClr val="12324A"/>
                </a:solidFill>
                <a:latin typeface="Aptos" panose="02110004020202020204"/>
              </a:rPr>
              <a:t>AI + tools </a:t>
            </a:r>
          </a:p>
          <a:p>
            <a:pPr algn="ctr"/>
            <a:endParaRPr lang="en-US" sz="2000" b="1" dirty="0">
              <a:solidFill>
                <a:srgbClr val="12324A"/>
              </a:solidFill>
              <a:latin typeface="Aptos" panose="02110004020202020204"/>
            </a:endParaRPr>
          </a:p>
          <a:p>
            <a:pPr algn="ctr"/>
            <a:r>
              <a:rPr lang="en-US" sz="2000" b="1" dirty="0">
                <a:solidFill>
                  <a:srgbClr val="12324A"/>
                </a:solidFill>
                <a:latin typeface="Aptos" panose="02110004020202020204"/>
              </a:rPr>
              <a:t>Human decision </a:t>
            </a:r>
          </a:p>
          <a:p>
            <a:pPr algn="ctr"/>
            <a:endParaRPr lang="en-US" sz="2000" b="1" dirty="0">
              <a:solidFill>
                <a:srgbClr val="12324A"/>
              </a:solidFill>
              <a:latin typeface="Aptos" panose="02110004020202020204"/>
            </a:endParaRPr>
          </a:p>
          <a:p>
            <a:pPr algn="ctr"/>
            <a:r>
              <a:rPr lang="en-US" sz="2000" b="1" dirty="0">
                <a:solidFill>
                  <a:srgbClr val="12324A"/>
                </a:solidFill>
                <a:latin typeface="Aptos" panose="02110004020202020204"/>
              </a:rPr>
              <a:t>Service outcome</a:t>
            </a:r>
            <a:endParaRPr lang="en-US" sz="2000" dirty="0">
              <a:solidFill>
                <a:prstClr val="black"/>
              </a:solidFill>
              <a:latin typeface="Aptos" panose="02110004020202020204"/>
            </a:endParaRPr>
          </a:p>
        </p:txBody>
      </p:sp>
      <p:sp>
        <p:nvSpPr>
          <p:cNvPr id="13" name="Text 15">
            <a:extLst>
              <a:ext uri="{FF2B5EF4-FFF2-40B4-BE49-F238E27FC236}">
                <a16:creationId xmlns:a16="http://schemas.microsoft.com/office/drawing/2014/main" id="{E3828260-EA34-19BE-E1DE-E0FCBF160047}"/>
              </a:ext>
            </a:extLst>
          </p:cNvPr>
          <p:cNvSpPr/>
          <p:nvPr/>
        </p:nvSpPr>
        <p:spPr>
          <a:xfrm>
            <a:off x="7302024" y="4863287"/>
            <a:ext cx="3497286" cy="1350670"/>
          </a:xfrm>
          <a:prstGeom prst="rect">
            <a:avLst/>
          </a:prstGeom>
          <a:noFill/>
          <a:ln/>
        </p:spPr>
        <p:txBody>
          <a:bodyPr wrap="square" lIns="254" tIns="254" rIns="254" bIns="254" rtlCol="0" anchor="ctr"/>
          <a:lstStyle/>
          <a:p>
            <a:pPr algn="ctr"/>
            <a:r>
              <a:rPr lang="en-US" dirty="0">
                <a:solidFill>
                  <a:srgbClr val="1F2933"/>
                </a:solidFill>
                <a:latin typeface="Aptos" panose="02110004020202020204"/>
              </a:rPr>
              <a:t>Repeatable, accountable and measurable.</a:t>
            </a:r>
            <a:endParaRPr lang="en-US" dirty="0">
              <a:solidFill>
                <a:prstClr val="black"/>
              </a:solidFill>
              <a:latin typeface="Aptos" panose="02110004020202020204"/>
            </a:endParaRPr>
          </a:p>
        </p:txBody>
      </p:sp>
      <p:sp>
        <p:nvSpPr>
          <p:cNvPr id="14" name="Shape 11">
            <a:extLst>
              <a:ext uri="{FF2B5EF4-FFF2-40B4-BE49-F238E27FC236}">
                <a16:creationId xmlns:a16="http://schemas.microsoft.com/office/drawing/2014/main" id="{34C8A04F-20AD-E363-4E42-60600BB1DEBE}"/>
              </a:ext>
            </a:extLst>
          </p:cNvPr>
          <p:cNvSpPr/>
          <p:nvPr/>
        </p:nvSpPr>
        <p:spPr>
          <a:xfrm rot="5400000">
            <a:off x="2541023" y="3740666"/>
            <a:ext cx="381699" cy="444617"/>
          </a:xfrm>
          <a:prstGeom prst="chevron">
            <a:avLst/>
          </a:prstGeom>
          <a:solidFill>
            <a:srgbClr val="A51C30"/>
          </a:solidFill>
          <a:ln w="12700">
            <a:solidFill>
              <a:srgbClr val="A51C30"/>
            </a:solidFill>
            <a:prstDash val="solid"/>
          </a:ln>
        </p:spPr>
        <p:txBody>
          <a:bodyPr/>
          <a:lstStyle/>
          <a:p>
            <a:endParaRPr lang="en-GB">
              <a:solidFill>
                <a:prstClr val="black"/>
              </a:solidFill>
              <a:latin typeface="Aptos" panose="02110004020202020204"/>
            </a:endParaRPr>
          </a:p>
        </p:txBody>
      </p:sp>
      <p:sp>
        <p:nvSpPr>
          <p:cNvPr id="22" name="Shape 11">
            <a:extLst>
              <a:ext uri="{FF2B5EF4-FFF2-40B4-BE49-F238E27FC236}">
                <a16:creationId xmlns:a16="http://schemas.microsoft.com/office/drawing/2014/main" id="{F3CA95A6-C1FA-8E25-F8B8-7CF091EA914D}"/>
              </a:ext>
            </a:extLst>
          </p:cNvPr>
          <p:cNvSpPr/>
          <p:nvPr/>
        </p:nvSpPr>
        <p:spPr>
          <a:xfrm rot="5400000">
            <a:off x="8797990" y="4411160"/>
            <a:ext cx="236289" cy="254942"/>
          </a:xfrm>
          <a:prstGeom prst="chevron">
            <a:avLst/>
          </a:prstGeom>
          <a:solidFill>
            <a:srgbClr val="A51C30"/>
          </a:solidFill>
          <a:ln w="12700">
            <a:solidFill>
              <a:srgbClr val="A51C30"/>
            </a:solidFill>
            <a:prstDash val="solid"/>
          </a:ln>
        </p:spPr>
        <p:txBody>
          <a:bodyPr/>
          <a:lstStyle/>
          <a:p>
            <a:endParaRPr lang="en-GB">
              <a:solidFill>
                <a:prstClr val="black"/>
              </a:solidFill>
              <a:latin typeface="Aptos" panose="02110004020202020204"/>
            </a:endParaRPr>
          </a:p>
        </p:txBody>
      </p:sp>
      <p:pic>
        <p:nvPicPr>
          <p:cNvPr id="25" name="Picture 24">
            <a:extLst>
              <a:ext uri="{FF2B5EF4-FFF2-40B4-BE49-F238E27FC236}">
                <a16:creationId xmlns:a16="http://schemas.microsoft.com/office/drawing/2014/main" id="{A33A7595-7972-6DA9-5B55-582CBDB45063}"/>
              </a:ext>
            </a:extLst>
          </p:cNvPr>
          <p:cNvPicPr>
            <a:picLocks noChangeAspect="1"/>
          </p:cNvPicPr>
          <p:nvPr/>
        </p:nvPicPr>
        <p:blipFill>
          <a:blip r:embed="rId3"/>
          <a:stretch>
            <a:fillRect/>
          </a:stretch>
        </p:blipFill>
        <p:spPr>
          <a:xfrm>
            <a:off x="8731790" y="2570985"/>
            <a:ext cx="345874" cy="335800"/>
          </a:xfrm>
          <a:prstGeom prst="rect">
            <a:avLst/>
          </a:prstGeom>
        </p:spPr>
      </p:pic>
      <p:pic>
        <p:nvPicPr>
          <p:cNvPr id="29" name="Picture 28">
            <a:extLst>
              <a:ext uri="{FF2B5EF4-FFF2-40B4-BE49-F238E27FC236}">
                <a16:creationId xmlns:a16="http://schemas.microsoft.com/office/drawing/2014/main" id="{67CE90F0-1A79-657B-2284-89597191E397}"/>
              </a:ext>
            </a:extLst>
          </p:cNvPr>
          <p:cNvPicPr>
            <a:picLocks noChangeAspect="1"/>
          </p:cNvPicPr>
          <p:nvPr/>
        </p:nvPicPr>
        <p:blipFill>
          <a:blip r:embed="rId3"/>
          <a:stretch>
            <a:fillRect/>
          </a:stretch>
        </p:blipFill>
        <p:spPr>
          <a:xfrm>
            <a:off x="8731790" y="3169666"/>
            <a:ext cx="345874" cy="335800"/>
          </a:xfrm>
          <a:prstGeom prst="rect">
            <a:avLst/>
          </a:prstGeom>
        </p:spPr>
      </p:pic>
      <p:pic>
        <p:nvPicPr>
          <p:cNvPr id="31" name="Picture 30">
            <a:extLst>
              <a:ext uri="{FF2B5EF4-FFF2-40B4-BE49-F238E27FC236}">
                <a16:creationId xmlns:a16="http://schemas.microsoft.com/office/drawing/2014/main" id="{75EEDA4D-1254-8157-A02D-978C2CA543C0}"/>
              </a:ext>
            </a:extLst>
          </p:cNvPr>
          <p:cNvPicPr>
            <a:picLocks noChangeAspect="1"/>
          </p:cNvPicPr>
          <p:nvPr/>
        </p:nvPicPr>
        <p:blipFill>
          <a:blip r:embed="rId3"/>
          <a:stretch>
            <a:fillRect/>
          </a:stretch>
        </p:blipFill>
        <p:spPr>
          <a:xfrm>
            <a:off x="8731790" y="3795075"/>
            <a:ext cx="345874" cy="335800"/>
          </a:xfrm>
          <a:prstGeom prst="rect">
            <a:avLst/>
          </a:prstGeom>
        </p:spPr>
      </p:pic>
      <p:pic>
        <p:nvPicPr>
          <p:cNvPr id="37" name="Picture 36">
            <a:extLst>
              <a:ext uri="{FF2B5EF4-FFF2-40B4-BE49-F238E27FC236}">
                <a16:creationId xmlns:a16="http://schemas.microsoft.com/office/drawing/2014/main" id="{7E472E37-E51E-04AA-0824-3C84A29AA95E}"/>
              </a:ext>
            </a:extLst>
          </p:cNvPr>
          <p:cNvPicPr>
            <a:picLocks noChangeAspect="1"/>
          </p:cNvPicPr>
          <p:nvPr/>
        </p:nvPicPr>
        <p:blipFill>
          <a:blip r:embed="rId4"/>
          <a:stretch>
            <a:fillRect/>
          </a:stretch>
        </p:blipFill>
        <p:spPr>
          <a:xfrm>
            <a:off x="5008878" y="3428999"/>
            <a:ext cx="736895" cy="752526"/>
          </a:xfrm>
          <a:prstGeom prst="rect">
            <a:avLst/>
          </a:prstGeom>
        </p:spPr>
      </p:pic>
      <p:sp>
        <p:nvSpPr>
          <p:cNvPr id="40" name="Text 3">
            <a:extLst>
              <a:ext uri="{FF2B5EF4-FFF2-40B4-BE49-F238E27FC236}">
                <a16:creationId xmlns:a16="http://schemas.microsoft.com/office/drawing/2014/main" id="{3B00EF67-75B7-8184-21BB-7AD4DDF5706F}"/>
              </a:ext>
            </a:extLst>
          </p:cNvPr>
          <p:cNvSpPr/>
          <p:nvPr/>
        </p:nvSpPr>
        <p:spPr>
          <a:xfrm>
            <a:off x="586740" y="261406"/>
            <a:ext cx="11018520" cy="832104"/>
          </a:xfrm>
          <a:prstGeom prst="rect">
            <a:avLst/>
          </a:prstGeom>
          <a:noFill/>
          <a:ln/>
        </p:spPr>
        <p:txBody>
          <a:bodyPr wrap="square" lIns="0" tIns="0" rIns="0" bIns="0" rtlCol="0" anchor="ctr"/>
          <a:lstStyle/>
          <a:p>
            <a:r>
              <a:rPr lang="en-US" sz="4400" b="1" dirty="0">
                <a:solidFill>
                  <a:prstClr val="black"/>
                </a:solidFill>
                <a:latin typeface="Aptos Black" panose="020B0004020202020204" pitchFamily="34" charset="0"/>
              </a:rPr>
              <a:t>AI does not scale through better prompts</a:t>
            </a:r>
            <a:endParaRPr lang="en-US" sz="4400" dirty="0">
              <a:solidFill>
                <a:prstClr val="black"/>
              </a:solidFill>
              <a:latin typeface="Aptos Black" panose="020B0004020202020204" pitchFamily="34" charset="0"/>
            </a:endParaRPr>
          </a:p>
        </p:txBody>
      </p:sp>
      <p:pic>
        <p:nvPicPr>
          <p:cNvPr id="54" name="Picture 53">
            <a:extLst>
              <a:ext uri="{FF2B5EF4-FFF2-40B4-BE49-F238E27FC236}">
                <a16:creationId xmlns:a16="http://schemas.microsoft.com/office/drawing/2014/main" id="{EDF10BA5-29CE-A00A-56E4-DADC40DB8843}"/>
              </a:ext>
            </a:extLst>
          </p:cNvPr>
          <p:cNvPicPr>
            <a:picLocks noChangeAspect="1"/>
          </p:cNvPicPr>
          <p:nvPr/>
        </p:nvPicPr>
        <p:blipFill>
          <a:blip r:embed="rId3"/>
          <a:stretch>
            <a:fillRect/>
          </a:stretch>
        </p:blipFill>
        <p:spPr>
          <a:xfrm>
            <a:off x="2544350" y="2792914"/>
            <a:ext cx="345874" cy="335800"/>
          </a:xfrm>
          <a:prstGeom prst="rect">
            <a:avLst/>
          </a:prstGeom>
        </p:spPr>
      </p:pic>
      <p:pic>
        <p:nvPicPr>
          <p:cNvPr id="58" name="Picture 57">
            <a:extLst>
              <a:ext uri="{FF2B5EF4-FFF2-40B4-BE49-F238E27FC236}">
                <a16:creationId xmlns:a16="http://schemas.microsoft.com/office/drawing/2014/main" id="{3176735A-D9A1-83F3-835F-AE75AF5D85EE}"/>
              </a:ext>
            </a:extLst>
          </p:cNvPr>
          <p:cNvPicPr>
            <a:picLocks noChangeAspect="1"/>
          </p:cNvPicPr>
          <p:nvPr/>
        </p:nvPicPr>
        <p:blipFill>
          <a:blip r:embed="rId5"/>
          <a:stretch>
            <a:fillRect/>
          </a:stretch>
        </p:blipFill>
        <p:spPr>
          <a:xfrm>
            <a:off x="336884" y="5939188"/>
            <a:ext cx="880712" cy="831784"/>
          </a:xfrm>
          <a:prstGeom prst="rect">
            <a:avLst/>
          </a:prstGeom>
        </p:spPr>
      </p:pic>
    </p:spTree>
    <p:extLst>
      <p:ext uri="{BB962C8B-B14F-4D97-AF65-F5344CB8AC3E}">
        <p14:creationId xmlns:p14="http://schemas.microsoft.com/office/powerpoint/2010/main" val="855981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7A831-5968-FDF5-2168-4F95B10B1C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A3EF91-5D03-5AC2-E658-F9864F27C411}"/>
              </a:ext>
            </a:extLst>
          </p:cNvPr>
          <p:cNvSpPr>
            <a:spLocks noGrp="1"/>
          </p:cNvSpPr>
          <p:nvPr>
            <p:ph type="title"/>
          </p:nvPr>
        </p:nvSpPr>
        <p:spPr/>
        <p:txBody>
          <a:bodyPr/>
          <a:lstStyle/>
          <a:p>
            <a:r>
              <a:rPr lang="en-GB"/>
              <a:t>Community – end?</a:t>
            </a:r>
          </a:p>
        </p:txBody>
      </p:sp>
      <p:sp>
        <p:nvSpPr>
          <p:cNvPr id="3" name="Content Placeholder 2">
            <a:extLst>
              <a:ext uri="{FF2B5EF4-FFF2-40B4-BE49-F238E27FC236}">
                <a16:creationId xmlns:a16="http://schemas.microsoft.com/office/drawing/2014/main" id="{E8368AAD-C2C7-04F9-B0A3-BA671ECCEDD2}"/>
              </a:ext>
            </a:extLst>
          </p:cNvPr>
          <p:cNvSpPr>
            <a:spLocks noGrp="1"/>
          </p:cNvSpPr>
          <p:nvPr>
            <p:ph sz="half" idx="1"/>
          </p:nvPr>
        </p:nvSpPr>
        <p:spPr/>
        <p:txBody>
          <a:bodyPr/>
          <a:lstStyle/>
          <a:p>
            <a:endParaRPr lang="en-GB"/>
          </a:p>
        </p:txBody>
      </p:sp>
      <p:sp>
        <p:nvSpPr>
          <p:cNvPr id="4" name="Content Placeholder 3">
            <a:extLst>
              <a:ext uri="{FF2B5EF4-FFF2-40B4-BE49-F238E27FC236}">
                <a16:creationId xmlns:a16="http://schemas.microsoft.com/office/drawing/2014/main" id="{3DB11D76-8940-7FF7-2E4E-1690EAC37277}"/>
              </a:ext>
            </a:extLst>
          </p:cNvPr>
          <p:cNvSpPr>
            <a:spLocks noGrp="1"/>
          </p:cNvSpPr>
          <p:nvPr>
            <p:ph sz="half" idx="2"/>
          </p:nvPr>
        </p:nvSpPr>
        <p:spPr/>
        <p:txBody>
          <a:bodyPr/>
          <a:lstStyle/>
          <a:p>
            <a:endParaRPr lang="en-GB"/>
          </a:p>
        </p:txBody>
      </p:sp>
    </p:spTree>
    <p:extLst>
      <p:ext uri="{BB962C8B-B14F-4D97-AF65-F5344CB8AC3E}">
        <p14:creationId xmlns:p14="http://schemas.microsoft.com/office/powerpoint/2010/main" val="22520789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0349C-03CA-D86F-D648-DE38F878FF42}"/>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686C4EC0-602A-B659-88CC-E9B74C2DACE8}"/>
              </a:ext>
            </a:extLst>
          </p:cNvPr>
          <p:cNvSpPr>
            <a:spLocks noGrp="1"/>
          </p:cNvSpPr>
          <p:nvPr>
            <p:ph sz="half" idx="1"/>
          </p:nvPr>
        </p:nvSpPr>
        <p:spPr/>
        <p:txBody>
          <a:bodyPr/>
          <a:lstStyle/>
          <a:p>
            <a:endParaRPr lang="en-GB"/>
          </a:p>
        </p:txBody>
      </p:sp>
      <p:sp>
        <p:nvSpPr>
          <p:cNvPr id="4" name="Content Placeholder 3">
            <a:extLst>
              <a:ext uri="{FF2B5EF4-FFF2-40B4-BE49-F238E27FC236}">
                <a16:creationId xmlns:a16="http://schemas.microsoft.com/office/drawing/2014/main" id="{A3722885-5AA7-AC2A-C119-40169048AFC3}"/>
              </a:ext>
            </a:extLst>
          </p:cNvPr>
          <p:cNvSpPr>
            <a:spLocks noGrp="1"/>
          </p:cNvSpPr>
          <p:nvPr>
            <p:ph sz="half" idx="2"/>
          </p:nvPr>
        </p:nvSpPr>
        <p:spPr/>
        <p:txBody>
          <a:bodyPr/>
          <a:lstStyle/>
          <a:p>
            <a:endParaRPr lang="en-GB"/>
          </a:p>
        </p:txBody>
      </p:sp>
    </p:spTree>
    <p:extLst>
      <p:ext uri="{BB962C8B-B14F-4D97-AF65-F5344CB8AC3E}">
        <p14:creationId xmlns:p14="http://schemas.microsoft.com/office/powerpoint/2010/main" val="28647145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0D74168-B65F-F632-55EA-E8D17B2FF256}"/>
              </a:ext>
            </a:extLst>
          </p:cNvPr>
          <p:cNvPicPr>
            <a:picLocks noChangeAspect="1"/>
          </p:cNvPicPr>
          <p:nvPr/>
        </p:nvPicPr>
        <p:blipFill>
          <a:blip r:embed="rId2"/>
          <a:srcRect l="28938" t="10372" r="29156" b="11489"/>
          <a:stretch>
            <a:fillRect/>
          </a:stretch>
        </p:blipFill>
        <p:spPr>
          <a:xfrm flipH="1">
            <a:off x="9603243" y="79316"/>
            <a:ext cx="1312768" cy="1644631"/>
          </a:xfrm>
          <a:prstGeom prst="rect">
            <a:avLst/>
          </a:prstGeom>
        </p:spPr>
      </p:pic>
      <p:sp>
        <p:nvSpPr>
          <p:cNvPr id="2" name="Title 1">
            <a:extLst>
              <a:ext uri="{FF2B5EF4-FFF2-40B4-BE49-F238E27FC236}">
                <a16:creationId xmlns:a16="http://schemas.microsoft.com/office/drawing/2014/main" id="{CB3874A2-4060-6F86-622F-0E5583FD35C7}"/>
              </a:ext>
            </a:extLst>
          </p:cNvPr>
          <p:cNvSpPr>
            <a:spLocks noGrp="1"/>
          </p:cNvSpPr>
          <p:nvPr>
            <p:ph type="title"/>
          </p:nvPr>
        </p:nvSpPr>
        <p:spPr>
          <a:xfrm>
            <a:off x="329184" y="365125"/>
            <a:ext cx="10552176" cy="1325563"/>
          </a:xfrm>
        </p:spPr>
        <p:txBody>
          <a:bodyPr/>
          <a:lstStyle/>
          <a:p>
            <a:r>
              <a:rPr lang="en-GB">
                <a:latin typeface="Amasis MT Pro Black" panose="02040A04050005020304" pitchFamily="18" charset="0"/>
              </a:rPr>
              <a:t>Think Workflow not Prompt</a:t>
            </a:r>
          </a:p>
        </p:txBody>
      </p:sp>
      <p:sp>
        <p:nvSpPr>
          <p:cNvPr id="3" name="Content Placeholder 2">
            <a:extLst>
              <a:ext uri="{FF2B5EF4-FFF2-40B4-BE49-F238E27FC236}">
                <a16:creationId xmlns:a16="http://schemas.microsoft.com/office/drawing/2014/main" id="{5FA3BBCF-04D8-488C-8599-CED968321E05}"/>
              </a:ext>
            </a:extLst>
          </p:cNvPr>
          <p:cNvSpPr>
            <a:spLocks noGrp="1"/>
          </p:cNvSpPr>
          <p:nvPr>
            <p:ph idx="1"/>
          </p:nvPr>
        </p:nvSpPr>
        <p:spPr>
          <a:xfrm>
            <a:off x="329184" y="1825625"/>
            <a:ext cx="10552176" cy="4351338"/>
          </a:xfrm>
        </p:spPr>
        <p:txBody>
          <a:bodyPr/>
          <a:lstStyle/>
          <a:p>
            <a:endParaRPr lang="en-GB"/>
          </a:p>
          <a:p>
            <a:r>
              <a:rPr lang="en-GB">
                <a:latin typeface="Amasis MT Pro Black" panose="02040A04050005020304" pitchFamily="18" charset="0"/>
              </a:rPr>
              <a:t>Even with a standardised prompt different users supply different data, apply different checks and use the output differently</a:t>
            </a:r>
          </a:p>
          <a:p>
            <a:pPr marL="0" indent="0">
              <a:buNone/>
            </a:pPr>
            <a:endParaRPr lang="en-GB">
              <a:latin typeface="Amasis MT Pro Black" panose="02040A04050005020304" pitchFamily="18" charset="0"/>
            </a:endParaRPr>
          </a:p>
          <a:p>
            <a:r>
              <a:rPr lang="en-GB">
                <a:latin typeface="Amasis MT Pro Black" panose="02040A04050005020304" pitchFamily="18" charset="0"/>
              </a:rPr>
              <a:t>An </a:t>
            </a:r>
            <a:r>
              <a:rPr lang="en-GB" b="1">
                <a:latin typeface="Amasis MT Pro Black" panose="02040A04050005020304" pitchFamily="18" charset="0"/>
              </a:rPr>
              <a:t>AI-enabled</a:t>
            </a:r>
            <a:r>
              <a:rPr lang="en-GB">
                <a:latin typeface="Amasis MT Pro Black" panose="02040A04050005020304" pitchFamily="18" charset="0"/>
              </a:rPr>
              <a:t> </a:t>
            </a:r>
            <a:r>
              <a:rPr lang="en-GB" b="1">
                <a:latin typeface="Amasis MT Pro Black" panose="02040A04050005020304" pitchFamily="18" charset="0"/>
              </a:rPr>
              <a:t>workflow</a:t>
            </a:r>
            <a:r>
              <a:rPr lang="en-GB">
                <a:latin typeface="Amasis MT Pro Black" panose="02040A04050005020304" pitchFamily="18" charset="0"/>
              </a:rPr>
              <a:t> is a defined piece of work in which people, information, an AI tool, conventional software and controls combine to produce an outcome. </a:t>
            </a:r>
          </a:p>
        </p:txBody>
      </p:sp>
      <p:sp>
        <p:nvSpPr>
          <p:cNvPr id="5" name="Rectangle: Rounded Corners 4">
            <a:extLst>
              <a:ext uri="{FF2B5EF4-FFF2-40B4-BE49-F238E27FC236}">
                <a16:creationId xmlns:a16="http://schemas.microsoft.com/office/drawing/2014/main" id="{E34FF686-2E69-A20D-3D49-A37AC7C24783}"/>
              </a:ext>
            </a:extLst>
          </p:cNvPr>
          <p:cNvSpPr/>
          <p:nvPr/>
        </p:nvSpPr>
        <p:spPr>
          <a:xfrm>
            <a:off x="11108328" y="365125"/>
            <a:ext cx="970896"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E4AFD3FF-5D8F-3884-5553-E971C1C67232}"/>
              </a:ext>
            </a:extLst>
          </p:cNvPr>
          <p:cNvPicPr>
            <a:picLocks noChangeAspect="1"/>
          </p:cNvPicPr>
          <p:nvPr/>
        </p:nvPicPr>
        <p:blipFill>
          <a:blip r:embed="rId3"/>
          <a:stretch>
            <a:fillRect/>
          </a:stretch>
        </p:blipFill>
        <p:spPr>
          <a:xfrm>
            <a:off x="11142979" y="901632"/>
            <a:ext cx="872843" cy="8243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Content Placeholder 4">
            <a:extLst>
              <a:ext uri="{FF2B5EF4-FFF2-40B4-BE49-F238E27FC236}">
                <a16:creationId xmlns:a16="http://schemas.microsoft.com/office/drawing/2014/main" id="{FCCBCA10-653F-F625-F5BF-C892159C2AD4}"/>
              </a:ext>
            </a:extLst>
          </p:cNvPr>
          <p:cNvPicPr>
            <a:picLocks noChangeAspect="1"/>
          </p:cNvPicPr>
          <p:nvPr/>
        </p:nvPicPr>
        <p:blipFill>
          <a:blip r:embed="rId4"/>
          <a:stretch>
            <a:fillRect/>
          </a:stretch>
        </p:blipFill>
        <p:spPr>
          <a:xfrm>
            <a:off x="11202634" y="4528484"/>
            <a:ext cx="753534" cy="753534"/>
          </a:xfrm>
          <a:prstGeom prst="rect">
            <a:avLst/>
          </a:prstGeom>
        </p:spPr>
      </p:pic>
      <p:pic>
        <p:nvPicPr>
          <p:cNvPr id="11" name="Picture 10" descr="File:Google Gemini icon 2025.svg">
            <a:extLst>
              <a:ext uri="{FF2B5EF4-FFF2-40B4-BE49-F238E27FC236}">
                <a16:creationId xmlns:a16="http://schemas.microsoft.com/office/drawing/2014/main" id="{692CE687-D1FA-C0AE-613B-FAA0359B6C9E}"/>
              </a:ext>
            </a:extLst>
          </p:cNvPr>
          <p:cNvPicPr>
            <a:picLocks noChangeAspect="1"/>
          </p:cNvPicPr>
          <p:nvPr/>
        </p:nvPicPr>
        <p:blipFill>
          <a:blip r:embed="rId5"/>
          <a:stretch>
            <a:fillRect/>
          </a:stretch>
        </p:blipFill>
        <p:spPr>
          <a:xfrm>
            <a:off x="11209298" y="5596578"/>
            <a:ext cx="753534" cy="753534"/>
          </a:xfrm>
          <a:prstGeom prst="rect">
            <a:avLst/>
          </a:prstGeom>
        </p:spPr>
      </p:pic>
    </p:spTree>
    <p:extLst>
      <p:ext uri="{BB962C8B-B14F-4D97-AF65-F5344CB8AC3E}">
        <p14:creationId xmlns:p14="http://schemas.microsoft.com/office/powerpoint/2010/main" val="27641555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7C111-7BE8-F1AA-8402-8E1E5B391C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FE2A74-5F20-1340-6486-5CEF9A550570}"/>
              </a:ext>
            </a:extLst>
          </p:cNvPr>
          <p:cNvSpPr>
            <a:spLocks noGrp="1"/>
          </p:cNvSpPr>
          <p:nvPr>
            <p:ph type="title"/>
          </p:nvPr>
        </p:nvSpPr>
        <p:spPr>
          <a:xfrm>
            <a:off x="329184" y="365125"/>
            <a:ext cx="10552176" cy="1325563"/>
          </a:xfrm>
        </p:spPr>
        <p:txBody>
          <a:bodyPr/>
          <a:lstStyle/>
          <a:p>
            <a:pPr algn="ctr"/>
            <a:r>
              <a:rPr lang="en-GB">
                <a:latin typeface="Amasis MT Pro Black" panose="02040A04050005020304" pitchFamily="18" charset="0"/>
              </a:rPr>
              <a:t>Question one: Is the task within AI capabilities?</a:t>
            </a:r>
          </a:p>
        </p:txBody>
      </p:sp>
      <p:sp>
        <p:nvSpPr>
          <p:cNvPr id="3" name="Content Placeholder 2">
            <a:extLst>
              <a:ext uri="{FF2B5EF4-FFF2-40B4-BE49-F238E27FC236}">
                <a16:creationId xmlns:a16="http://schemas.microsoft.com/office/drawing/2014/main" id="{7B01BCC9-E4C3-8D93-156A-F455E63347B0}"/>
              </a:ext>
            </a:extLst>
          </p:cNvPr>
          <p:cNvSpPr>
            <a:spLocks noGrp="1"/>
          </p:cNvSpPr>
          <p:nvPr>
            <p:ph idx="1"/>
          </p:nvPr>
        </p:nvSpPr>
        <p:spPr>
          <a:xfrm>
            <a:off x="1318012" y="4905251"/>
            <a:ext cx="8727805" cy="1126544"/>
          </a:xfrm>
        </p:spPr>
        <p:txBody>
          <a:bodyPr>
            <a:normAutofit/>
          </a:bodyPr>
          <a:lstStyle/>
          <a:p>
            <a:pPr marL="0" indent="0">
              <a:buNone/>
            </a:pPr>
            <a:r>
              <a:rPr lang="en-GB"/>
              <a:t>Consultants using AI on a task outside its capability did </a:t>
            </a:r>
            <a:r>
              <a:rPr lang="en-GB" b="1"/>
              <a:t>substantially worse </a:t>
            </a:r>
            <a:r>
              <a:rPr lang="en-GB"/>
              <a:t>than colleagues </a:t>
            </a:r>
            <a:r>
              <a:rPr lang="en-GB" b="1"/>
              <a:t>with no AI at all.</a:t>
            </a:r>
            <a:endParaRPr lang="en-GB">
              <a:latin typeface="Amasis MT Pro Black" panose="02040A04050005020304" pitchFamily="18" charset="0"/>
            </a:endParaRPr>
          </a:p>
        </p:txBody>
      </p:sp>
      <p:sp>
        <p:nvSpPr>
          <p:cNvPr id="5" name="Rectangle: Rounded Corners 4">
            <a:extLst>
              <a:ext uri="{FF2B5EF4-FFF2-40B4-BE49-F238E27FC236}">
                <a16:creationId xmlns:a16="http://schemas.microsoft.com/office/drawing/2014/main" id="{369D6BED-3692-969B-CF78-B17C13F396BF}"/>
              </a:ext>
            </a:extLst>
          </p:cNvPr>
          <p:cNvSpPr/>
          <p:nvPr/>
        </p:nvSpPr>
        <p:spPr>
          <a:xfrm>
            <a:off x="11108328" y="365125"/>
            <a:ext cx="970896"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B69CE2A1-0EEE-2ADC-923F-EE004C753C42}"/>
              </a:ext>
            </a:extLst>
          </p:cNvPr>
          <p:cNvPicPr>
            <a:picLocks noChangeAspect="1"/>
          </p:cNvPicPr>
          <p:nvPr/>
        </p:nvPicPr>
        <p:blipFill>
          <a:blip r:embed="rId2"/>
          <a:stretch>
            <a:fillRect/>
          </a:stretch>
        </p:blipFill>
        <p:spPr>
          <a:xfrm>
            <a:off x="11142979" y="901632"/>
            <a:ext cx="872843" cy="8243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Content Placeholder 4">
            <a:extLst>
              <a:ext uri="{FF2B5EF4-FFF2-40B4-BE49-F238E27FC236}">
                <a16:creationId xmlns:a16="http://schemas.microsoft.com/office/drawing/2014/main" id="{DC816F32-6368-0B51-A999-C2F36A22A046}"/>
              </a:ext>
            </a:extLst>
          </p:cNvPr>
          <p:cNvPicPr>
            <a:picLocks noChangeAspect="1"/>
          </p:cNvPicPr>
          <p:nvPr/>
        </p:nvPicPr>
        <p:blipFill>
          <a:blip r:embed="rId3"/>
          <a:stretch>
            <a:fillRect/>
          </a:stretch>
        </p:blipFill>
        <p:spPr>
          <a:xfrm>
            <a:off x="11202634" y="4528484"/>
            <a:ext cx="753534" cy="753534"/>
          </a:xfrm>
          <a:prstGeom prst="rect">
            <a:avLst/>
          </a:prstGeom>
        </p:spPr>
      </p:pic>
      <p:pic>
        <p:nvPicPr>
          <p:cNvPr id="11" name="Picture 10" descr="File:Google Gemini icon 2025.svg">
            <a:extLst>
              <a:ext uri="{FF2B5EF4-FFF2-40B4-BE49-F238E27FC236}">
                <a16:creationId xmlns:a16="http://schemas.microsoft.com/office/drawing/2014/main" id="{82CB7AE4-D882-4508-13E0-E1E5A25317C1}"/>
              </a:ext>
            </a:extLst>
          </p:cNvPr>
          <p:cNvPicPr>
            <a:picLocks noChangeAspect="1"/>
          </p:cNvPicPr>
          <p:nvPr/>
        </p:nvPicPr>
        <p:blipFill>
          <a:blip r:embed="rId4"/>
          <a:stretch>
            <a:fillRect/>
          </a:stretch>
        </p:blipFill>
        <p:spPr>
          <a:xfrm>
            <a:off x="11209298" y="5596578"/>
            <a:ext cx="753534" cy="753534"/>
          </a:xfrm>
          <a:prstGeom prst="rect">
            <a:avLst/>
          </a:prstGeom>
        </p:spPr>
      </p:pic>
      <p:pic>
        <p:nvPicPr>
          <p:cNvPr id="6" name="Picture 5">
            <a:extLst>
              <a:ext uri="{FF2B5EF4-FFF2-40B4-BE49-F238E27FC236}">
                <a16:creationId xmlns:a16="http://schemas.microsoft.com/office/drawing/2014/main" id="{2878D4B6-1108-AD17-C883-A6B9D15D9EA9}"/>
              </a:ext>
            </a:extLst>
          </p:cNvPr>
          <p:cNvPicPr>
            <a:picLocks noChangeAspect="1"/>
          </p:cNvPicPr>
          <p:nvPr/>
        </p:nvPicPr>
        <p:blipFill>
          <a:blip r:embed="rId5"/>
          <a:stretch>
            <a:fillRect/>
          </a:stretch>
        </p:blipFill>
        <p:spPr>
          <a:xfrm>
            <a:off x="2501675" y="1952749"/>
            <a:ext cx="5925450" cy="2921255"/>
          </a:xfrm>
          <a:prstGeom prst="rect">
            <a:avLst/>
          </a:prstGeom>
        </p:spPr>
      </p:pic>
    </p:spTree>
    <p:extLst>
      <p:ext uri="{BB962C8B-B14F-4D97-AF65-F5344CB8AC3E}">
        <p14:creationId xmlns:p14="http://schemas.microsoft.com/office/powerpoint/2010/main" val="11625534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4535E-9D7C-E3D6-7CEA-CC629EBAD47E}"/>
            </a:ext>
          </a:extLst>
        </p:cNvPr>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43F10AEA-0E1F-865E-7E29-BB88527835A2}"/>
              </a:ext>
            </a:extLst>
          </p:cNvPr>
          <p:cNvPicPr>
            <a:picLocks noGrp="1" noChangeAspect="1"/>
          </p:cNvPicPr>
          <p:nvPr>
            <p:ph idx="1"/>
          </p:nvPr>
        </p:nvPicPr>
        <p:blipFill>
          <a:blip r:embed="rId3"/>
          <a:stretch>
            <a:fillRect/>
          </a:stretch>
        </p:blipFill>
        <p:spPr>
          <a:xfrm>
            <a:off x="220087" y="641573"/>
            <a:ext cx="10661273" cy="5809561"/>
          </a:xfrm>
          <a:prstGeom prst="rect">
            <a:avLst/>
          </a:prstGeom>
        </p:spPr>
      </p:pic>
      <p:sp>
        <p:nvSpPr>
          <p:cNvPr id="2" name="Title 1">
            <a:extLst>
              <a:ext uri="{FF2B5EF4-FFF2-40B4-BE49-F238E27FC236}">
                <a16:creationId xmlns:a16="http://schemas.microsoft.com/office/drawing/2014/main" id="{670313D8-4DEF-50EA-5883-A18FE2FDFBDE}"/>
              </a:ext>
            </a:extLst>
          </p:cNvPr>
          <p:cNvSpPr>
            <a:spLocks noGrp="1"/>
          </p:cNvSpPr>
          <p:nvPr>
            <p:ph type="title"/>
          </p:nvPr>
        </p:nvSpPr>
        <p:spPr>
          <a:xfrm>
            <a:off x="329184" y="365125"/>
            <a:ext cx="10552176" cy="1325563"/>
          </a:xfrm>
        </p:spPr>
        <p:txBody>
          <a:bodyPr/>
          <a:lstStyle/>
          <a:p>
            <a:r>
              <a:rPr lang="en-GB">
                <a:latin typeface="Amasis MT Pro Black" panose="02040A04050005020304" pitchFamily="18" charset="0"/>
              </a:rPr>
              <a:t>Think Workflow not Prompt</a:t>
            </a:r>
          </a:p>
        </p:txBody>
      </p:sp>
      <p:sp>
        <p:nvSpPr>
          <p:cNvPr id="5" name="Rectangle: Rounded Corners 4">
            <a:extLst>
              <a:ext uri="{FF2B5EF4-FFF2-40B4-BE49-F238E27FC236}">
                <a16:creationId xmlns:a16="http://schemas.microsoft.com/office/drawing/2014/main" id="{C1612F44-3975-6E03-AB55-99640C3F1058}"/>
              </a:ext>
            </a:extLst>
          </p:cNvPr>
          <p:cNvSpPr/>
          <p:nvPr/>
        </p:nvSpPr>
        <p:spPr>
          <a:xfrm>
            <a:off x="11108328" y="365125"/>
            <a:ext cx="970896"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5E4036AF-1938-C683-0639-CC2870EDE5BB}"/>
              </a:ext>
            </a:extLst>
          </p:cNvPr>
          <p:cNvPicPr>
            <a:picLocks noChangeAspect="1"/>
          </p:cNvPicPr>
          <p:nvPr/>
        </p:nvPicPr>
        <p:blipFill>
          <a:blip r:embed="rId4"/>
          <a:stretch>
            <a:fillRect/>
          </a:stretch>
        </p:blipFill>
        <p:spPr>
          <a:xfrm>
            <a:off x="11142979" y="901632"/>
            <a:ext cx="872843" cy="8243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Content Placeholder 4">
            <a:extLst>
              <a:ext uri="{FF2B5EF4-FFF2-40B4-BE49-F238E27FC236}">
                <a16:creationId xmlns:a16="http://schemas.microsoft.com/office/drawing/2014/main" id="{3C1C36F8-DF39-265D-4783-47D80EFC3FCE}"/>
              </a:ext>
            </a:extLst>
          </p:cNvPr>
          <p:cNvPicPr>
            <a:picLocks noChangeAspect="1"/>
          </p:cNvPicPr>
          <p:nvPr/>
        </p:nvPicPr>
        <p:blipFill>
          <a:blip r:embed="rId5"/>
          <a:stretch>
            <a:fillRect/>
          </a:stretch>
        </p:blipFill>
        <p:spPr>
          <a:xfrm>
            <a:off x="11202634" y="4528484"/>
            <a:ext cx="753534" cy="753534"/>
          </a:xfrm>
          <a:prstGeom prst="rect">
            <a:avLst/>
          </a:prstGeom>
        </p:spPr>
      </p:pic>
      <p:pic>
        <p:nvPicPr>
          <p:cNvPr id="11" name="Picture 10" descr="File:Google Gemini icon 2025.svg">
            <a:extLst>
              <a:ext uri="{FF2B5EF4-FFF2-40B4-BE49-F238E27FC236}">
                <a16:creationId xmlns:a16="http://schemas.microsoft.com/office/drawing/2014/main" id="{715A1BC3-D129-0B2E-6816-B0CA1544EE47}"/>
              </a:ext>
            </a:extLst>
          </p:cNvPr>
          <p:cNvPicPr>
            <a:picLocks noChangeAspect="1"/>
          </p:cNvPicPr>
          <p:nvPr/>
        </p:nvPicPr>
        <p:blipFill>
          <a:blip r:embed="rId6"/>
          <a:stretch>
            <a:fillRect/>
          </a:stretch>
        </p:blipFill>
        <p:spPr>
          <a:xfrm>
            <a:off x="11209298" y="5596578"/>
            <a:ext cx="753534" cy="753534"/>
          </a:xfrm>
          <a:prstGeom prst="rect">
            <a:avLst/>
          </a:prstGeom>
        </p:spPr>
      </p:pic>
    </p:spTree>
    <p:extLst>
      <p:ext uri="{BB962C8B-B14F-4D97-AF65-F5344CB8AC3E}">
        <p14:creationId xmlns:p14="http://schemas.microsoft.com/office/powerpoint/2010/main" val="3065664566"/>
      </p:ext>
    </p:extLst>
  </p:cSld>
  <p:clrMapOvr>
    <a:masterClrMapping/>
  </p:clrMapOvr>
  <p:extLst>
    <p:ext uri="{6950BFC3-D8DA-4A85-94F7-54DA5524770B}">
      <p188:commentRel xmlns:p188="http://schemas.microsoft.com/office/powerpoint/2018/8/main" r:id="rId2"/>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C5F59-CC65-4EB4-70F2-56B2214BEB8D}"/>
            </a:ext>
          </a:extLst>
        </p:cNvPr>
        <p:cNvGrpSpPr/>
        <p:nvPr/>
      </p:nvGrpSpPr>
      <p:grpSpPr>
        <a:xfrm>
          <a:off x="0" y="0"/>
          <a:ext cx="1" cy="1"/>
          <a:chOff x="0" y="0"/>
          <a:chExt cx="1" cy="1"/>
        </a:xfrm>
      </p:grpSpPr>
      <p:sp>
        <p:nvSpPr>
          <p:cNvPr id="2" name="Shape 0">
            <a:extLst>
              <a:ext uri="{FF2B5EF4-FFF2-40B4-BE49-F238E27FC236}">
                <a16:creationId xmlns:a16="http://schemas.microsoft.com/office/drawing/2014/main" id="{5BCE2360-A7D8-F0ED-BB5F-2D28CD04F92B}"/>
              </a:ext>
            </a:extLst>
          </p:cNvPr>
          <p:cNvSpPr/>
          <p:nvPr/>
        </p:nvSpPr>
        <p:spPr>
          <a:xfrm>
            <a:off x="398477" y="2395728"/>
            <a:ext cx="10939244" cy="3968496"/>
          </a:xfrm>
          <a:prstGeom prst="roundRect">
            <a:avLst>
              <a:gd name="adj" fmla="val 1781"/>
            </a:avLst>
          </a:prstGeom>
          <a:solidFill>
            <a:srgbClr val="FFFFFF"/>
          </a:solidFill>
          <a:ln w="12700">
            <a:solidFill>
              <a:srgbClr val="D9E1E8"/>
            </a:solidFill>
            <a:prstDash val="solid"/>
          </a:ln>
          <a:effectLst>
            <a:outerShdw blurRad="17780" dist="7620" dir="2700000" algn="bl" rotWithShape="0">
              <a:srgbClr val="000000">
                <a:alpha val="12000"/>
              </a:srgbClr>
            </a:outerShdw>
          </a:effectLst>
        </p:spPr>
        <p:txBody>
          <a:bodyPr/>
          <a:lstStyle/>
          <a:p>
            <a:endParaRPr lang="en-GB"/>
          </a:p>
        </p:txBody>
      </p:sp>
      <p:sp>
        <p:nvSpPr>
          <p:cNvPr id="3" name="Shape 1">
            <a:extLst>
              <a:ext uri="{FF2B5EF4-FFF2-40B4-BE49-F238E27FC236}">
                <a16:creationId xmlns:a16="http://schemas.microsoft.com/office/drawing/2014/main" id="{C51C77E8-C642-D4E9-EB63-A075D5645393}"/>
              </a:ext>
            </a:extLst>
          </p:cNvPr>
          <p:cNvSpPr/>
          <p:nvPr/>
        </p:nvSpPr>
        <p:spPr>
          <a:xfrm>
            <a:off x="398477" y="2404872"/>
            <a:ext cx="10939244" cy="822960"/>
          </a:xfrm>
          <a:prstGeom prst="roundRect">
            <a:avLst>
              <a:gd name="adj" fmla="val 6667"/>
            </a:avLst>
          </a:prstGeom>
          <a:solidFill>
            <a:srgbClr val="0078D4"/>
          </a:solidFill>
          <a:ln w="12700">
            <a:solidFill>
              <a:srgbClr val="0078D4">
                <a:alpha val="0"/>
              </a:srgbClr>
            </a:solidFill>
            <a:prstDash val="solid"/>
          </a:ln>
        </p:spPr>
        <p:txBody>
          <a:bodyPr/>
          <a:lstStyle/>
          <a:p>
            <a:endParaRPr lang="en-GB"/>
          </a:p>
        </p:txBody>
      </p:sp>
      <p:sp>
        <p:nvSpPr>
          <p:cNvPr id="4" name="Shape 2">
            <a:extLst>
              <a:ext uri="{FF2B5EF4-FFF2-40B4-BE49-F238E27FC236}">
                <a16:creationId xmlns:a16="http://schemas.microsoft.com/office/drawing/2014/main" id="{BA3A6758-0A7E-2A5F-2B32-8EC1ED938A0A}"/>
              </a:ext>
            </a:extLst>
          </p:cNvPr>
          <p:cNvSpPr/>
          <p:nvPr/>
        </p:nvSpPr>
        <p:spPr>
          <a:xfrm>
            <a:off x="571499" y="2560320"/>
            <a:ext cx="913351" cy="457200"/>
          </a:xfrm>
          <a:prstGeom prst="ellipse">
            <a:avLst/>
          </a:prstGeom>
          <a:solidFill>
            <a:srgbClr val="FFFFFF">
              <a:alpha val="18000"/>
            </a:srgbClr>
          </a:solidFill>
          <a:ln w="12700">
            <a:solidFill>
              <a:srgbClr val="FFFFFF">
                <a:alpha val="50000"/>
              </a:srgbClr>
            </a:solidFill>
            <a:prstDash val="solid"/>
          </a:ln>
        </p:spPr>
        <p:txBody>
          <a:bodyPr/>
          <a:lstStyle/>
          <a:p>
            <a:endParaRPr lang="en-GB"/>
          </a:p>
        </p:txBody>
      </p:sp>
      <p:sp>
        <p:nvSpPr>
          <p:cNvPr id="5" name="Text 3">
            <a:extLst>
              <a:ext uri="{FF2B5EF4-FFF2-40B4-BE49-F238E27FC236}">
                <a16:creationId xmlns:a16="http://schemas.microsoft.com/office/drawing/2014/main" id="{DF0A160E-044B-7875-DD58-B755DD4462CC}"/>
              </a:ext>
            </a:extLst>
          </p:cNvPr>
          <p:cNvSpPr/>
          <p:nvPr/>
        </p:nvSpPr>
        <p:spPr>
          <a:xfrm>
            <a:off x="750015" y="2615099"/>
            <a:ext cx="52037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900" b="1">
                <a:solidFill>
                  <a:srgbClr val="FFFFFF"/>
                </a:solidFill>
                <a:latin typeface="Aptos Display" pitchFamily="34" charset="0"/>
              </a:rPr>
              <a:t>1-30</a:t>
            </a:r>
            <a:endParaRPr kumimoji="0" lang="en-US" sz="1900" b="0" i="0" u="none" strike="noStrike" kern="1200" cap="none" spc="0" normalizeH="0" baseline="0" noProof="0">
              <a:ln>
                <a:noFill/>
              </a:ln>
              <a:solidFill>
                <a:prstClr val="black"/>
              </a:solidFill>
              <a:effectLst/>
              <a:uLnTx/>
              <a:uFillTx/>
              <a:latin typeface="Aptos"/>
              <a:ea typeface="+mn-ea"/>
              <a:cs typeface="+mn-cs"/>
            </a:endParaRPr>
          </a:p>
        </p:txBody>
      </p:sp>
      <p:sp>
        <p:nvSpPr>
          <p:cNvPr id="6" name="Text 4">
            <a:extLst>
              <a:ext uri="{FF2B5EF4-FFF2-40B4-BE49-F238E27FC236}">
                <a16:creationId xmlns:a16="http://schemas.microsoft.com/office/drawing/2014/main" id="{E4880EA1-8754-D36E-3005-6B14CE06E931}"/>
              </a:ext>
            </a:extLst>
          </p:cNvPr>
          <p:cNvSpPr/>
          <p:nvPr/>
        </p:nvSpPr>
        <p:spPr>
          <a:xfrm>
            <a:off x="3628406" y="2477939"/>
            <a:ext cx="7155809"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50" normalizeH="0" baseline="0" noProof="0">
                <a:ln>
                  <a:noFill/>
                </a:ln>
                <a:solidFill>
                  <a:srgbClr val="FFFFFF"/>
                </a:solidFill>
                <a:effectLst/>
                <a:uLnTx/>
                <a:uFillTx/>
                <a:latin typeface="Aptos Display" pitchFamily="34" charset="0"/>
                <a:ea typeface="Aptos Display" pitchFamily="34" charset="-122"/>
                <a:cs typeface="Aptos Display" pitchFamily="34" charset="-120"/>
              </a:rPr>
              <a:t>Discovery and Triage</a:t>
            </a:r>
            <a:endParaRPr kumimoji="0" lang="en-US" sz="3600" b="0" i="0" u="none" strike="noStrike" kern="1200" cap="none" spc="0" normalizeH="0" baseline="0" noProof="0">
              <a:ln>
                <a:noFill/>
              </a:ln>
              <a:solidFill>
                <a:prstClr val="black"/>
              </a:solidFill>
              <a:effectLst/>
              <a:uLnTx/>
              <a:uFillTx/>
              <a:latin typeface="Aptos"/>
              <a:ea typeface="+mn-ea"/>
              <a:cs typeface="+mn-cs"/>
            </a:endParaRPr>
          </a:p>
        </p:txBody>
      </p:sp>
      <p:sp>
        <p:nvSpPr>
          <p:cNvPr id="7" name="Text 5">
            <a:extLst>
              <a:ext uri="{FF2B5EF4-FFF2-40B4-BE49-F238E27FC236}">
                <a16:creationId xmlns:a16="http://schemas.microsoft.com/office/drawing/2014/main" id="{524D10AD-A5C3-D38E-B3F4-66566C9D14BB}"/>
              </a:ext>
            </a:extLst>
          </p:cNvPr>
          <p:cNvSpPr/>
          <p:nvPr/>
        </p:nvSpPr>
        <p:spPr>
          <a:xfrm>
            <a:off x="3517000" y="2942816"/>
            <a:ext cx="4389624" cy="19185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Aptos" pitchFamily="34" charset="0"/>
                <a:ea typeface="Aptos" pitchFamily="34" charset="-122"/>
                <a:cs typeface="Aptos" pitchFamily="34" charset="-120"/>
              </a:rPr>
              <a:t>Capture the opportunity  &gt;&gt; Map the workflow &gt;&gt; assess value and risk </a:t>
            </a:r>
            <a:endParaRPr kumimoji="0" lang="en-US" sz="1050" b="0" i="0" u="none" strike="noStrike" kern="1200" cap="none" spc="0" normalizeH="0" baseline="0" noProof="0">
              <a:ln>
                <a:noFill/>
              </a:ln>
              <a:solidFill>
                <a:prstClr val="black"/>
              </a:solidFill>
              <a:effectLst/>
              <a:uLnTx/>
              <a:uFillTx/>
              <a:latin typeface="Aptos"/>
              <a:ea typeface="+mn-ea"/>
              <a:cs typeface="+mn-cs"/>
            </a:endParaRPr>
          </a:p>
        </p:txBody>
      </p:sp>
      <p:sp>
        <p:nvSpPr>
          <p:cNvPr id="14" name="Shape 12">
            <a:extLst>
              <a:ext uri="{FF2B5EF4-FFF2-40B4-BE49-F238E27FC236}">
                <a16:creationId xmlns:a16="http://schemas.microsoft.com/office/drawing/2014/main" id="{513B4B68-C4B9-8C10-E93A-CFB9D3092D9E}"/>
              </a:ext>
            </a:extLst>
          </p:cNvPr>
          <p:cNvSpPr/>
          <p:nvPr/>
        </p:nvSpPr>
        <p:spPr>
          <a:xfrm>
            <a:off x="2573155" y="6501343"/>
            <a:ext cx="6373703" cy="329184"/>
          </a:xfrm>
          <a:prstGeom prst="roundRect">
            <a:avLst>
              <a:gd name="adj" fmla="val 11111"/>
            </a:avLst>
          </a:prstGeom>
          <a:solidFill>
            <a:srgbClr val="E8F3FB"/>
          </a:solidFill>
          <a:ln w="12700">
            <a:solidFill>
              <a:srgbClr val="E8F3FB"/>
            </a:solidFill>
            <a:prstDash val="solid"/>
          </a:ln>
        </p:spPr>
        <p:txBody>
          <a:bodyPr/>
          <a:lstStyle/>
          <a:p>
            <a:endParaRPr lang="en-GB"/>
          </a:p>
        </p:txBody>
      </p:sp>
      <p:sp>
        <p:nvSpPr>
          <p:cNvPr id="15" name="Text 13">
            <a:extLst>
              <a:ext uri="{FF2B5EF4-FFF2-40B4-BE49-F238E27FC236}">
                <a16:creationId xmlns:a16="http://schemas.microsoft.com/office/drawing/2014/main" id="{C7BFF67B-FD07-EDDE-EAD4-50CB91E4B757}"/>
              </a:ext>
            </a:extLst>
          </p:cNvPr>
          <p:cNvSpPr/>
          <p:nvPr/>
        </p:nvSpPr>
        <p:spPr>
          <a:xfrm>
            <a:off x="2881618" y="6583639"/>
            <a:ext cx="5738069" cy="196002"/>
          </a:xfrm>
          <a:prstGeom prst="rect">
            <a:avLst/>
          </a:prstGeom>
          <a:no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0" cap="none" spc="25" normalizeH="0" baseline="0" noProof="0">
                <a:ln>
                  <a:noFill/>
                </a:ln>
                <a:solidFill>
                  <a:srgbClr val="0078D4"/>
                </a:solidFill>
                <a:effectLst/>
                <a:uLnTx/>
                <a:uFillTx/>
                <a:latin typeface="Aptos" pitchFamily="34" charset="0"/>
                <a:ea typeface="Aptos" pitchFamily="34" charset="-122"/>
                <a:cs typeface="Aptos" pitchFamily="34" charset="-120"/>
              </a:rPr>
              <a:t>Use-case record &gt; Workflow map &gt; Risk classification </a:t>
            </a: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22" name="Shape 20">
            <a:extLst>
              <a:ext uri="{FF2B5EF4-FFF2-40B4-BE49-F238E27FC236}">
                <a16:creationId xmlns:a16="http://schemas.microsoft.com/office/drawing/2014/main" id="{AF9D85D4-3F33-9AF7-05E4-B20BEF387E7D}"/>
              </a:ext>
            </a:extLst>
          </p:cNvPr>
          <p:cNvSpPr/>
          <p:nvPr/>
        </p:nvSpPr>
        <p:spPr>
          <a:xfrm>
            <a:off x="10729351" y="2586745"/>
            <a:ext cx="438912" cy="438912"/>
          </a:xfrm>
          <a:prstGeom prst="ellipse">
            <a:avLst/>
          </a:prstGeom>
          <a:solidFill>
            <a:srgbClr val="FFFFFF">
              <a:alpha val="20000"/>
            </a:srgbClr>
          </a:solidFill>
          <a:ln w="12700">
            <a:solidFill>
              <a:srgbClr val="FFFFFF">
                <a:alpha val="0"/>
              </a:srgbClr>
            </a:solidFill>
            <a:prstDash val="solid"/>
          </a:ln>
        </p:spPr>
        <p:txBody>
          <a:bodyPr/>
          <a:lstStyle/>
          <a:p>
            <a:endParaRPr lang="en-GB"/>
          </a:p>
        </p:txBody>
      </p:sp>
      <p:sp>
        <p:nvSpPr>
          <p:cNvPr id="23" name="Shape 21">
            <a:extLst>
              <a:ext uri="{FF2B5EF4-FFF2-40B4-BE49-F238E27FC236}">
                <a16:creationId xmlns:a16="http://schemas.microsoft.com/office/drawing/2014/main" id="{91C61AF3-380B-6F9F-786E-975C0C6575B4}"/>
              </a:ext>
            </a:extLst>
          </p:cNvPr>
          <p:cNvSpPr/>
          <p:nvPr/>
        </p:nvSpPr>
        <p:spPr>
          <a:xfrm>
            <a:off x="10784215" y="2641609"/>
            <a:ext cx="329184" cy="329184"/>
          </a:xfrm>
          <a:prstGeom prst="ellipse">
            <a:avLst/>
          </a:prstGeom>
          <a:solidFill>
            <a:srgbClr val="FFFFFF">
              <a:alpha val="0"/>
            </a:srgbClr>
          </a:solidFill>
          <a:ln w="25400">
            <a:solidFill>
              <a:srgbClr val="FFFFFF"/>
            </a:solidFill>
            <a:prstDash val="solid"/>
          </a:ln>
        </p:spPr>
        <p:txBody>
          <a:bodyPr/>
          <a:lstStyle/>
          <a:p>
            <a:endParaRPr lang="en-GB"/>
          </a:p>
        </p:txBody>
      </p:sp>
      <p:sp>
        <p:nvSpPr>
          <p:cNvPr id="24" name="Shape 22">
            <a:extLst>
              <a:ext uri="{FF2B5EF4-FFF2-40B4-BE49-F238E27FC236}">
                <a16:creationId xmlns:a16="http://schemas.microsoft.com/office/drawing/2014/main" id="{7067FB8D-5B44-D001-20B6-7A032F8894E3}"/>
              </a:ext>
            </a:extLst>
          </p:cNvPr>
          <p:cNvSpPr/>
          <p:nvPr/>
        </p:nvSpPr>
        <p:spPr>
          <a:xfrm flipV="1">
            <a:off x="10948807" y="2731791"/>
            <a:ext cx="73152" cy="82296"/>
          </a:xfrm>
          <a:prstGeom prst="line">
            <a:avLst/>
          </a:prstGeom>
          <a:noFill/>
          <a:ln w="25400">
            <a:solidFill>
              <a:srgbClr val="FFFFFF"/>
            </a:solidFill>
            <a:prstDash val="solid"/>
          </a:ln>
        </p:spPr>
        <p:txBody>
          <a:bodyPr/>
          <a:lstStyle/>
          <a:p>
            <a:endParaRPr lang="en-GB"/>
          </a:p>
        </p:txBody>
      </p:sp>
      <p:sp>
        <p:nvSpPr>
          <p:cNvPr id="25" name="Shape 23">
            <a:extLst>
              <a:ext uri="{FF2B5EF4-FFF2-40B4-BE49-F238E27FC236}">
                <a16:creationId xmlns:a16="http://schemas.microsoft.com/office/drawing/2014/main" id="{585E297B-5B1A-C87A-F684-038332258C81}"/>
              </a:ext>
            </a:extLst>
          </p:cNvPr>
          <p:cNvSpPr/>
          <p:nvPr/>
        </p:nvSpPr>
        <p:spPr>
          <a:xfrm flipH="1" flipV="1">
            <a:off x="10885637" y="2795799"/>
            <a:ext cx="64008" cy="36576"/>
          </a:xfrm>
          <a:prstGeom prst="line">
            <a:avLst/>
          </a:prstGeom>
          <a:noFill/>
          <a:ln w="25400">
            <a:solidFill>
              <a:srgbClr val="FFFFFF"/>
            </a:solidFill>
            <a:prstDash val="solid"/>
          </a:ln>
        </p:spPr>
        <p:txBody>
          <a:bodyPr/>
          <a:lstStyle/>
          <a:p>
            <a:endParaRPr lang="en-GB"/>
          </a:p>
        </p:txBody>
      </p:sp>
      <p:pic>
        <p:nvPicPr>
          <p:cNvPr id="30" name="Content Placeholder 7">
            <a:extLst>
              <a:ext uri="{FF2B5EF4-FFF2-40B4-BE49-F238E27FC236}">
                <a16:creationId xmlns:a16="http://schemas.microsoft.com/office/drawing/2014/main" id="{CD83A30C-FD35-021B-D912-703CB85ACF02}"/>
              </a:ext>
            </a:extLst>
          </p:cNvPr>
          <p:cNvPicPr>
            <a:picLocks noChangeAspect="1"/>
          </p:cNvPicPr>
          <p:nvPr/>
        </p:nvPicPr>
        <p:blipFill>
          <a:blip r:embed="rId3"/>
          <a:srcRect t="26530" b="24810"/>
          <a:stretch>
            <a:fillRect/>
          </a:stretch>
        </p:blipFill>
        <p:spPr>
          <a:xfrm>
            <a:off x="2573155" y="180212"/>
            <a:ext cx="6788791" cy="1800099"/>
          </a:xfrm>
          <a:prstGeom prst="rect">
            <a:avLst/>
          </a:prstGeom>
        </p:spPr>
      </p:pic>
      <p:sp>
        <p:nvSpPr>
          <p:cNvPr id="32" name="Rectangle 31">
            <a:extLst>
              <a:ext uri="{FF2B5EF4-FFF2-40B4-BE49-F238E27FC236}">
                <a16:creationId xmlns:a16="http://schemas.microsoft.com/office/drawing/2014/main" id="{772B4404-00D7-034C-C871-F6EC9DFE69F1}"/>
              </a:ext>
            </a:extLst>
          </p:cNvPr>
          <p:cNvSpPr/>
          <p:nvPr/>
        </p:nvSpPr>
        <p:spPr>
          <a:xfrm>
            <a:off x="3713135" y="159952"/>
            <a:ext cx="1449030" cy="1840612"/>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w="38100">
                <a:solidFill>
                  <a:srgbClr val="C00000"/>
                </a:solidFill>
              </a:ln>
            </a:endParaRPr>
          </a:p>
        </p:txBody>
      </p:sp>
      <p:sp>
        <p:nvSpPr>
          <p:cNvPr id="36" name="Text 9">
            <a:extLst>
              <a:ext uri="{FF2B5EF4-FFF2-40B4-BE49-F238E27FC236}">
                <a16:creationId xmlns:a16="http://schemas.microsoft.com/office/drawing/2014/main" id="{5BEFACB6-F0F7-18DC-5B85-ABD58F1A7350}"/>
              </a:ext>
            </a:extLst>
          </p:cNvPr>
          <p:cNvSpPr/>
          <p:nvPr/>
        </p:nvSpPr>
        <p:spPr>
          <a:xfrm>
            <a:off x="490755" y="3474720"/>
            <a:ext cx="10677507" cy="2619882"/>
          </a:xfrm>
          <a:prstGeom prst="rect">
            <a:avLst/>
          </a:prstGeom>
          <a:noFill/>
          <a:ln/>
        </p:spPr>
        <p:txBody>
          <a:bodyPr wrap="square" lIns="254" tIns="254" rIns="254" bIns="254" rtlCol="0" anchor="t">
            <a:normAutofit lnSpcReduction="10000"/>
          </a:bodyPr>
          <a:lstStyle/>
          <a:p>
            <a:pPr marL="190500" indent="-190500">
              <a:buSzPct val="100000"/>
              <a:buChar char="•"/>
            </a:pPr>
            <a:endParaRPr lang="en-US" sz="2000">
              <a:solidFill>
                <a:srgbClr val="102A43"/>
              </a:solidFill>
              <a:ea typeface="Aptos" pitchFamily="34" charset="-122"/>
              <a:cs typeface="Aptos" pitchFamily="34" charset="-120"/>
            </a:endParaRPr>
          </a:p>
          <a:p>
            <a:pPr marL="190500" indent="-190500">
              <a:buSzPct val="100000"/>
              <a:buChar char="•"/>
            </a:pPr>
            <a:r>
              <a:rPr lang="en-US" sz="2000">
                <a:solidFill>
                  <a:srgbClr val="102A43"/>
                </a:solidFill>
                <a:ea typeface="Aptos" pitchFamily="34" charset="-122"/>
                <a:cs typeface="Aptos" pitchFamily="34" charset="-120"/>
              </a:rPr>
              <a:t>Record what the chosen task is and its current pain point </a:t>
            </a:r>
            <a:r>
              <a:rPr lang="en-US" sz="2000"/>
              <a:t>- </a:t>
            </a:r>
            <a:r>
              <a:rPr lang="en-US" sz="2000">
                <a:solidFill>
                  <a:srgbClr val="102A43"/>
                </a:solidFill>
                <a:ea typeface="Aptos" pitchFamily="34" charset="-122"/>
                <a:cs typeface="Aptos" pitchFamily="34" charset="-120"/>
              </a:rPr>
              <a:t>Save input/output examples (what good looks like)</a:t>
            </a:r>
          </a:p>
          <a:p>
            <a:pPr marL="190500" indent="-190500">
              <a:buSzPct val="100000"/>
              <a:buChar char="•"/>
            </a:pPr>
            <a:endParaRPr lang="en-GB" sz="2000"/>
          </a:p>
          <a:p>
            <a:pPr marL="190500" indent="-190500">
              <a:buSzPct val="100000"/>
              <a:buChar char="•"/>
            </a:pPr>
            <a:r>
              <a:rPr lang="en-GB" sz="2000"/>
              <a:t>Map old and new workflow steps, identify human decision points, approve data sources, describe quality checks before output is shared</a:t>
            </a:r>
          </a:p>
          <a:p>
            <a:pPr marL="190500" indent="-190500">
              <a:buSzPct val="100000"/>
              <a:buChar char="•"/>
            </a:pPr>
            <a:endParaRPr lang="en-GB" sz="2000"/>
          </a:p>
          <a:p>
            <a:pPr marL="190500" indent="-190500">
              <a:buSzPct val="100000"/>
              <a:buChar char="•"/>
            </a:pPr>
            <a:r>
              <a:rPr lang="en-GB" sz="2000"/>
              <a:t>What is the data sensitivity and consequence of errors? Level of Human involvement, Scale, ability to verify outputs</a:t>
            </a:r>
          </a:p>
          <a:p>
            <a:pPr marL="190500" indent="-190500">
              <a:buSzPct val="100000"/>
              <a:buChar char="•"/>
            </a:pPr>
            <a:endParaRPr lang="en-US" sz="2000"/>
          </a:p>
          <a:p>
            <a:pPr>
              <a:buSzPct val="100000"/>
            </a:pPr>
            <a:endParaRPr lang="en-US" sz="2000"/>
          </a:p>
        </p:txBody>
      </p:sp>
    </p:spTree>
    <p:extLst>
      <p:ext uri="{BB962C8B-B14F-4D97-AF65-F5344CB8AC3E}">
        <p14:creationId xmlns:p14="http://schemas.microsoft.com/office/powerpoint/2010/main" val="727380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586F1-9C1D-1A85-9C97-E18CB53A0378}"/>
            </a:ext>
          </a:extLst>
        </p:cNvPr>
        <p:cNvGrpSpPr/>
        <p:nvPr/>
      </p:nvGrpSpPr>
      <p:grpSpPr>
        <a:xfrm>
          <a:off x="0" y="0"/>
          <a:ext cx="1" cy="1"/>
          <a:chOff x="0" y="0"/>
          <a:chExt cx="1" cy="1"/>
        </a:xfrm>
      </p:grpSpPr>
      <p:sp>
        <p:nvSpPr>
          <p:cNvPr id="2" name="Shape 0">
            <a:extLst>
              <a:ext uri="{FF2B5EF4-FFF2-40B4-BE49-F238E27FC236}">
                <a16:creationId xmlns:a16="http://schemas.microsoft.com/office/drawing/2014/main" id="{7BCD6E3B-D656-E402-4A84-75C908B8560E}"/>
              </a:ext>
            </a:extLst>
          </p:cNvPr>
          <p:cNvSpPr/>
          <p:nvPr/>
        </p:nvSpPr>
        <p:spPr>
          <a:xfrm>
            <a:off x="398477" y="2395728"/>
            <a:ext cx="10939244" cy="3968496"/>
          </a:xfrm>
          <a:prstGeom prst="roundRect">
            <a:avLst>
              <a:gd name="adj" fmla="val 1781"/>
            </a:avLst>
          </a:prstGeom>
          <a:solidFill>
            <a:srgbClr val="FFFFFF"/>
          </a:solidFill>
          <a:ln w="12700">
            <a:solidFill>
              <a:srgbClr val="D9E1E8"/>
            </a:solidFill>
            <a:prstDash val="solid"/>
          </a:ln>
          <a:effectLst>
            <a:outerShdw blurRad="17780" dist="7620" dir="2700000" algn="bl" rotWithShape="0">
              <a:srgbClr val="000000">
                <a:alpha val="12000"/>
              </a:srgbClr>
            </a:outerShdw>
          </a:effectLst>
        </p:spPr>
        <p:txBody>
          <a:bodyPr/>
          <a:lstStyle/>
          <a:p>
            <a:endParaRPr lang="en-GB"/>
          </a:p>
        </p:txBody>
      </p:sp>
      <p:sp>
        <p:nvSpPr>
          <p:cNvPr id="3" name="Shape 1">
            <a:extLst>
              <a:ext uri="{FF2B5EF4-FFF2-40B4-BE49-F238E27FC236}">
                <a16:creationId xmlns:a16="http://schemas.microsoft.com/office/drawing/2014/main" id="{30CC701C-69A5-CC1B-6E9B-E76DAFDE5160}"/>
              </a:ext>
            </a:extLst>
          </p:cNvPr>
          <p:cNvSpPr/>
          <p:nvPr/>
        </p:nvSpPr>
        <p:spPr>
          <a:xfrm>
            <a:off x="398477" y="2404872"/>
            <a:ext cx="10939244" cy="822960"/>
          </a:xfrm>
          <a:prstGeom prst="roundRect">
            <a:avLst>
              <a:gd name="adj" fmla="val 6667"/>
            </a:avLst>
          </a:prstGeom>
          <a:solidFill>
            <a:srgbClr val="61B988"/>
          </a:solidFill>
          <a:ln w="12700">
            <a:solidFill>
              <a:srgbClr val="0078D4">
                <a:alpha val="0"/>
              </a:srgbClr>
            </a:solidFill>
            <a:prstDash val="solid"/>
          </a:ln>
        </p:spPr>
        <p:txBody>
          <a:bodyPr/>
          <a:lstStyle/>
          <a:p>
            <a:endParaRPr lang="en-GB"/>
          </a:p>
        </p:txBody>
      </p:sp>
      <p:sp>
        <p:nvSpPr>
          <p:cNvPr id="4" name="Shape 2">
            <a:extLst>
              <a:ext uri="{FF2B5EF4-FFF2-40B4-BE49-F238E27FC236}">
                <a16:creationId xmlns:a16="http://schemas.microsoft.com/office/drawing/2014/main" id="{4B03C509-BAC9-2043-CAA3-A15B05C745E9}"/>
              </a:ext>
            </a:extLst>
          </p:cNvPr>
          <p:cNvSpPr/>
          <p:nvPr/>
        </p:nvSpPr>
        <p:spPr>
          <a:xfrm>
            <a:off x="571499" y="2560320"/>
            <a:ext cx="913351" cy="457200"/>
          </a:xfrm>
          <a:prstGeom prst="ellipse">
            <a:avLst/>
          </a:prstGeom>
          <a:solidFill>
            <a:srgbClr val="FFFFFF">
              <a:alpha val="18000"/>
            </a:srgbClr>
          </a:solidFill>
          <a:ln w="12700">
            <a:solidFill>
              <a:srgbClr val="FFFFFF">
                <a:alpha val="50000"/>
              </a:srgbClr>
            </a:solidFill>
            <a:prstDash val="solid"/>
          </a:ln>
        </p:spPr>
        <p:txBody>
          <a:bodyPr/>
          <a:lstStyle/>
          <a:p>
            <a:endParaRPr lang="en-GB"/>
          </a:p>
        </p:txBody>
      </p:sp>
      <p:sp>
        <p:nvSpPr>
          <p:cNvPr id="5" name="Text 3">
            <a:extLst>
              <a:ext uri="{FF2B5EF4-FFF2-40B4-BE49-F238E27FC236}">
                <a16:creationId xmlns:a16="http://schemas.microsoft.com/office/drawing/2014/main" id="{18F9203B-4DAA-41B9-2929-4100C9331172}"/>
              </a:ext>
            </a:extLst>
          </p:cNvPr>
          <p:cNvSpPr/>
          <p:nvPr/>
        </p:nvSpPr>
        <p:spPr>
          <a:xfrm>
            <a:off x="654341" y="2615099"/>
            <a:ext cx="70887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900" b="1">
                <a:solidFill>
                  <a:srgbClr val="FFFFFF"/>
                </a:solidFill>
                <a:latin typeface="Aptos Display" pitchFamily="34" charset="0"/>
              </a:rPr>
              <a:t>31-70</a:t>
            </a:r>
            <a:endParaRPr kumimoji="0" lang="en-US" sz="1900" b="0" i="0" u="none" strike="noStrike" kern="1200" cap="none" spc="0" normalizeH="0" baseline="0" noProof="0">
              <a:ln>
                <a:noFill/>
              </a:ln>
              <a:solidFill>
                <a:prstClr val="black"/>
              </a:solidFill>
              <a:effectLst/>
              <a:uLnTx/>
              <a:uFillTx/>
              <a:latin typeface="Aptos"/>
              <a:ea typeface="+mn-ea"/>
              <a:cs typeface="+mn-cs"/>
            </a:endParaRPr>
          </a:p>
        </p:txBody>
      </p:sp>
      <p:sp>
        <p:nvSpPr>
          <p:cNvPr id="6" name="Text 4">
            <a:extLst>
              <a:ext uri="{FF2B5EF4-FFF2-40B4-BE49-F238E27FC236}">
                <a16:creationId xmlns:a16="http://schemas.microsoft.com/office/drawing/2014/main" id="{18469F8E-F303-4E2C-1D44-B53C19990590}"/>
              </a:ext>
            </a:extLst>
          </p:cNvPr>
          <p:cNvSpPr/>
          <p:nvPr/>
        </p:nvSpPr>
        <p:spPr>
          <a:xfrm>
            <a:off x="3405931" y="2485616"/>
            <a:ext cx="4769142"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50" normalizeH="0" baseline="0" noProof="0">
                <a:ln>
                  <a:noFill/>
                </a:ln>
                <a:solidFill>
                  <a:srgbClr val="FFFFFF"/>
                </a:solidFill>
                <a:effectLst/>
                <a:uLnTx/>
                <a:uFillTx/>
                <a:latin typeface="Aptos Display" pitchFamily="34" charset="0"/>
                <a:ea typeface="Aptos Display" pitchFamily="34" charset="-122"/>
                <a:cs typeface="Aptos Display" pitchFamily="34" charset="-120"/>
              </a:rPr>
              <a:t>Testing and Ownership</a:t>
            </a:r>
            <a:endParaRPr kumimoji="0" lang="en-US" sz="3600" b="0" i="0" u="none" strike="noStrike" kern="1200" cap="none" spc="0" normalizeH="0" baseline="0" noProof="0">
              <a:ln>
                <a:noFill/>
              </a:ln>
              <a:solidFill>
                <a:prstClr val="black"/>
              </a:solidFill>
              <a:effectLst/>
              <a:uLnTx/>
              <a:uFillTx/>
              <a:latin typeface="Aptos"/>
              <a:ea typeface="+mn-ea"/>
              <a:cs typeface="+mn-cs"/>
            </a:endParaRPr>
          </a:p>
        </p:txBody>
      </p:sp>
      <p:sp>
        <p:nvSpPr>
          <p:cNvPr id="7" name="Text 5">
            <a:extLst>
              <a:ext uri="{FF2B5EF4-FFF2-40B4-BE49-F238E27FC236}">
                <a16:creationId xmlns:a16="http://schemas.microsoft.com/office/drawing/2014/main" id="{8F88B4DA-B12E-261E-050C-2AE37EC1BE9C}"/>
              </a:ext>
            </a:extLst>
          </p:cNvPr>
          <p:cNvSpPr/>
          <p:nvPr/>
        </p:nvSpPr>
        <p:spPr>
          <a:xfrm>
            <a:off x="3781254" y="2960367"/>
            <a:ext cx="4800684" cy="191857"/>
          </a:xfrm>
          <a:prstGeom prst="rect">
            <a:avLst/>
          </a:prstGeom>
          <a:noFill/>
          <a:ln/>
        </p:spPr>
        <p:txBody>
          <a:bodyPr wrap="square" lIns="0" tIns="0" rIns="0" bIns="0" rtlCol="0" anchor="ctr"/>
          <a:lstStyle/>
          <a:p>
            <a:pPr>
              <a:defRPr/>
            </a:pPr>
            <a:r>
              <a:rPr lang="en-US" sz="1050" b="1">
                <a:solidFill>
                  <a:srgbClr val="FFFFFF"/>
                </a:solidFill>
                <a:latin typeface="Aptos" pitchFamily="34" charset="0"/>
                <a:ea typeface="Aptos" pitchFamily="34" charset="-122"/>
                <a:cs typeface="Aptos" pitchFamily="34" charset="-120"/>
              </a:rPr>
              <a:t>Evaluate real cases</a:t>
            </a:r>
            <a:r>
              <a:rPr lang="en-US" sz="1050"/>
              <a:t> </a:t>
            </a:r>
            <a:r>
              <a:rPr kumimoji="0" lang="en-US" sz="1050" b="1" i="0" u="none" strike="noStrike" kern="1200" cap="none" spc="0" normalizeH="0" baseline="0" noProof="0">
                <a:ln>
                  <a:noFill/>
                </a:ln>
                <a:solidFill>
                  <a:srgbClr val="FFFFFF"/>
                </a:solidFill>
                <a:effectLst/>
                <a:uLnTx/>
                <a:uFillTx/>
                <a:latin typeface="Aptos" pitchFamily="34" charset="0"/>
                <a:ea typeface="Aptos" pitchFamily="34" charset="-122"/>
                <a:cs typeface="Aptos" pitchFamily="34" charset="-120"/>
              </a:rPr>
              <a:t>&gt;&gt; </a:t>
            </a:r>
            <a:r>
              <a:rPr lang="en-US" sz="1050" b="1">
                <a:solidFill>
                  <a:srgbClr val="FFFFFF"/>
                </a:solidFill>
                <a:latin typeface="Aptos" pitchFamily="34" charset="0"/>
                <a:ea typeface="Aptos" pitchFamily="34" charset="-122"/>
                <a:cs typeface="Aptos" pitchFamily="34" charset="-120"/>
              </a:rPr>
              <a:t>Assign controls and owners</a:t>
            </a:r>
            <a:endParaRPr lang="en-US" sz="1050"/>
          </a:p>
          <a:p>
            <a:pPr>
              <a:defRPr/>
            </a:pPr>
            <a:endParaRPr kumimoji="0" lang="en-US" sz="1050" b="0" i="0" u="none" strike="noStrike" kern="1200" cap="none" spc="0" normalizeH="0" baseline="0" noProof="0">
              <a:ln>
                <a:noFill/>
              </a:ln>
              <a:solidFill>
                <a:prstClr val="black"/>
              </a:solidFill>
              <a:effectLst/>
              <a:uLnTx/>
              <a:uFillTx/>
              <a:latin typeface="Aptos"/>
              <a:ea typeface="+mn-ea"/>
              <a:cs typeface="+mn-cs"/>
            </a:endParaRPr>
          </a:p>
        </p:txBody>
      </p:sp>
      <p:sp>
        <p:nvSpPr>
          <p:cNvPr id="14" name="Shape 12">
            <a:extLst>
              <a:ext uri="{FF2B5EF4-FFF2-40B4-BE49-F238E27FC236}">
                <a16:creationId xmlns:a16="http://schemas.microsoft.com/office/drawing/2014/main" id="{313A60D1-AB03-9963-6F3B-EF1DCBF41289}"/>
              </a:ext>
            </a:extLst>
          </p:cNvPr>
          <p:cNvSpPr/>
          <p:nvPr/>
        </p:nvSpPr>
        <p:spPr>
          <a:xfrm>
            <a:off x="2573155" y="6501343"/>
            <a:ext cx="6373703" cy="329184"/>
          </a:xfrm>
          <a:prstGeom prst="roundRect">
            <a:avLst>
              <a:gd name="adj" fmla="val 11111"/>
            </a:avLst>
          </a:prstGeom>
          <a:solidFill>
            <a:schemeClr val="accent6">
              <a:lumMod val="40000"/>
              <a:lumOff val="60000"/>
            </a:schemeClr>
          </a:solidFill>
          <a:ln w="12700">
            <a:solidFill>
              <a:srgbClr val="E8F3FB"/>
            </a:solidFill>
            <a:prstDash val="solid"/>
          </a:ln>
        </p:spPr>
        <p:txBody>
          <a:bodyPr/>
          <a:lstStyle/>
          <a:p>
            <a:endParaRPr lang="en-GB"/>
          </a:p>
        </p:txBody>
      </p:sp>
      <p:sp>
        <p:nvSpPr>
          <p:cNvPr id="15" name="Text 13">
            <a:extLst>
              <a:ext uri="{FF2B5EF4-FFF2-40B4-BE49-F238E27FC236}">
                <a16:creationId xmlns:a16="http://schemas.microsoft.com/office/drawing/2014/main" id="{5CA35491-C8FE-2D2D-F98D-81B6E088F4DA}"/>
              </a:ext>
            </a:extLst>
          </p:cNvPr>
          <p:cNvSpPr/>
          <p:nvPr/>
        </p:nvSpPr>
        <p:spPr>
          <a:xfrm>
            <a:off x="2881618" y="6583639"/>
            <a:ext cx="5738069" cy="196002"/>
          </a:xfrm>
          <a:prstGeom prst="rect">
            <a:avLst/>
          </a:prstGeom>
          <a:no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0" cap="none" spc="25" normalizeH="0" baseline="0" noProof="0">
                <a:ln>
                  <a:noFill/>
                </a:ln>
                <a:solidFill>
                  <a:schemeClr val="accent6">
                    <a:lumMod val="75000"/>
                  </a:schemeClr>
                </a:solidFill>
                <a:effectLst/>
                <a:uLnTx/>
                <a:uFillTx/>
                <a:latin typeface="Aptos" pitchFamily="34" charset="0"/>
                <a:ea typeface="Aptos" pitchFamily="34" charset="-122"/>
                <a:cs typeface="Aptos" pitchFamily="34" charset="-120"/>
              </a:rPr>
              <a:t>Use-case record &gt; Workflow map &gt; Risk classification </a:t>
            </a:r>
            <a:endParaRPr kumimoji="0" lang="en-US" b="0" i="0" u="none" strike="noStrike" kern="1200" cap="none" spc="0" normalizeH="0" baseline="0" noProof="0">
              <a:ln>
                <a:noFill/>
              </a:ln>
              <a:solidFill>
                <a:schemeClr val="accent6">
                  <a:lumMod val="75000"/>
                </a:schemeClr>
              </a:solidFill>
              <a:effectLst/>
              <a:uLnTx/>
              <a:uFillTx/>
              <a:latin typeface="Aptos"/>
              <a:ea typeface="+mn-ea"/>
              <a:cs typeface="+mn-cs"/>
            </a:endParaRPr>
          </a:p>
        </p:txBody>
      </p:sp>
      <p:sp>
        <p:nvSpPr>
          <p:cNvPr id="22" name="Shape 20">
            <a:extLst>
              <a:ext uri="{FF2B5EF4-FFF2-40B4-BE49-F238E27FC236}">
                <a16:creationId xmlns:a16="http://schemas.microsoft.com/office/drawing/2014/main" id="{412753B3-2231-80FA-043A-7DF1BA5C891A}"/>
              </a:ext>
            </a:extLst>
          </p:cNvPr>
          <p:cNvSpPr/>
          <p:nvPr/>
        </p:nvSpPr>
        <p:spPr>
          <a:xfrm>
            <a:off x="10729351" y="2586745"/>
            <a:ext cx="438912" cy="438912"/>
          </a:xfrm>
          <a:prstGeom prst="ellipse">
            <a:avLst/>
          </a:prstGeom>
          <a:solidFill>
            <a:srgbClr val="FFFFFF">
              <a:alpha val="20000"/>
            </a:srgbClr>
          </a:solidFill>
          <a:ln w="12700">
            <a:solidFill>
              <a:srgbClr val="FFFFFF">
                <a:alpha val="0"/>
              </a:srgbClr>
            </a:solidFill>
            <a:prstDash val="solid"/>
          </a:ln>
        </p:spPr>
        <p:txBody>
          <a:bodyPr/>
          <a:lstStyle/>
          <a:p>
            <a:endParaRPr lang="en-GB"/>
          </a:p>
        </p:txBody>
      </p:sp>
      <p:sp>
        <p:nvSpPr>
          <p:cNvPr id="23" name="Shape 21">
            <a:extLst>
              <a:ext uri="{FF2B5EF4-FFF2-40B4-BE49-F238E27FC236}">
                <a16:creationId xmlns:a16="http://schemas.microsoft.com/office/drawing/2014/main" id="{84F321ED-858F-FAAC-97AD-FF867F6E76FA}"/>
              </a:ext>
            </a:extLst>
          </p:cNvPr>
          <p:cNvSpPr/>
          <p:nvPr/>
        </p:nvSpPr>
        <p:spPr>
          <a:xfrm>
            <a:off x="10784215" y="2641609"/>
            <a:ext cx="329184" cy="329184"/>
          </a:xfrm>
          <a:prstGeom prst="ellipse">
            <a:avLst/>
          </a:prstGeom>
          <a:solidFill>
            <a:srgbClr val="FFFFFF">
              <a:alpha val="0"/>
            </a:srgbClr>
          </a:solidFill>
          <a:ln w="25400">
            <a:solidFill>
              <a:srgbClr val="FFFFFF"/>
            </a:solidFill>
            <a:prstDash val="solid"/>
          </a:ln>
        </p:spPr>
        <p:txBody>
          <a:bodyPr/>
          <a:lstStyle/>
          <a:p>
            <a:endParaRPr lang="en-GB"/>
          </a:p>
        </p:txBody>
      </p:sp>
      <p:sp>
        <p:nvSpPr>
          <p:cNvPr id="24" name="Shape 22">
            <a:extLst>
              <a:ext uri="{FF2B5EF4-FFF2-40B4-BE49-F238E27FC236}">
                <a16:creationId xmlns:a16="http://schemas.microsoft.com/office/drawing/2014/main" id="{1681905A-AB1B-80BA-647D-9CD9B8144CE5}"/>
              </a:ext>
            </a:extLst>
          </p:cNvPr>
          <p:cNvSpPr/>
          <p:nvPr/>
        </p:nvSpPr>
        <p:spPr>
          <a:xfrm flipV="1">
            <a:off x="10948807" y="2731791"/>
            <a:ext cx="73152" cy="82296"/>
          </a:xfrm>
          <a:prstGeom prst="line">
            <a:avLst/>
          </a:prstGeom>
          <a:noFill/>
          <a:ln w="25400">
            <a:solidFill>
              <a:srgbClr val="FFFFFF"/>
            </a:solidFill>
            <a:prstDash val="solid"/>
          </a:ln>
        </p:spPr>
        <p:txBody>
          <a:bodyPr/>
          <a:lstStyle/>
          <a:p>
            <a:endParaRPr lang="en-GB"/>
          </a:p>
        </p:txBody>
      </p:sp>
      <p:sp>
        <p:nvSpPr>
          <p:cNvPr id="25" name="Shape 23">
            <a:extLst>
              <a:ext uri="{FF2B5EF4-FFF2-40B4-BE49-F238E27FC236}">
                <a16:creationId xmlns:a16="http://schemas.microsoft.com/office/drawing/2014/main" id="{954FA744-78C9-0EAC-3CA5-C46B1177B4C8}"/>
              </a:ext>
            </a:extLst>
          </p:cNvPr>
          <p:cNvSpPr/>
          <p:nvPr/>
        </p:nvSpPr>
        <p:spPr>
          <a:xfrm flipH="1" flipV="1">
            <a:off x="10885637" y="2795799"/>
            <a:ext cx="64008" cy="36576"/>
          </a:xfrm>
          <a:prstGeom prst="line">
            <a:avLst/>
          </a:prstGeom>
          <a:noFill/>
          <a:ln w="25400">
            <a:solidFill>
              <a:srgbClr val="FFFFFF"/>
            </a:solidFill>
            <a:prstDash val="solid"/>
          </a:ln>
        </p:spPr>
        <p:txBody>
          <a:bodyPr/>
          <a:lstStyle/>
          <a:p>
            <a:endParaRPr lang="en-GB"/>
          </a:p>
        </p:txBody>
      </p:sp>
      <p:pic>
        <p:nvPicPr>
          <p:cNvPr id="30" name="Content Placeholder 7">
            <a:extLst>
              <a:ext uri="{FF2B5EF4-FFF2-40B4-BE49-F238E27FC236}">
                <a16:creationId xmlns:a16="http://schemas.microsoft.com/office/drawing/2014/main" id="{DFF80F31-0E21-E41C-32DF-BF4DF6D0F8A9}"/>
              </a:ext>
            </a:extLst>
          </p:cNvPr>
          <p:cNvPicPr>
            <a:picLocks noChangeAspect="1"/>
          </p:cNvPicPr>
          <p:nvPr/>
        </p:nvPicPr>
        <p:blipFill>
          <a:blip r:embed="rId3"/>
          <a:srcRect t="26530" b="24810"/>
          <a:stretch>
            <a:fillRect/>
          </a:stretch>
        </p:blipFill>
        <p:spPr>
          <a:xfrm>
            <a:off x="2573155" y="180212"/>
            <a:ext cx="6788791" cy="1800099"/>
          </a:xfrm>
          <a:prstGeom prst="rect">
            <a:avLst/>
          </a:prstGeom>
        </p:spPr>
      </p:pic>
      <p:sp>
        <p:nvSpPr>
          <p:cNvPr id="32" name="Rectangle 31">
            <a:extLst>
              <a:ext uri="{FF2B5EF4-FFF2-40B4-BE49-F238E27FC236}">
                <a16:creationId xmlns:a16="http://schemas.microsoft.com/office/drawing/2014/main" id="{A8BFA76D-1667-87D0-7CDA-A544B8BDC800}"/>
              </a:ext>
            </a:extLst>
          </p:cNvPr>
          <p:cNvSpPr/>
          <p:nvPr/>
        </p:nvSpPr>
        <p:spPr>
          <a:xfrm>
            <a:off x="5107931" y="145330"/>
            <a:ext cx="1449030" cy="1840612"/>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w="38100">
                <a:solidFill>
                  <a:srgbClr val="C00000"/>
                </a:solidFill>
              </a:ln>
            </a:endParaRPr>
          </a:p>
        </p:txBody>
      </p:sp>
      <p:sp>
        <p:nvSpPr>
          <p:cNvPr id="36" name="Text 9">
            <a:extLst>
              <a:ext uri="{FF2B5EF4-FFF2-40B4-BE49-F238E27FC236}">
                <a16:creationId xmlns:a16="http://schemas.microsoft.com/office/drawing/2014/main" id="{800564F4-366E-7253-AC76-93CBB856092D}"/>
              </a:ext>
            </a:extLst>
          </p:cNvPr>
          <p:cNvSpPr/>
          <p:nvPr/>
        </p:nvSpPr>
        <p:spPr>
          <a:xfrm>
            <a:off x="398477" y="3308576"/>
            <a:ext cx="10867938" cy="2786026"/>
          </a:xfrm>
          <a:prstGeom prst="rect">
            <a:avLst/>
          </a:prstGeom>
          <a:noFill/>
          <a:ln/>
        </p:spPr>
        <p:txBody>
          <a:bodyPr wrap="square" lIns="254" tIns="254" rIns="254" bIns="254" rtlCol="0" anchor="t">
            <a:normAutofit/>
          </a:bodyPr>
          <a:lstStyle/>
          <a:p>
            <a:pPr marL="190500" indent="-190500">
              <a:buSzPct val="100000"/>
              <a:buChar char="•"/>
            </a:pPr>
            <a:endParaRPr lang="en-US" sz="2000">
              <a:solidFill>
                <a:srgbClr val="102A43"/>
              </a:solidFill>
              <a:ea typeface="Aptos" pitchFamily="34" charset="-122"/>
              <a:cs typeface="Aptos" pitchFamily="34" charset="-120"/>
            </a:endParaRPr>
          </a:p>
          <a:p>
            <a:pPr marL="203200" indent="-203200">
              <a:buSzPct val="100000"/>
              <a:buFontTx/>
              <a:buChar char="•"/>
            </a:pPr>
            <a:r>
              <a:rPr lang="en-US" sz="2000">
                <a:solidFill>
                  <a:srgbClr val="18324A"/>
                </a:solidFill>
                <a:latin typeface="Aptos" pitchFamily="34" charset="0"/>
                <a:ea typeface="Aptos" pitchFamily="34" charset="-122"/>
                <a:cs typeface="Aptos" pitchFamily="34" charset="-120"/>
              </a:rPr>
              <a:t>Define acceptance criteria, confirm data, security and retention</a:t>
            </a:r>
            <a:endParaRPr lang="en-US" sz="2000"/>
          </a:p>
          <a:p>
            <a:pPr marL="203200" indent="-203200">
              <a:buSzPct val="100000"/>
              <a:buChar char="•"/>
            </a:pPr>
            <a:r>
              <a:rPr lang="en-US" sz="2000">
                <a:solidFill>
                  <a:srgbClr val="18324A"/>
                </a:solidFill>
                <a:latin typeface="Aptos" pitchFamily="34" charset="0"/>
                <a:ea typeface="Aptos" pitchFamily="34" charset="-122"/>
                <a:cs typeface="Aptos" pitchFamily="34" charset="-120"/>
              </a:rPr>
              <a:t>Run repeated, representative trials</a:t>
            </a:r>
            <a:r>
              <a:rPr lang="en-US" sz="2000"/>
              <a:t> - </a:t>
            </a:r>
            <a:r>
              <a:rPr lang="en-US" sz="2000" i="1">
                <a:solidFill>
                  <a:srgbClr val="18324A"/>
                </a:solidFill>
                <a:latin typeface="Aptos" pitchFamily="34" charset="0"/>
                <a:ea typeface="Aptos" pitchFamily="34" charset="-122"/>
                <a:cs typeface="Aptos" pitchFamily="34" charset="-120"/>
              </a:rPr>
              <a:t>Test difficult and failure cases</a:t>
            </a:r>
            <a:r>
              <a:rPr lang="en-US" sz="2000">
                <a:solidFill>
                  <a:srgbClr val="18324A"/>
                </a:solidFill>
                <a:latin typeface="Aptos" pitchFamily="34" charset="0"/>
                <a:ea typeface="Aptos" pitchFamily="34" charset="-122"/>
                <a:cs typeface="Aptos" pitchFamily="34" charset="-120"/>
              </a:rPr>
              <a:t>!</a:t>
            </a:r>
            <a:endParaRPr lang="en-US" sz="2000"/>
          </a:p>
          <a:p>
            <a:pPr marL="203200" indent="-203200">
              <a:buSzPct val="100000"/>
              <a:buChar char="•"/>
            </a:pPr>
            <a:r>
              <a:rPr lang="en-US" sz="2000">
                <a:solidFill>
                  <a:srgbClr val="18324A"/>
                </a:solidFill>
                <a:latin typeface="Aptos" pitchFamily="34" charset="0"/>
                <a:ea typeface="Aptos" pitchFamily="34" charset="-122"/>
                <a:cs typeface="Aptos" pitchFamily="34" charset="-120"/>
              </a:rPr>
              <a:t>Assess usability and human factors</a:t>
            </a:r>
            <a:r>
              <a:rPr lang="en-US" sz="2000"/>
              <a:t>, </a:t>
            </a:r>
            <a:r>
              <a:rPr lang="en-US" sz="2000">
                <a:solidFill>
                  <a:srgbClr val="18324A"/>
                </a:solidFill>
                <a:latin typeface="Aptos" pitchFamily="34" charset="0"/>
              </a:rPr>
              <a:t>c</a:t>
            </a:r>
            <a:r>
              <a:rPr lang="en-US" sz="2000">
                <a:solidFill>
                  <a:srgbClr val="18324A"/>
                </a:solidFill>
                <a:latin typeface="Aptos" pitchFamily="34" charset="0"/>
                <a:ea typeface="Aptos" pitchFamily="34" charset="-122"/>
                <a:cs typeface="Aptos" pitchFamily="34" charset="-120"/>
              </a:rPr>
              <a:t>heck operational fit</a:t>
            </a:r>
            <a:r>
              <a:rPr lang="en-US" sz="2000"/>
              <a:t> and </a:t>
            </a:r>
            <a:r>
              <a:rPr lang="en-US" sz="2000">
                <a:solidFill>
                  <a:srgbClr val="18324A"/>
                </a:solidFill>
                <a:latin typeface="Aptos" pitchFamily="34" charset="0"/>
              </a:rPr>
              <a:t>c</a:t>
            </a:r>
            <a:r>
              <a:rPr lang="en-US" sz="2000">
                <a:solidFill>
                  <a:srgbClr val="18324A"/>
                </a:solidFill>
                <a:latin typeface="Aptos" pitchFamily="34" charset="0"/>
                <a:ea typeface="Aptos" pitchFamily="34" charset="-122"/>
                <a:cs typeface="Aptos" pitchFamily="34" charset="-120"/>
              </a:rPr>
              <a:t>ompare value against the baseline</a:t>
            </a:r>
          </a:p>
          <a:p>
            <a:pPr marL="203200" indent="-203200">
              <a:buSzPct val="100000"/>
              <a:buChar char="•"/>
            </a:pPr>
            <a:endParaRPr lang="en-US" sz="2000">
              <a:solidFill>
                <a:srgbClr val="18324A"/>
              </a:solidFill>
              <a:latin typeface="Aptos" pitchFamily="34" charset="0"/>
              <a:ea typeface="Aptos" pitchFamily="34" charset="-122"/>
              <a:cs typeface="Aptos" pitchFamily="34" charset="-120"/>
            </a:endParaRPr>
          </a:p>
          <a:p>
            <a:pPr marL="203200" indent="-203200">
              <a:buSzPct val="100000"/>
              <a:buFontTx/>
              <a:buChar char="•"/>
            </a:pPr>
            <a:r>
              <a:rPr lang="en-US" sz="2000">
                <a:solidFill>
                  <a:srgbClr val="18324A"/>
                </a:solidFill>
                <a:latin typeface="Aptos" pitchFamily="34" charset="0"/>
                <a:ea typeface="Aptos" pitchFamily="34" charset="-122"/>
                <a:cs typeface="Aptos" pitchFamily="34" charset="-120"/>
              </a:rPr>
              <a:t>Business owner accepts accountability. Data owner confirms permitted use</a:t>
            </a:r>
            <a:endParaRPr lang="en-US" sz="2000"/>
          </a:p>
          <a:p>
            <a:pPr marL="203200" indent="-203200">
              <a:buSzPct val="100000"/>
              <a:buChar char="•"/>
            </a:pPr>
            <a:r>
              <a:rPr lang="en-US" sz="2000">
                <a:solidFill>
                  <a:srgbClr val="18324A"/>
                </a:solidFill>
                <a:latin typeface="Aptos" pitchFamily="34" charset="0"/>
                <a:ea typeface="Aptos" pitchFamily="34" charset="-122"/>
                <a:cs typeface="Aptos" pitchFamily="34" charset="-120"/>
              </a:rPr>
              <a:t>Specialists review applicable risks and impacts</a:t>
            </a:r>
            <a:endParaRPr lang="en-US" sz="2000"/>
          </a:p>
          <a:p>
            <a:pPr marL="203200" indent="-203200">
              <a:buSzPct val="100000"/>
              <a:buChar char="•"/>
            </a:pPr>
            <a:r>
              <a:rPr lang="en-US" sz="2000">
                <a:solidFill>
                  <a:srgbClr val="18324A"/>
                </a:solidFill>
                <a:latin typeface="Aptos" pitchFamily="34" charset="0"/>
                <a:ea typeface="Aptos" pitchFamily="34" charset="-122"/>
                <a:cs typeface="Aptos" pitchFamily="34" charset="-120"/>
              </a:rPr>
              <a:t>Team lead covers training and wellbeing</a:t>
            </a:r>
            <a:endParaRPr lang="en-US" sz="2000"/>
          </a:p>
          <a:p>
            <a:pPr marL="203200" indent="-203200">
              <a:buSzPct val="100000"/>
              <a:buChar char="•"/>
            </a:pPr>
            <a:endParaRPr lang="en-US" sz="2000"/>
          </a:p>
          <a:p>
            <a:pPr marL="190500" indent="-190500">
              <a:buSzPct val="100000"/>
              <a:buChar char="•"/>
            </a:pPr>
            <a:endParaRPr lang="en-US" sz="2000"/>
          </a:p>
          <a:p>
            <a:pPr>
              <a:buSzPct val="100000"/>
            </a:pPr>
            <a:endParaRPr lang="en-US" sz="2000"/>
          </a:p>
        </p:txBody>
      </p:sp>
    </p:spTree>
    <p:extLst>
      <p:ext uri="{BB962C8B-B14F-4D97-AF65-F5344CB8AC3E}">
        <p14:creationId xmlns:p14="http://schemas.microsoft.com/office/powerpoint/2010/main" val="18505213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23B2B-F9E0-FCB1-B654-8EACFC2C9BDA}"/>
            </a:ext>
          </a:extLst>
        </p:cNvPr>
        <p:cNvGrpSpPr/>
        <p:nvPr/>
      </p:nvGrpSpPr>
      <p:grpSpPr>
        <a:xfrm>
          <a:off x="0" y="0"/>
          <a:ext cx="1" cy="1"/>
          <a:chOff x="0" y="0"/>
          <a:chExt cx="1" cy="1"/>
        </a:xfrm>
      </p:grpSpPr>
      <p:sp>
        <p:nvSpPr>
          <p:cNvPr id="2" name="Shape 0">
            <a:extLst>
              <a:ext uri="{FF2B5EF4-FFF2-40B4-BE49-F238E27FC236}">
                <a16:creationId xmlns:a16="http://schemas.microsoft.com/office/drawing/2014/main" id="{1CED1412-D1AE-6167-FBB6-B5A6A1A0C205}"/>
              </a:ext>
            </a:extLst>
          </p:cNvPr>
          <p:cNvSpPr/>
          <p:nvPr/>
        </p:nvSpPr>
        <p:spPr>
          <a:xfrm>
            <a:off x="398477" y="2395728"/>
            <a:ext cx="10939244" cy="3968496"/>
          </a:xfrm>
          <a:prstGeom prst="roundRect">
            <a:avLst>
              <a:gd name="adj" fmla="val 1781"/>
            </a:avLst>
          </a:prstGeom>
          <a:solidFill>
            <a:srgbClr val="FFFFFF"/>
          </a:solidFill>
          <a:ln w="12700">
            <a:solidFill>
              <a:srgbClr val="D9E1E8"/>
            </a:solidFill>
            <a:prstDash val="solid"/>
          </a:ln>
          <a:effectLst>
            <a:outerShdw blurRad="17780" dist="7620" dir="2700000" algn="bl" rotWithShape="0">
              <a:srgbClr val="000000">
                <a:alpha val="12000"/>
              </a:srgbClr>
            </a:outerShdw>
          </a:effectLst>
        </p:spPr>
        <p:txBody>
          <a:bodyPr/>
          <a:lstStyle/>
          <a:p>
            <a:endParaRPr lang="en-GB"/>
          </a:p>
        </p:txBody>
      </p:sp>
      <p:sp>
        <p:nvSpPr>
          <p:cNvPr id="3" name="Shape 1">
            <a:extLst>
              <a:ext uri="{FF2B5EF4-FFF2-40B4-BE49-F238E27FC236}">
                <a16:creationId xmlns:a16="http://schemas.microsoft.com/office/drawing/2014/main" id="{3F46A7C1-5F19-99DC-62F7-F5EA3252005D}"/>
              </a:ext>
            </a:extLst>
          </p:cNvPr>
          <p:cNvSpPr/>
          <p:nvPr/>
        </p:nvSpPr>
        <p:spPr>
          <a:xfrm>
            <a:off x="398477" y="2404872"/>
            <a:ext cx="10939244" cy="822960"/>
          </a:xfrm>
          <a:prstGeom prst="roundRect">
            <a:avLst>
              <a:gd name="adj" fmla="val 6667"/>
            </a:avLst>
          </a:prstGeom>
          <a:solidFill>
            <a:srgbClr val="E2A339"/>
          </a:solidFill>
          <a:ln w="12700">
            <a:solidFill>
              <a:srgbClr val="0078D4">
                <a:alpha val="0"/>
              </a:srgbClr>
            </a:solidFill>
            <a:prstDash val="solid"/>
          </a:ln>
        </p:spPr>
        <p:txBody>
          <a:bodyPr/>
          <a:lstStyle/>
          <a:p>
            <a:endParaRPr lang="en-GB"/>
          </a:p>
        </p:txBody>
      </p:sp>
      <p:sp>
        <p:nvSpPr>
          <p:cNvPr id="4" name="Shape 2">
            <a:extLst>
              <a:ext uri="{FF2B5EF4-FFF2-40B4-BE49-F238E27FC236}">
                <a16:creationId xmlns:a16="http://schemas.microsoft.com/office/drawing/2014/main" id="{01241252-AAAD-92A4-3DF9-5A5B1729D16E}"/>
              </a:ext>
            </a:extLst>
          </p:cNvPr>
          <p:cNvSpPr/>
          <p:nvPr/>
        </p:nvSpPr>
        <p:spPr>
          <a:xfrm>
            <a:off x="571499" y="2560320"/>
            <a:ext cx="913351" cy="457200"/>
          </a:xfrm>
          <a:prstGeom prst="ellipse">
            <a:avLst/>
          </a:prstGeom>
          <a:solidFill>
            <a:srgbClr val="FFFFFF">
              <a:alpha val="18000"/>
            </a:srgbClr>
          </a:solidFill>
          <a:ln w="12700">
            <a:solidFill>
              <a:srgbClr val="FFFFFF">
                <a:alpha val="50000"/>
              </a:srgbClr>
            </a:solidFill>
            <a:prstDash val="solid"/>
          </a:ln>
        </p:spPr>
        <p:txBody>
          <a:bodyPr/>
          <a:lstStyle/>
          <a:p>
            <a:endParaRPr lang="en-GB"/>
          </a:p>
        </p:txBody>
      </p:sp>
      <p:sp>
        <p:nvSpPr>
          <p:cNvPr id="5" name="Text 3">
            <a:extLst>
              <a:ext uri="{FF2B5EF4-FFF2-40B4-BE49-F238E27FC236}">
                <a16:creationId xmlns:a16="http://schemas.microsoft.com/office/drawing/2014/main" id="{39BC5E04-997D-4D56-68D1-30578184CD5E}"/>
              </a:ext>
            </a:extLst>
          </p:cNvPr>
          <p:cNvSpPr/>
          <p:nvPr/>
        </p:nvSpPr>
        <p:spPr>
          <a:xfrm>
            <a:off x="637563" y="2615099"/>
            <a:ext cx="770222"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a:ln>
                  <a:noFill/>
                </a:ln>
                <a:solidFill>
                  <a:srgbClr val="FFFFFF"/>
                </a:solidFill>
                <a:effectLst/>
                <a:uLnTx/>
                <a:uFillTx/>
                <a:latin typeface="Aptos Display" pitchFamily="34" charset="0"/>
                <a:ea typeface="+mn-ea"/>
                <a:cs typeface="+mn-cs"/>
              </a:rPr>
              <a:t>71-90</a:t>
            </a:r>
            <a:endParaRPr kumimoji="0" lang="en-US" sz="1900" b="0" i="0" u="none" strike="noStrike" kern="1200" cap="none" spc="0" normalizeH="0" baseline="0" noProof="0">
              <a:ln>
                <a:noFill/>
              </a:ln>
              <a:solidFill>
                <a:prstClr val="black"/>
              </a:solidFill>
              <a:effectLst/>
              <a:uLnTx/>
              <a:uFillTx/>
              <a:latin typeface="Aptos"/>
              <a:ea typeface="+mn-ea"/>
              <a:cs typeface="+mn-cs"/>
            </a:endParaRPr>
          </a:p>
        </p:txBody>
      </p:sp>
      <p:sp>
        <p:nvSpPr>
          <p:cNvPr id="6" name="Text 4">
            <a:extLst>
              <a:ext uri="{FF2B5EF4-FFF2-40B4-BE49-F238E27FC236}">
                <a16:creationId xmlns:a16="http://schemas.microsoft.com/office/drawing/2014/main" id="{6BE0A503-CAD3-54E3-308C-ABF705B6C248}"/>
              </a:ext>
            </a:extLst>
          </p:cNvPr>
          <p:cNvSpPr/>
          <p:nvPr/>
        </p:nvSpPr>
        <p:spPr>
          <a:xfrm>
            <a:off x="3628406" y="2477939"/>
            <a:ext cx="7155809"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50" normalizeH="0" baseline="0" noProof="0">
                <a:ln>
                  <a:noFill/>
                </a:ln>
                <a:solidFill>
                  <a:srgbClr val="FFFFFF"/>
                </a:solidFill>
                <a:effectLst/>
                <a:uLnTx/>
                <a:uFillTx/>
                <a:latin typeface="Aptos Display" pitchFamily="34" charset="0"/>
                <a:ea typeface="Aptos Display" pitchFamily="34" charset="-122"/>
                <a:cs typeface="Aptos Display" pitchFamily="34" charset="-120"/>
              </a:rPr>
              <a:t>Adoption and Monitoring</a:t>
            </a:r>
            <a:endParaRPr kumimoji="0" lang="en-US" sz="3600" b="0" i="0" u="none" strike="noStrike" kern="1200" cap="none" spc="0" normalizeH="0" baseline="0" noProof="0">
              <a:ln>
                <a:noFill/>
              </a:ln>
              <a:solidFill>
                <a:prstClr val="black"/>
              </a:solidFill>
              <a:effectLst/>
              <a:uLnTx/>
              <a:uFillTx/>
              <a:latin typeface="Aptos"/>
              <a:ea typeface="+mn-ea"/>
              <a:cs typeface="+mn-cs"/>
            </a:endParaRPr>
          </a:p>
        </p:txBody>
      </p:sp>
      <p:sp>
        <p:nvSpPr>
          <p:cNvPr id="7" name="Text 5">
            <a:extLst>
              <a:ext uri="{FF2B5EF4-FFF2-40B4-BE49-F238E27FC236}">
                <a16:creationId xmlns:a16="http://schemas.microsoft.com/office/drawing/2014/main" id="{DD083C71-4AC5-D224-962A-8540AA301925}"/>
              </a:ext>
            </a:extLst>
          </p:cNvPr>
          <p:cNvSpPr/>
          <p:nvPr/>
        </p:nvSpPr>
        <p:spPr>
          <a:xfrm>
            <a:off x="4586596" y="2978973"/>
            <a:ext cx="5308218" cy="191857"/>
          </a:xfrm>
          <a:prstGeom prst="rect">
            <a:avLst/>
          </a:prstGeom>
          <a:noFill/>
          <a:ln/>
        </p:spPr>
        <p:txBody>
          <a:bodyPr wrap="square" lIns="0" tIns="0" rIns="0" bIns="0" rtlCol="0" anchor="ctr"/>
          <a:lstStyle/>
          <a:p>
            <a:pPr>
              <a:defRPr/>
            </a:pPr>
            <a:r>
              <a:rPr lang="en-US" sz="1050" b="1">
                <a:solidFill>
                  <a:srgbClr val="FFFFFF"/>
                </a:solidFill>
                <a:latin typeface="Aptos" pitchFamily="34" charset="0"/>
                <a:ea typeface="Aptos" pitchFamily="34" charset="-122"/>
                <a:cs typeface="Aptos" pitchFamily="34" charset="-120"/>
              </a:rPr>
              <a:t>Train and embed</a:t>
            </a:r>
            <a:r>
              <a:rPr lang="en-US" sz="1050">
                <a:solidFill>
                  <a:prstClr val="black"/>
                </a:solidFill>
              </a:rPr>
              <a:t> </a:t>
            </a:r>
            <a:r>
              <a:rPr kumimoji="0" lang="en-US" sz="1050" b="1" i="0" u="none" strike="noStrike" kern="1200" cap="none" spc="0" normalizeH="0" baseline="0" noProof="0">
                <a:ln>
                  <a:noFill/>
                </a:ln>
                <a:solidFill>
                  <a:srgbClr val="FFFFFF"/>
                </a:solidFill>
                <a:effectLst/>
                <a:uLnTx/>
                <a:uFillTx/>
                <a:latin typeface="Aptos" pitchFamily="34" charset="0"/>
                <a:ea typeface="Aptos" pitchFamily="34" charset="-122"/>
                <a:cs typeface="Aptos" pitchFamily="34" charset="-120"/>
              </a:rPr>
              <a:t>&gt;&gt; </a:t>
            </a:r>
            <a:r>
              <a:rPr lang="en-US" sz="1050" b="1">
                <a:solidFill>
                  <a:srgbClr val="FFFFFF"/>
                </a:solidFill>
                <a:latin typeface="Aptos" pitchFamily="34" charset="0"/>
                <a:ea typeface="Aptos" pitchFamily="34" charset="-122"/>
                <a:cs typeface="Aptos" pitchFamily="34" charset="-120"/>
              </a:rPr>
              <a:t>Review, improve or retire</a:t>
            </a:r>
            <a:endParaRPr lang="en-US" sz="1050">
              <a:solidFill>
                <a:prstClr val="black"/>
              </a:solidFill>
            </a:endParaRPr>
          </a:p>
          <a:p>
            <a:pPr>
              <a:defRPr/>
            </a:pPr>
            <a:endParaRPr kumimoji="0" lang="en-US" sz="1050" b="0" i="0" u="none" strike="noStrike" kern="1200" cap="none" spc="0" normalizeH="0" baseline="0" noProof="0">
              <a:ln>
                <a:noFill/>
              </a:ln>
              <a:solidFill>
                <a:prstClr val="black"/>
              </a:solidFill>
              <a:effectLst/>
              <a:uLnTx/>
              <a:uFillTx/>
              <a:latin typeface="Aptos"/>
              <a:ea typeface="+mn-ea"/>
              <a:cs typeface="+mn-cs"/>
            </a:endParaRPr>
          </a:p>
        </p:txBody>
      </p:sp>
      <p:sp>
        <p:nvSpPr>
          <p:cNvPr id="14" name="Shape 12">
            <a:extLst>
              <a:ext uri="{FF2B5EF4-FFF2-40B4-BE49-F238E27FC236}">
                <a16:creationId xmlns:a16="http://schemas.microsoft.com/office/drawing/2014/main" id="{560F933A-D703-0BAA-CE8A-2FA481FD11FB}"/>
              </a:ext>
            </a:extLst>
          </p:cNvPr>
          <p:cNvSpPr/>
          <p:nvPr/>
        </p:nvSpPr>
        <p:spPr>
          <a:xfrm>
            <a:off x="2573155" y="6501343"/>
            <a:ext cx="6373703" cy="329184"/>
          </a:xfrm>
          <a:prstGeom prst="roundRect">
            <a:avLst>
              <a:gd name="adj" fmla="val 11111"/>
            </a:avLst>
          </a:prstGeom>
          <a:solidFill>
            <a:schemeClr val="accent2">
              <a:lumMod val="40000"/>
              <a:lumOff val="60000"/>
            </a:schemeClr>
          </a:solidFill>
          <a:ln w="12700">
            <a:solidFill>
              <a:srgbClr val="E8F3FB"/>
            </a:solidFill>
            <a:prstDash val="solid"/>
          </a:ln>
        </p:spPr>
        <p:txBody>
          <a:bodyPr/>
          <a:lstStyle/>
          <a:p>
            <a:endParaRPr lang="en-GB"/>
          </a:p>
        </p:txBody>
      </p:sp>
      <p:sp>
        <p:nvSpPr>
          <p:cNvPr id="15" name="Text 13">
            <a:extLst>
              <a:ext uri="{FF2B5EF4-FFF2-40B4-BE49-F238E27FC236}">
                <a16:creationId xmlns:a16="http://schemas.microsoft.com/office/drawing/2014/main" id="{958700FA-8376-270F-D4C8-23B4C36E25EE}"/>
              </a:ext>
            </a:extLst>
          </p:cNvPr>
          <p:cNvSpPr/>
          <p:nvPr/>
        </p:nvSpPr>
        <p:spPr>
          <a:xfrm>
            <a:off x="2881618" y="6583639"/>
            <a:ext cx="5738069" cy="196002"/>
          </a:xfrm>
          <a:prstGeom prst="rect">
            <a:avLst/>
          </a:prstGeom>
          <a:no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kern="0" spc="25">
                <a:solidFill>
                  <a:schemeClr val="accent4">
                    <a:lumMod val="50000"/>
                  </a:schemeClr>
                </a:solidFill>
                <a:latin typeface="Aptos" pitchFamily="34" charset="0"/>
                <a:ea typeface="Aptos" pitchFamily="34" charset="-122"/>
                <a:cs typeface="Aptos" pitchFamily="34" charset="-120"/>
              </a:rPr>
              <a:t>Live workflow – trained team</a:t>
            </a:r>
            <a:r>
              <a:rPr kumimoji="0" lang="en-US" b="1" i="0" u="none" strike="noStrike" kern="0" cap="none" spc="25" normalizeH="0" baseline="0" noProof="0">
                <a:ln>
                  <a:noFill/>
                </a:ln>
                <a:solidFill>
                  <a:schemeClr val="accent4">
                    <a:lumMod val="50000"/>
                  </a:schemeClr>
                </a:solidFill>
                <a:effectLst/>
                <a:uLnTx/>
                <a:uFillTx/>
                <a:latin typeface="Aptos" pitchFamily="34" charset="0"/>
                <a:ea typeface="Aptos" pitchFamily="34" charset="-122"/>
                <a:cs typeface="Aptos" pitchFamily="34" charset="-120"/>
              </a:rPr>
              <a:t> &gt; Monitoring record </a:t>
            </a:r>
            <a:endParaRPr kumimoji="0" lang="en-US" b="0" i="0" u="none" strike="noStrike" kern="1200" cap="none" spc="0" normalizeH="0" baseline="0" noProof="0">
              <a:ln>
                <a:noFill/>
              </a:ln>
              <a:solidFill>
                <a:schemeClr val="accent4">
                  <a:lumMod val="50000"/>
                </a:schemeClr>
              </a:solidFill>
              <a:effectLst/>
              <a:uLnTx/>
              <a:uFillTx/>
              <a:latin typeface="Aptos"/>
              <a:ea typeface="+mn-ea"/>
              <a:cs typeface="+mn-cs"/>
            </a:endParaRPr>
          </a:p>
        </p:txBody>
      </p:sp>
      <p:sp>
        <p:nvSpPr>
          <p:cNvPr id="22" name="Shape 20">
            <a:extLst>
              <a:ext uri="{FF2B5EF4-FFF2-40B4-BE49-F238E27FC236}">
                <a16:creationId xmlns:a16="http://schemas.microsoft.com/office/drawing/2014/main" id="{83199CCA-700D-7F25-D6C8-D436D248CA85}"/>
              </a:ext>
            </a:extLst>
          </p:cNvPr>
          <p:cNvSpPr/>
          <p:nvPr/>
        </p:nvSpPr>
        <p:spPr>
          <a:xfrm>
            <a:off x="10729351" y="2586745"/>
            <a:ext cx="438912" cy="438912"/>
          </a:xfrm>
          <a:prstGeom prst="ellipse">
            <a:avLst/>
          </a:prstGeom>
          <a:solidFill>
            <a:srgbClr val="FFFFFF">
              <a:alpha val="20000"/>
            </a:srgbClr>
          </a:solidFill>
          <a:ln w="12700">
            <a:solidFill>
              <a:srgbClr val="FFFFFF">
                <a:alpha val="0"/>
              </a:srgbClr>
            </a:solidFill>
            <a:prstDash val="solid"/>
          </a:ln>
        </p:spPr>
        <p:txBody>
          <a:bodyPr/>
          <a:lstStyle/>
          <a:p>
            <a:endParaRPr lang="en-GB"/>
          </a:p>
        </p:txBody>
      </p:sp>
      <p:sp>
        <p:nvSpPr>
          <p:cNvPr id="23" name="Shape 21">
            <a:extLst>
              <a:ext uri="{FF2B5EF4-FFF2-40B4-BE49-F238E27FC236}">
                <a16:creationId xmlns:a16="http://schemas.microsoft.com/office/drawing/2014/main" id="{AEF7F324-A508-7380-ACE3-8C9E47236DB4}"/>
              </a:ext>
            </a:extLst>
          </p:cNvPr>
          <p:cNvSpPr/>
          <p:nvPr/>
        </p:nvSpPr>
        <p:spPr>
          <a:xfrm>
            <a:off x="10784215" y="2641609"/>
            <a:ext cx="329184" cy="329184"/>
          </a:xfrm>
          <a:prstGeom prst="ellipse">
            <a:avLst/>
          </a:prstGeom>
          <a:solidFill>
            <a:srgbClr val="FFFFFF">
              <a:alpha val="0"/>
            </a:srgbClr>
          </a:solidFill>
          <a:ln w="25400">
            <a:solidFill>
              <a:srgbClr val="FFFFFF"/>
            </a:solidFill>
            <a:prstDash val="solid"/>
          </a:ln>
        </p:spPr>
        <p:txBody>
          <a:bodyPr/>
          <a:lstStyle/>
          <a:p>
            <a:endParaRPr lang="en-GB"/>
          </a:p>
        </p:txBody>
      </p:sp>
      <p:sp>
        <p:nvSpPr>
          <p:cNvPr id="24" name="Shape 22">
            <a:extLst>
              <a:ext uri="{FF2B5EF4-FFF2-40B4-BE49-F238E27FC236}">
                <a16:creationId xmlns:a16="http://schemas.microsoft.com/office/drawing/2014/main" id="{9B7EF7A6-AC64-988A-48CD-5509A5829301}"/>
              </a:ext>
            </a:extLst>
          </p:cNvPr>
          <p:cNvSpPr/>
          <p:nvPr/>
        </p:nvSpPr>
        <p:spPr>
          <a:xfrm flipV="1">
            <a:off x="10948807" y="2731791"/>
            <a:ext cx="73152" cy="82296"/>
          </a:xfrm>
          <a:prstGeom prst="line">
            <a:avLst/>
          </a:prstGeom>
          <a:noFill/>
          <a:ln w="25400">
            <a:solidFill>
              <a:srgbClr val="FFFFFF"/>
            </a:solidFill>
            <a:prstDash val="solid"/>
          </a:ln>
        </p:spPr>
        <p:txBody>
          <a:bodyPr/>
          <a:lstStyle/>
          <a:p>
            <a:endParaRPr lang="en-GB"/>
          </a:p>
        </p:txBody>
      </p:sp>
      <p:sp>
        <p:nvSpPr>
          <p:cNvPr id="25" name="Shape 23">
            <a:extLst>
              <a:ext uri="{FF2B5EF4-FFF2-40B4-BE49-F238E27FC236}">
                <a16:creationId xmlns:a16="http://schemas.microsoft.com/office/drawing/2014/main" id="{78BE7D76-EB07-3DD6-7A35-2B9DD8A8CAFE}"/>
              </a:ext>
            </a:extLst>
          </p:cNvPr>
          <p:cNvSpPr/>
          <p:nvPr/>
        </p:nvSpPr>
        <p:spPr>
          <a:xfrm flipH="1" flipV="1">
            <a:off x="10885637" y="2795799"/>
            <a:ext cx="64008" cy="36576"/>
          </a:xfrm>
          <a:prstGeom prst="line">
            <a:avLst/>
          </a:prstGeom>
          <a:noFill/>
          <a:ln w="25400">
            <a:solidFill>
              <a:srgbClr val="FFFFFF"/>
            </a:solidFill>
            <a:prstDash val="solid"/>
          </a:ln>
        </p:spPr>
        <p:txBody>
          <a:bodyPr/>
          <a:lstStyle/>
          <a:p>
            <a:endParaRPr lang="en-GB"/>
          </a:p>
        </p:txBody>
      </p:sp>
      <p:pic>
        <p:nvPicPr>
          <p:cNvPr id="30" name="Content Placeholder 7">
            <a:extLst>
              <a:ext uri="{FF2B5EF4-FFF2-40B4-BE49-F238E27FC236}">
                <a16:creationId xmlns:a16="http://schemas.microsoft.com/office/drawing/2014/main" id="{E6C08EF4-969A-CEC0-275C-EE9C0122515D}"/>
              </a:ext>
            </a:extLst>
          </p:cNvPr>
          <p:cNvPicPr>
            <a:picLocks noChangeAspect="1"/>
          </p:cNvPicPr>
          <p:nvPr/>
        </p:nvPicPr>
        <p:blipFill>
          <a:blip r:embed="rId3"/>
          <a:srcRect t="26530" b="24810"/>
          <a:stretch>
            <a:fillRect/>
          </a:stretch>
        </p:blipFill>
        <p:spPr>
          <a:xfrm>
            <a:off x="2573155" y="180212"/>
            <a:ext cx="6788791" cy="1800099"/>
          </a:xfrm>
          <a:prstGeom prst="rect">
            <a:avLst/>
          </a:prstGeom>
        </p:spPr>
      </p:pic>
      <p:sp>
        <p:nvSpPr>
          <p:cNvPr id="32" name="Rectangle 31">
            <a:extLst>
              <a:ext uri="{FF2B5EF4-FFF2-40B4-BE49-F238E27FC236}">
                <a16:creationId xmlns:a16="http://schemas.microsoft.com/office/drawing/2014/main" id="{FF659EEC-566D-02B5-DC30-35BEEA109444}"/>
              </a:ext>
            </a:extLst>
          </p:cNvPr>
          <p:cNvSpPr/>
          <p:nvPr/>
        </p:nvSpPr>
        <p:spPr>
          <a:xfrm>
            <a:off x="6516190" y="118367"/>
            <a:ext cx="1449030" cy="1840612"/>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w="38100">
                <a:solidFill>
                  <a:srgbClr val="C00000"/>
                </a:solidFill>
              </a:ln>
            </a:endParaRPr>
          </a:p>
        </p:txBody>
      </p:sp>
      <p:sp>
        <p:nvSpPr>
          <p:cNvPr id="36" name="Text 9">
            <a:extLst>
              <a:ext uri="{FF2B5EF4-FFF2-40B4-BE49-F238E27FC236}">
                <a16:creationId xmlns:a16="http://schemas.microsoft.com/office/drawing/2014/main" id="{7D29B118-1E07-6E05-FE24-692391FC7BF7}"/>
              </a:ext>
            </a:extLst>
          </p:cNvPr>
          <p:cNvSpPr/>
          <p:nvPr/>
        </p:nvSpPr>
        <p:spPr>
          <a:xfrm>
            <a:off x="490756" y="3247791"/>
            <a:ext cx="10677507" cy="2993617"/>
          </a:xfrm>
          <a:prstGeom prst="rect">
            <a:avLst/>
          </a:prstGeom>
          <a:noFill/>
          <a:ln/>
        </p:spPr>
        <p:txBody>
          <a:bodyPr wrap="square" lIns="254" tIns="254" rIns="254" bIns="254" rtlCol="0" anchor="t">
            <a:normAutofit lnSpcReduction="10000"/>
          </a:bodyPr>
          <a:lstStyle/>
          <a:p>
            <a:pPr marL="190500" indent="-190500">
              <a:buSzPct val="100000"/>
              <a:buChar char="•"/>
            </a:pPr>
            <a:endParaRPr lang="en-US" sz="2000">
              <a:solidFill>
                <a:srgbClr val="102A43"/>
              </a:solidFill>
              <a:ea typeface="Aptos" pitchFamily="34" charset="-122"/>
              <a:cs typeface="Aptos" pitchFamily="34" charset="-120"/>
            </a:endParaRPr>
          </a:p>
          <a:p>
            <a:pPr marL="203200" lvl="0" indent="-203200">
              <a:buSzPct val="100000"/>
              <a:buFontTx/>
              <a:buChar char="•"/>
              <a:defRPr/>
            </a:pPr>
            <a:r>
              <a:rPr lang="en-US" sz="2000">
                <a:solidFill>
                  <a:srgbClr val="18324A"/>
                </a:solidFill>
                <a:latin typeface="Aptos" pitchFamily="34" charset="0"/>
                <a:ea typeface="Aptos" pitchFamily="34" charset="-122"/>
                <a:cs typeface="Aptos" pitchFamily="34" charset="-120"/>
              </a:rPr>
              <a:t>Train the whole task and verification</a:t>
            </a:r>
            <a:r>
              <a:rPr lang="en-US" sz="2000">
                <a:solidFill>
                  <a:prstClr val="black"/>
                </a:solidFill>
              </a:rPr>
              <a:t> and p</a:t>
            </a:r>
            <a:r>
              <a:rPr lang="en-US" sz="2000">
                <a:solidFill>
                  <a:srgbClr val="18324A"/>
                </a:solidFill>
                <a:latin typeface="Aptos" pitchFamily="34" charset="0"/>
                <a:ea typeface="Aptos" pitchFamily="34" charset="-122"/>
                <a:cs typeface="Aptos" pitchFamily="34" charset="-120"/>
              </a:rPr>
              <a:t>ublish a one-page workflow card</a:t>
            </a:r>
            <a:endParaRPr lang="en-US" sz="2000">
              <a:solidFill>
                <a:prstClr val="black"/>
              </a:solidFill>
            </a:endParaRPr>
          </a:p>
          <a:p>
            <a:pPr marL="203200" lvl="0" indent="-203200">
              <a:buSzPct val="100000"/>
              <a:buFontTx/>
              <a:buChar char="•"/>
              <a:defRPr/>
            </a:pPr>
            <a:r>
              <a:rPr lang="en-US" sz="2000">
                <a:solidFill>
                  <a:srgbClr val="18324A"/>
                </a:solidFill>
                <a:latin typeface="Aptos" pitchFamily="34" charset="0"/>
                <a:ea typeface="Aptos" pitchFamily="34" charset="-122"/>
                <a:cs typeface="Aptos" pitchFamily="34" charset="-120"/>
              </a:rPr>
              <a:t>Provide realistic practice and manager support</a:t>
            </a:r>
            <a:endParaRPr lang="en-US" sz="2000">
              <a:solidFill>
                <a:prstClr val="black"/>
              </a:solidFill>
            </a:endParaRPr>
          </a:p>
          <a:p>
            <a:pPr marL="203200" lvl="0" indent="-203200">
              <a:buSzPct val="100000"/>
              <a:buFontTx/>
              <a:buChar char="•"/>
              <a:defRPr/>
            </a:pPr>
            <a:r>
              <a:rPr lang="en-US" sz="2000">
                <a:solidFill>
                  <a:srgbClr val="18324A"/>
                </a:solidFill>
                <a:latin typeface="Aptos" pitchFamily="34" charset="0"/>
                <a:ea typeface="Aptos" pitchFamily="34" charset="-122"/>
                <a:cs typeface="Aptos" pitchFamily="34" charset="-120"/>
              </a:rPr>
              <a:t>Retain a safe non-AI route where needed</a:t>
            </a:r>
            <a:endParaRPr lang="en-US" sz="2000">
              <a:solidFill>
                <a:prstClr val="black"/>
              </a:solidFill>
            </a:endParaRPr>
          </a:p>
          <a:p>
            <a:pPr marL="203200" lvl="0" indent="-203200">
              <a:buSzPct val="100000"/>
              <a:buFontTx/>
              <a:buChar char="•"/>
              <a:defRPr/>
            </a:pPr>
            <a:r>
              <a:rPr lang="en-US" sz="2000" i="1">
                <a:solidFill>
                  <a:srgbClr val="18324A"/>
                </a:solidFill>
                <a:latin typeface="Aptos" pitchFamily="34" charset="0"/>
                <a:ea typeface="Aptos" pitchFamily="34" charset="-122"/>
                <a:cs typeface="Aptos" pitchFamily="34" charset="-120"/>
              </a:rPr>
              <a:t>Measure outcomes rather than usage quotas – avoiding gaming behavior </a:t>
            </a:r>
            <a:endParaRPr lang="en-US" sz="2000" i="1">
              <a:solidFill>
                <a:prstClr val="black"/>
              </a:solidFill>
            </a:endParaRPr>
          </a:p>
          <a:p>
            <a:pPr marL="190500" indent="-190500">
              <a:buSzPct val="100000"/>
              <a:buChar char="•"/>
            </a:pPr>
            <a:endParaRPr lang="en-US" sz="2000"/>
          </a:p>
          <a:p>
            <a:pPr marL="203200" lvl="0" indent="-203200">
              <a:buSzPct val="100000"/>
              <a:buFontTx/>
              <a:buChar char="•"/>
              <a:defRPr/>
            </a:pPr>
            <a:r>
              <a:rPr lang="en-US" sz="2000">
                <a:solidFill>
                  <a:srgbClr val="18324A"/>
                </a:solidFill>
                <a:latin typeface="Aptos" pitchFamily="34" charset="0"/>
                <a:ea typeface="Aptos" pitchFamily="34" charset="-122"/>
                <a:cs typeface="Aptos" pitchFamily="34" charset="-120"/>
              </a:rPr>
              <a:t>Review performance and incidents - record any material process or system changes</a:t>
            </a:r>
            <a:endParaRPr lang="en-US" sz="2000">
              <a:solidFill>
                <a:prstClr val="black"/>
              </a:solidFill>
            </a:endParaRPr>
          </a:p>
          <a:p>
            <a:pPr marL="203200" lvl="0" indent="-203200">
              <a:buSzPct val="100000"/>
              <a:buFontTx/>
              <a:buChar char="•"/>
              <a:defRPr/>
            </a:pPr>
            <a:r>
              <a:rPr lang="en-US" sz="2000">
                <a:solidFill>
                  <a:srgbClr val="18324A"/>
                </a:solidFill>
                <a:latin typeface="Aptos" pitchFamily="34" charset="0"/>
                <a:ea typeface="Aptos" pitchFamily="34" charset="-122"/>
                <a:cs typeface="Aptos" pitchFamily="34" charset="-120"/>
              </a:rPr>
              <a:t>Retest after significant change</a:t>
            </a:r>
            <a:endParaRPr lang="en-US" sz="2000">
              <a:solidFill>
                <a:prstClr val="black"/>
              </a:solidFill>
            </a:endParaRPr>
          </a:p>
          <a:p>
            <a:pPr marL="203200" lvl="0" indent="-203200">
              <a:buSzPct val="100000"/>
              <a:buFontTx/>
              <a:buChar char="•"/>
              <a:defRPr/>
            </a:pPr>
            <a:r>
              <a:rPr lang="en-US" sz="2000">
                <a:solidFill>
                  <a:srgbClr val="18324A"/>
                </a:solidFill>
                <a:latin typeface="Aptos" pitchFamily="34" charset="0"/>
                <a:ea typeface="Aptos" pitchFamily="34" charset="-122"/>
                <a:cs typeface="Aptos" pitchFamily="34" charset="-120"/>
              </a:rPr>
              <a:t>Invite user and worker feedback</a:t>
            </a:r>
            <a:endParaRPr lang="en-US" sz="2000">
              <a:solidFill>
                <a:prstClr val="black"/>
              </a:solidFill>
            </a:endParaRPr>
          </a:p>
          <a:p>
            <a:pPr marL="203200" lvl="0" indent="-203200">
              <a:buSzPct val="100000"/>
              <a:buFontTx/>
              <a:buChar char="•"/>
              <a:defRPr/>
            </a:pPr>
            <a:r>
              <a:rPr lang="en-US" sz="2000">
                <a:solidFill>
                  <a:srgbClr val="18324A"/>
                </a:solidFill>
                <a:latin typeface="Aptos" pitchFamily="34" charset="0"/>
                <a:ea typeface="Aptos" pitchFamily="34" charset="-122"/>
                <a:cs typeface="Aptos" pitchFamily="34" charset="-120"/>
              </a:rPr>
              <a:t>Improve, restrict, suspend or retire</a:t>
            </a:r>
            <a:endParaRPr lang="en-US" sz="2000"/>
          </a:p>
          <a:p>
            <a:pPr>
              <a:buSzPct val="100000"/>
            </a:pPr>
            <a:endParaRPr lang="en-US" sz="2000"/>
          </a:p>
        </p:txBody>
      </p:sp>
    </p:spTree>
    <p:extLst>
      <p:ext uri="{BB962C8B-B14F-4D97-AF65-F5344CB8AC3E}">
        <p14:creationId xmlns:p14="http://schemas.microsoft.com/office/powerpoint/2010/main" val="3269429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34731-7C3A-33B5-7352-53221497D190}"/>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9DA46562-437A-32F0-A2F7-80A8C8DDEE36}"/>
              </a:ext>
            </a:extLst>
          </p:cNvPr>
          <p:cNvSpPr/>
          <p:nvPr/>
        </p:nvSpPr>
        <p:spPr>
          <a:xfrm>
            <a:off x="11108328" y="365125"/>
            <a:ext cx="970896"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39FDA8BB-52E8-1F38-64C9-FBB92E9F6D0E}"/>
              </a:ext>
            </a:extLst>
          </p:cNvPr>
          <p:cNvPicPr>
            <a:picLocks noChangeAspect="1"/>
          </p:cNvPicPr>
          <p:nvPr/>
        </p:nvPicPr>
        <p:blipFill>
          <a:blip r:embed="rId2"/>
          <a:stretch>
            <a:fillRect/>
          </a:stretch>
        </p:blipFill>
        <p:spPr>
          <a:xfrm>
            <a:off x="11142979" y="901632"/>
            <a:ext cx="872843" cy="8243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Content Placeholder 4">
            <a:extLst>
              <a:ext uri="{FF2B5EF4-FFF2-40B4-BE49-F238E27FC236}">
                <a16:creationId xmlns:a16="http://schemas.microsoft.com/office/drawing/2014/main" id="{5A81DEA1-727C-58BC-4BFB-31BA3B0D8FBC}"/>
              </a:ext>
            </a:extLst>
          </p:cNvPr>
          <p:cNvPicPr>
            <a:picLocks noChangeAspect="1"/>
          </p:cNvPicPr>
          <p:nvPr/>
        </p:nvPicPr>
        <p:blipFill>
          <a:blip r:embed="rId3"/>
          <a:stretch>
            <a:fillRect/>
          </a:stretch>
        </p:blipFill>
        <p:spPr>
          <a:xfrm>
            <a:off x="11202634" y="4528484"/>
            <a:ext cx="753534" cy="753534"/>
          </a:xfrm>
          <a:prstGeom prst="rect">
            <a:avLst/>
          </a:prstGeom>
        </p:spPr>
      </p:pic>
      <p:pic>
        <p:nvPicPr>
          <p:cNvPr id="11" name="Picture 10" descr="File:Google Gemini icon 2025.svg">
            <a:extLst>
              <a:ext uri="{FF2B5EF4-FFF2-40B4-BE49-F238E27FC236}">
                <a16:creationId xmlns:a16="http://schemas.microsoft.com/office/drawing/2014/main" id="{EC099963-2AE8-F814-D4FC-FB4B82F25997}"/>
              </a:ext>
            </a:extLst>
          </p:cNvPr>
          <p:cNvPicPr>
            <a:picLocks noChangeAspect="1"/>
          </p:cNvPicPr>
          <p:nvPr/>
        </p:nvPicPr>
        <p:blipFill>
          <a:blip r:embed="rId4"/>
          <a:stretch>
            <a:fillRect/>
          </a:stretch>
        </p:blipFill>
        <p:spPr>
          <a:xfrm>
            <a:off x="11209298" y="5596578"/>
            <a:ext cx="753534" cy="753534"/>
          </a:xfrm>
          <a:prstGeom prst="rect">
            <a:avLst/>
          </a:prstGeom>
        </p:spPr>
      </p:pic>
      <p:sp>
        <p:nvSpPr>
          <p:cNvPr id="26" name="Content Placeholder 25">
            <a:extLst>
              <a:ext uri="{FF2B5EF4-FFF2-40B4-BE49-F238E27FC236}">
                <a16:creationId xmlns:a16="http://schemas.microsoft.com/office/drawing/2014/main" id="{34B63065-D338-5CEB-2848-041AEDD2320D}"/>
              </a:ext>
            </a:extLst>
          </p:cNvPr>
          <p:cNvSpPr>
            <a:spLocks noGrp="1"/>
          </p:cNvSpPr>
          <p:nvPr>
            <p:ph idx="1"/>
          </p:nvPr>
        </p:nvSpPr>
        <p:spPr>
          <a:xfrm>
            <a:off x="128016" y="2496312"/>
            <a:ext cx="10857256" cy="4169663"/>
          </a:xfrm>
        </p:spPr>
        <p:txBody>
          <a:bodyPr>
            <a:normAutofit/>
          </a:bodyPr>
          <a:lstStyle/>
          <a:p>
            <a:r>
              <a:rPr lang="en-GB"/>
              <a:t>Self-reports are unreliable in a known direction. A department that evaluates a workflow by asking people whether it helped will get a positive answer almost regardless of the truth. </a:t>
            </a:r>
          </a:p>
          <a:p>
            <a:endParaRPr lang="en-GB"/>
          </a:p>
          <a:p>
            <a:r>
              <a:rPr lang="en-GB"/>
              <a:t>Timed comparisons on real tasks are not expensive, and they are the only thing that settles it. </a:t>
            </a:r>
          </a:p>
          <a:p>
            <a:endParaRPr lang="en-GB"/>
          </a:p>
          <a:p>
            <a:r>
              <a:rPr lang="en-GB"/>
              <a:t>Time saved is not the same as value delivered. Any measure of effort should include </a:t>
            </a:r>
            <a:r>
              <a:rPr lang="en-GB" b="1"/>
              <a:t>verification and rework time</a:t>
            </a:r>
            <a:r>
              <a:rPr lang="en-GB"/>
              <a:t>, not just drafting time</a:t>
            </a:r>
          </a:p>
        </p:txBody>
      </p:sp>
      <p:pic>
        <p:nvPicPr>
          <p:cNvPr id="2" name="Picture 1" descr="Rolling Dice Images – Browse 96,328 Stock Photos, Vectors, and Video |  Adobe Stock">
            <a:extLst>
              <a:ext uri="{FF2B5EF4-FFF2-40B4-BE49-F238E27FC236}">
                <a16:creationId xmlns:a16="http://schemas.microsoft.com/office/drawing/2014/main" id="{BB51CAD9-E02A-A489-AE9C-A5E9BB1E9BA3}"/>
              </a:ext>
            </a:extLst>
          </p:cNvPr>
          <p:cNvPicPr>
            <a:picLocks noChangeAspect="1"/>
          </p:cNvPicPr>
          <p:nvPr/>
        </p:nvPicPr>
        <p:blipFill>
          <a:blip r:embed="rId5"/>
          <a:stretch>
            <a:fillRect/>
          </a:stretch>
        </p:blipFill>
        <p:spPr>
          <a:xfrm>
            <a:off x="8135112" y="831039"/>
            <a:ext cx="2243190" cy="1498235"/>
          </a:xfrm>
          <a:prstGeom prst="rect">
            <a:avLst/>
          </a:prstGeom>
        </p:spPr>
      </p:pic>
      <p:sp>
        <p:nvSpPr>
          <p:cNvPr id="3" name="Title 1">
            <a:extLst>
              <a:ext uri="{FF2B5EF4-FFF2-40B4-BE49-F238E27FC236}">
                <a16:creationId xmlns:a16="http://schemas.microsoft.com/office/drawing/2014/main" id="{1EAA7A12-67DF-A432-127D-C0F49BB69397}"/>
              </a:ext>
            </a:extLst>
          </p:cNvPr>
          <p:cNvSpPr>
            <a:spLocks noGrp="1"/>
          </p:cNvSpPr>
          <p:nvPr>
            <p:ph type="title"/>
          </p:nvPr>
        </p:nvSpPr>
        <p:spPr>
          <a:xfrm>
            <a:off x="329184" y="365125"/>
            <a:ext cx="7477350" cy="1325563"/>
          </a:xfrm>
        </p:spPr>
        <p:txBody>
          <a:bodyPr/>
          <a:lstStyle/>
          <a:p>
            <a:r>
              <a:rPr lang="en-GB">
                <a:latin typeface="Amasis MT Pro Black" panose="02040A04050005020304" pitchFamily="18" charset="0"/>
              </a:rPr>
              <a:t>Avoid gaming behaviour</a:t>
            </a:r>
          </a:p>
        </p:txBody>
      </p:sp>
    </p:spTree>
    <p:extLst>
      <p:ext uri="{BB962C8B-B14F-4D97-AF65-F5344CB8AC3E}">
        <p14:creationId xmlns:p14="http://schemas.microsoft.com/office/powerpoint/2010/main" val="31718015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18BA1-C5F3-73AD-ED54-57C9ECDA1137}"/>
              </a:ext>
            </a:extLst>
          </p:cNvPr>
          <p:cNvSpPr>
            <a:spLocks noGrp="1"/>
          </p:cNvSpPr>
          <p:nvPr>
            <p:ph type="title"/>
          </p:nvPr>
        </p:nvSpPr>
        <p:spPr/>
        <p:txBody>
          <a:bodyPr/>
          <a:lstStyle/>
          <a:p>
            <a:r>
              <a:rPr lang="en-GB"/>
              <a:t>Community – end?</a:t>
            </a:r>
          </a:p>
        </p:txBody>
      </p:sp>
      <p:sp>
        <p:nvSpPr>
          <p:cNvPr id="3" name="Content Placeholder 2">
            <a:extLst>
              <a:ext uri="{FF2B5EF4-FFF2-40B4-BE49-F238E27FC236}">
                <a16:creationId xmlns:a16="http://schemas.microsoft.com/office/drawing/2014/main" id="{3C0C960A-8828-4028-A212-106F68188AA4}"/>
              </a:ext>
            </a:extLst>
          </p:cNvPr>
          <p:cNvSpPr>
            <a:spLocks noGrp="1"/>
          </p:cNvSpPr>
          <p:nvPr>
            <p:ph sz="half" idx="1"/>
          </p:nvPr>
        </p:nvSpPr>
        <p:spPr/>
        <p:txBody>
          <a:bodyPr/>
          <a:lstStyle/>
          <a:p>
            <a:endParaRPr lang="en-GB"/>
          </a:p>
        </p:txBody>
      </p:sp>
      <p:sp>
        <p:nvSpPr>
          <p:cNvPr id="4" name="Content Placeholder 3">
            <a:extLst>
              <a:ext uri="{FF2B5EF4-FFF2-40B4-BE49-F238E27FC236}">
                <a16:creationId xmlns:a16="http://schemas.microsoft.com/office/drawing/2014/main" id="{73DF8CF2-30E4-FF0F-18BD-260A596F1709}"/>
              </a:ext>
            </a:extLst>
          </p:cNvPr>
          <p:cNvSpPr>
            <a:spLocks noGrp="1"/>
          </p:cNvSpPr>
          <p:nvPr>
            <p:ph sz="half" idx="2"/>
          </p:nvPr>
        </p:nvSpPr>
        <p:spPr/>
        <p:txBody>
          <a:bodyPr/>
          <a:lstStyle/>
          <a:p>
            <a:endParaRPr lang="en-GB"/>
          </a:p>
        </p:txBody>
      </p:sp>
    </p:spTree>
    <p:extLst>
      <p:ext uri="{BB962C8B-B14F-4D97-AF65-F5344CB8AC3E}">
        <p14:creationId xmlns:p14="http://schemas.microsoft.com/office/powerpoint/2010/main" val="4777475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44659-7BBD-4737-159B-798FBFE0A84C}"/>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BF153D7F-24E0-9899-C474-B5E250A87A1E}"/>
              </a:ext>
            </a:extLst>
          </p:cNvPr>
          <p:cNvPicPr>
            <a:picLocks noGrp="1" noChangeAspect="1"/>
          </p:cNvPicPr>
          <p:nvPr>
            <p:ph idx="1"/>
          </p:nvPr>
        </p:nvPicPr>
        <p:blipFill>
          <a:blip r:embed="rId2"/>
          <a:srcRect t="7011" b="-123"/>
          <a:stretch>
            <a:fillRect/>
          </a:stretch>
        </p:blipFill>
        <p:spPr>
          <a:xfrm>
            <a:off x="1095904" y="1876700"/>
            <a:ext cx="2900892" cy="4051615"/>
          </a:xfrm>
          <a:prstGeom prst="rect">
            <a:avLst/>
          </a:prstGeom>
        </p:spPr>
      </p:pic>
      <p:pic>
        <p:nvPicPr>
          <p:cNvPr id="5" name="Picture 4">
            <a:extLst>
              <a:ext uri="{FF2B5EF4-FFF2-40B4-BE49-F238E27FC236}">
                <a16:creationId xmlns:a16="http://schemas.microsoft.com/office/drawing/2014/main" id="{4CE4520E-19D9-6D86-F06D-CAE81760F594}"/>
              </a:ext>
            </a:extLst>
          </p:cNvPr>
          <p:cNvPicPr>
            <a:picLocks noChangeAspect="1"/>
          </p:cNvPicPr>
          <p:nvPr/>
        </p:nvPicPr>
        <p:blipFill>
          <a:blip r:embed="rId3"/>
          <a:stretch>
            <a:fillRect/>
          </a:stretch>
        </p:blipFill>
        <p:spPr>
          <a:xfrm>
            <a:off x="4508500" y="2102613"/>
            <a:ext cx="7270750" cy="3916423"/>
          </a:xfrm>
          <a:prstGeom prst="rect">
            <a:avLst/>
          </a:prstGeom>
        </p:spPr>
      </p:pic>
    </p:spTree>
    <p:extLst>
      <p:ext uri="{BB962C8B-B14F-4D97-AF65-F5344CB8AC3E}">
        <p14:creationId xmlns:p14="http://schemas.microsoft.com/office/powerpoint/2010/main" val="31364500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06A5A-3B5D-8B5D-6B8F-87A19B9EFB78}"/>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37619104-E434-27A1-B23C-FCF9C5EA0378}"/>
              </a:ext>
            </a:extLst>
          </p:cNvPr>
          <p:cNvSpPr>
            <a:spLocks noGrp="1"/>
          </p:cNvSpPr>
          <p:nvPr>
            <p:ph idx="1"/>
          </p:nvPr>
        </p:nvSpPr>
        <p:spPr/>
        <p:txBody>
          <a:bodyPr/>
          <a:lstStyle/>
          <a:p>
            <a:r>
              <a:rPr lang="en-GB"/>
              <a:t>Will show following as a live demo</a:t>
            </a:r>
          </a:p>
        </p:txBody>
      </p:sp>
    </p:spTree>
    <p:extLst>
      <p:ext uri="{BB962C8B-B14F-4D97-AF65-F5344CB8AC3E}">
        <p14:creationId xmlns:p14="http://schemas.microsoft.com/office/powerpoint/2010/main" val="2775781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42B54-3B3F-23DF-72C8-5DBF561C4EC3}"/>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AE510FB8-A2AE-280A-4771-748C6D0181BD}"/>
              </a:ext>
            </a:extLst>
          </p:cNvPr>
          <p:cNvSpPr/>
          <p:nvPr/>
        </p:nvSpPr>
        <p:spPr>
          <a:xfrm>
            <a:off x="11108328" y="365125"/>
            <a:ext cx="970896"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584E6F1D-9996-A556-4F60-E01CADCBDD07}"/>
              </a:ext>
            </a:extLst>
          </p:cNvPr>
          <p:cNvPicPr>
            <a:picLocks noChangeAspect="1"/>
          </p:cNvPicPr>
          <p:nvPr/>
        </p:nvPicPr>
        <p:blipFill>
          <a:blip r:embed="rId3"/>
          <a:stretch>
            <a:fillRect/>
          </a:stretch>
        </p:blipFill>
        <p:spPr>
          <a:xfrm>
            <a:off x="11142979" y="901632"/>
            <a:ext cx="872843" cy="8243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Content Placeholder 4">
            <a:extLst>
              <a:ext uri="{FF2B5EF4-FFF2-40B4-BE49-F238E27FC236}">
                <a16:creationId xmlns:a16="http://schemas.microsoft.com/office/drawing/2014/main" id="{F770A555-D43B-0591-65F9-A216A9B98B97}"/>
              </a:ext>
            </a:extLst>
          </p:cNvPr>
          <p:cNvPicPr>
            <a:picLocks noChangeAspect="1"/>
          </p:cNvPicPr>
          <p:nvPr/>
        </p:nvPicPr>
        <p:blipFill>
          <a:blip r:embed="rId4"/>
          <a:stretch>
            <a:fillRect/>
          </a:stretch>
        </p:blipFill>
        <p:spPr>
          <a:xfrm>
            <a:off x="11202634" y="4528484"/>
            <a:ext cx="753534" cy="753534"/>
          </a:xfrm>
          <a:prstGeom prst="rect">
            <a:avLst/>
          </a:prstGeom>
        </p:spPr>
      </p:pic>
      <p:pic>
        <p:nvPicPr>
          <p:cNvPr id="11" name="Picture 10" descr="File:Google Gemini icon 2025.svg">
            <a:extLst>
              <a:ext uri="{FF2B5EF4-FFF2-40B4-BE49-F238E27FC236}">
                <a16:creationId xmlns:a16="http://schemas.microsoft.com/office/drawing/2014/main" id="{2452E51C-A1CC-CB82-D6C6-8E5D9FC0AC2D}"/>
              </a:ext>
            </a:extLst>
          </p:cNvPr>
          <p:cNvPicPr>
            <a:picLocks noChangeAspect="1"/>
          </p:cNvPicPr>
          <p:nvPr/>
        </p:nvPicPr>
        <p:blipFill>
          <a:blip r:embed="rId5"/>
          <a:stretch>
            <a:fillRect/>
          </a:stretch>
        </p:blipFill>
        <p:spPr>
          <a:xfrm>
            <a:off x="11209298" y="5596578"/>
            <a:ext cx="753534" cy="753534"/>
          </a:xfrm>
          <a:prstGeom prst="rect">
            <a:avLst/>
          </a:prstGeom>
        </p:spPr>
      </p:pic>
      <p:pic>
        <p:nvPicPr>
          <p:cNvPr id="6" name="Content Placeholder 5">
            <a:extLst>
              <a:ext uri="{FF2B5EF4-FFF2-40B4-BE49-F238E27FC236}">
                <a16:creationId xmlns:a16="http://schemas.microsoft.com/office/drawing/2014/main" id="{E1F3081E-00E4-37D2-D1A8-DD70F625C5F3}"/>
              </a:ext>
            </a:extLst>
          </p:cNvPr>
          <p:cNvPicPr>
            <a:picLocks noGrp="1" noChangeAspect="1"/>
          </p:cNvPicPr>
          <p:nvPr>
            <p:ph idx="1"/>
          </p:nvPr>
        </p:nvPicPr>
        <p:blipFill>
          <a:blip r:embed="rId6"/>
          <a:stretch>
            <a:fillRect/>
          </a:stretch>
        </p:blipFill>
        <p:spPr>
          <a:xfrm>
            <a:off x="764074" y="94732"/>
            <a:ext cx="9925262" cy="6668536"/>
          </a:xfrm>
          <a:prstGeom prst="rect">
            <a:avLst/>
          </a:prstGeom>
        </p:spPr>
      </p:pic>
    </p:spTree>
    <p:extLst>
      <p:ext uri="{BB962C8B-B14F-4D97-AF65-F5344CB8AC3E}">
        <p14:creationId xmlns:p14="http://schemas.microsoft.com/office/powerpoint/2010/main" val="983343837"/>
      </p:ext>
    </p:extLst>
  </p:cSld>
  <p:clrMapOvr>
    <a:masterClrMapping/>
  </p:clrMapOvr>
  <p:extLst>
    <p:ext uri="{6950BFC3-D8DA-4A85-94F7-54DA5524770B}">
      <p188:commentRel xmlns:p188="http://schemas.microsoft.com/office/powerpoint/2018/8/main" r:id="rId2"/>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113DF-C61D-5B30-B17A-C4244F6572E2}"/>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A48D385-4C78-1712-6D21-DC2C1920CCA8}"/>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6" name="Picture 5" descr="File:Google Gemini icon 2025.svg">
            <a:extLst>
              <a:ext uri="{FF2B5EF4-FFF2-40B4-BE49-F238E27FC236}">
                <a16:creationId xmlns:a16="http://schemas.microsoft.com/office/drawing/2014/main" id="{B576A2EA-FE26-C867-ECF8-01EA88F9CB35}"/>
              </a:ext>
            </a:extLst>
          </p:cNvPr>
          <p:cNvPicPr>
            <a:picLocks noChangeAspect="1"/>
          </p:cNvPicPr>
          <p:nvPr/>
        </p:nvPicPr>
        <p:blipFill>
          <a:blip r:embed="rId3"/>
          <a:stretch>
            <a:fillRect/>
          </a:stretch>
        </p:blipFill>
        <p:spPr>
          <a:xfrm>
            <a:off x="618688" y="4261709"/>
            <a:ext cx="2218888" cy="2218888"/>
          </a:xfrm>
          <a:prstGeom prst="rect">
            <a:avLst/>
          </a:prstGeom>
        </p:spPr>
      </p:pic>
      <p:pic>
        <p:nvPicPr>
          <p:cNvPr id="7" name="Picture 6">
            <a:extLst>
              <a:ext uri="{FF2B5EF4-FFF2-40B4-BE49-F238E27FC236}">
                <a16:creationId xmlns:a16="http://schemas.microsoft.com/office/drawing/2014/main" id="{9995E9BB-42B0-C734-F676-45FAA24B1054}"/>
              </a:ext>
            </a:extLst>
          </p:cNvPr>
          <p:cNvPicPr>
            <a:picLocks noChangeAspect="1"/>
          </p:cNvPicPr>
          <p:nvPr/>
        </p:nvPicPr>
        <p:blipFill>
          <a:blip r:embed="rId4"/>
          <a:stretch>
            <a:fillRect/>
          </a:stretch>
        </p:blipFill>
        <p:spPr>
          <a:xfrm>
            <a:off x="11189170" y="5938829"/>
            <a:ext cx="877900" cy="829128"/>
          </a:xfrm>
          <a:prstGeom prst="rect">
            <a:avLst/>
          </a:prstGeom>
        </p:spPr>
      </p:pic>
      <p:sp>
        <p:nvSpPr>
          <p:cNvPr id="2" name="Content Placeholder 3">
            <a:extLst>
              <a:ext uri="{FF2B5EF4-FFF2-40B4-BE49-F238E27FC236}">
                <a16:creationId xmlns:a16="http://schemas.microsoft.com/office/drawing/2014/main" id="{9A4232C7-8DED-B551-C053-0BDB850E3A76}"/>
              </a:ext>
            </a:extLst>
          </p:cNvPr>
          <p:cNvSpPr txBox="1">
            <a:spLocks/>
          </p:cNvSpPr>
          <p:nvPr/>
        </p:nvSpPr>
        <p:spPr>
          <a:xfrm>
            <a:off x="3716323" y="1975607"/>
            <a:ext cx="2919370" cy="42013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4300" b="1" i="0" u="none" strike="noStrike" kern="1200" cap="none" spc="0" normalizeH="0" baseline="0" noProof="0">
                <a:ln>
                  <a:noFill/>
                </a:ln>
                <a:solidFill>
                  <a:prstClr val="black"/>
                </a:solidFill>
                <a:effectLst/>
                <a:uLnTx/>
                <a:uFillTx/>
                <a:latin typeface="Aptos" panose="02110004020202020204"/>
                <a:ea typeface="+mn-ea"/>
                <a:cs typeface="+mn-cs"/>
              </a:rPr>
              <a:t>Share and export: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a:ln>
                  <a:noFill/>
                </a:ln>
                <a:solidFill>
                  <a:prstClr val="black"/>
                </a:solidFill>
                <a:effectLst/>
                <a:uLnTx/>
                <a:uFillTx/>
                <a:latin typeface="Aptos" panose="02110004020202020204"/>
                <a:ea typeface="+mn-ea"/>
                <a:cs typeface="+mn-cs"/>
              </a:rPr>
              <a:t>Share (generate a web address) </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a:ln>
                  <a:noFill/>
                </a:ln>
                <a:solidFill>
                  <a:prstClr val="black"/>
                </a:solidFill>
                <a:effectLst/>
                <a:uLnTx/>
                <a:uFillTx/>
                <a:latin typeface="Aptos" panose="02110004020202020204"/>
                <a:ea typeface="+mn-ea"/>
                <a:cs typeface="+mn-cs"/>
              </a:rPr>
              <a:t>Export to (google)docs</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a:ln>
                  <a:noFill/>
                </a:ln>
                <a:solidFill>
                  <a:prstClr val="black"/>
                </a:solidFill>
                <a:effectLst/>
                <a:uLnTx/>
                <a:uFillTx/>
                <a:latin typeface="Aptos" panose="02110004020202020204"/>
                <a:ea typeface="+mn-ea"/>
                <a:cs typeface="+mn-cs"/>
              </a:rPr>
              <a:t>Copy contents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4300" b="1"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4300" b="1" i="0" u="none" strike="noStrike" kern="1200" cap="none" spc="0" normalizeH="0" baseline="0" noProof="0">
              <a:ln>
                <a:noFill/>
              </a:ln>
              <a:solidFill>
                <a:prstClr val="black"/>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 name="Title 1">
            <a:extLst>
              <a:ext uri="{FF2B5EF4-FFF2-40B4-BE49-F238E27FC236}">
                <a16:creationId xmlns:a16="http://schemas.microsoft.com/office/drawing/2014/main" id="{8648E7F2-22EE-DBE8-8646-5ED0AF4FDD89}"/>
              </a:ext>
            </a:extLst>
          </p:cNvPr>
          <p:cNvSpPr>
            <a:spLocks noGrp="1"/>
          </p:cNvSpPr>
          <p:nvPr>
            <p:ph type="title"/>
          </p:nvPr>
        </p:nvSpPr>
        <p:spPr>
          <a:xfrm>
            <a:off x="3343012" y="365125"/>
            <a:ext cx="8010788" cy="1325563"/>
          </a:xfrm>
        </p:spPr>
        <p:txBody>
          <a:bodyPr>
            <a:normAutofit/>
          </a:bodyPr>
          <a:lstStyle/>
          <a:p>
            <a:pPr algn="ctr"/>
            <a:r>
              <a:rPr lang="en-GB" sz="7200">
                <a:latin typeface="Aptos Black" panose="020B0004020202020204" pitchFamily="34" charset="0"/>
              </a:rPr>
              <a:t>Deep research</a:t>
            </a:r>
          </a:p>
        </p:txBody>
      </p:sp>
      <p:pic>
        <p:nvPicPr>
          <p:cNvPr id="11" name="Picture 10">
            <a:extLst>
              <a:ext uri="{FF2B5EF4-FFF2-40B4-BE49-F238E27FC236}">
                <a16:creationId xmlns:a16="http://schemas.microsoft.com/office/drawing/2014/main" id="{781844CC-C622-96F8-3EFE-7FEDB591F656}"/>
              </a:ext>
            </a:extLst>
          </p:cNvPr>
          <p:cNvPicPr>
            <a:picLocks noChangeAspect="1"/>
          </p:cNvPicPr>
          <p:nvPr/>
        </p:nvPicPr>
        <p:blipFill>
          <a:blip r:embed="rId5"/>
          <a:stretch>
            <a:fillRect/>
          </a:stretch>
        </p:blipFill>
        <p:spPr>
          <a:xfrm>
            <a:off x="618688" y="705483"/>
            <a:ext cx="1946973" cy="719933"/>
          </a:xfrm>
          <a:prstGeom prst="rect">
            <a:avLst/>
          </a:prstGeom>
        </p:spPr>
      </p:pic>
      <p:pic>
        <p:nvPicPr>
          <p:cNvPr id="9" name="Picture 8">
            <a:extLst>
              <a:ext uri="{FF2B5EF4-FFF2-40B4-BE49-F238E27FC236}">
                <a16:creationId xmlns:a16="http://schemas.microsoft.com/office/drawing/2014/main" id="{F99753CF-13E7-C234-D293-38CBBF1EDDC6}"/>
              </a:ext>
            </a:extLst>
          </p:cNvPr>
          <p:cNvPicPr>
            <a:picLocks noChangeAspect="1"/>
          </p:cNvPicPr>
          <p:nvPr/>
        </p:nvPicPr>
        <p:blipFill>
          <a:blip r:embed="rId6"/>
          <a:stretch>
            <a:fillRect/>
          </a:stretch>
        </p:blipFill>
        <p:spPr>
          <a:xfrm>
            <a:off x="7105463" y="2593103"/>
            <a:ext cx="4467849" cy="2057687"/>
          </a:xfrm>
          <a:prstGeom prst="rect">
            <a:avLst/>
          </a:prstGeom>
        </p:spPr>
      </p:pic>
      <p:sp>
        <p:nvSpPr>
          <p:cNvPr id="13" name="Rectangle 12">
            <a:extLst>
              <a:ext uri="{FF2B5EF4-FFF2-40B4-BE49-F238E27FC236}">
                <a16:creationId xmlns:a16="http://schemas.microsoft.com/office/drawing/2014/main" id="{673C1EFD-48A3-E33F-96EB-F40A1A04BE88}"/>
              </a:ext>
            </a:extLst>
          </p:cNvPr>
          <p:cNvSpPr/>
          <p:nvPr/>
        </p:nvSpPr>
        <p:spPr>
          <a:xfrm>
            <a:off x="8531604" y="2499919"/>
            <a:ext cx="1824605" cy="176179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2755209"/>
      </p:ext>
    </p:extLst>
  </p:cSld>
  <p:clrMapOvr>
    <a:masterClrMapping/>
  </p:clrMapOvr>
  <p:extLst>
    <p:ext uri="{6950BFC3-D8DA-4A85-94F7-54DA5524770B}">
      <p188:commentRel xmlns:p188="http://schemas.microsoft.com/office/powerpoint/2018/8/main" r:id="rId2"/>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AAC11-811B-51C3-0222-8435D8AA39F1}"/>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00081F9-4A31-B785-47CB-2AA575E76FB1}"/>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6" name="Picture 5" descr="File:Google Gemini icon 2025.svg">
            <a:extLst>
              <a:ext uri="{FF2B5EF4-FFF2-40B4-BE49-F238E27FC236}">
                <a16:creationId xmlns:a16="http://schemas.microsoft.com/office/drawing/2014/main" id="{F780454A-66C7-B2D8-AD27-6EA7FD4937E1}"/>
              </a:ext>
            </a:extLst>
          </p:cNvPr>
          <p:cNvPicPr>
            <a:picLocks noChangeAspect="1"/>
          </p:cNvPicPr>
          <p:nvPr/>
        </p:nvPicPr>
        <p:blipFill>
          <a:blip r:embed="rId2"/>
          <a:stretch>
            <a:fillRect/>
          </a:stretch>
        </p:blipFill>
        <p:spPr>
          <a:xfrm>
            <a:off x="618688" y="4261709"/>
            <a:ext cx="2218888" cy="2218888"/>
          </a:xfrm>
          <a:prstGeom prst="rect">
            <a:avLst/>
          </a:prstGeom>
        </p:spPr>
      </p:pic>
      <p:pic>
        <p:nvPicPr>
          <p:cNvPr id="7" name="Picture 6">
            <a:extLst>
              <a:ext uri="{FF2B5EF4-FFF2-40B4-BE49-F238E27FC236}">
                <a16:creationId xmlns:a16="http://schemas.microsoft.com/office/drawing/2014/main" id="{B0EE5EE9-E355-172A-6212-80B8774AA858}"/>
              </a:ext>
            </a:extLst>
          </p:cNvPr>
          <p:cNvPicPr>
            <a:picLocks noChangeAspect="1"/>
          </p:cNvPicPr>
          <p:nvPr/>
        </p:nvPicPr>
        <p:blipFill>
          <a:blip r:embed="rId3"/>
          <a:stretch>
            <a:fillRect/>
          </a:stretch>
        </p:blipFill>
        <p:spPr>
          <a:xfrm>
            <a:off x="11189170" y="5938829"/>
            <a:ext cx="877900" cy="829128"/>
          </a:xfrm>
          <a:prstGeom prst="rect">
            <a:avLst/>
          </a:prstGeom>
        </p:spPr>
      </p:pic>
      <p:sp>
        <p:nvSpPr>
          <p:cNvPr id="2" name="Content Placeholder 3">
            <a:extLst>
              <a:ext uri="{FF2B5EF4-FFF2-40B4-BE49-F238E27FC236}">
                <a16:creationId xmlns:a16="http://schemas.microsoft.com/office/drawing/2014/main" id="{3BA8B897-360D-A425-14E1-00530E135CD1}"/>
              </a:ext>
            </a:extLst>
          </p:cNvPr>
          <p:cNvSpPr txBox="1">
            <a:spLocks/>
          </p:cNvSpPr>
          <p:nvPr/>
        </p:nvSpPr>
        <p:spPr>
          <a:xfrm>
            <a:off x="3716323" y="1975607"/>
            <a:ext cx="2919370" cy="42013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4300" b="1" i="0" u="none" strike="noStrike" kern="1200" cap="none" spc="0" normalizeH="0" baseline="0" noProof="0">
                <a:ln>
                  <a:noFill/>
                </a:ln>
                <a:solidFill>
                  <a:prstClr val="black"/>
                </a:solidFill>
                <a:effectLst/>
                <a:uLnTx/>
                <a:uFillTx/>
                <a:latin typeface="Aptos" panose="02110004020202020204"/>
                <a:ea typeface="+mn-ea"/>
                <a:cs typeface="+mn-cs"/>
              </a:rPr>
              <a:t>Optional extras: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a:ln>
                  <a:noFill/>
                </a:ln>
                <a:solidFill>
                  <a:prstClr val="black"/>
                </a:solidFill>
                <a:effectLst/>
                <a:uLnTx/>
                <a:uFillTx/>
                <a:latin typeface="Aptos" panose="02110004020202020204"/>
                <a:ea typeface="+mn-ea"/>
                <a:cs typeface="+mn-cs"/>
              </a:rPr>
              <a:t>Web-pages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a:ln>
                  <a:noFill/>
                </a:ln>
                <a:solidFill>
                  <a:prstClr val="black"/>
                </a:solidFill>
                <a:effectLst/>
                <a:uLnTx/>
                <a:uFillTx/>
                <a:latin typeface="Aptos" panose="02110004020202020204"/>
                <a:ea typeface="+mn-ea"/>
                <a:cs typeface="+mn-cs"/>
              </a:rPr>
              <a:t>Infographics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a:ln>
                  <a:noFill/>
                </a:ln>
                <a:solidFill>
                  <a:prstClr val="black"/>
                </a:solidFill>
                <a:effectLst/>
                <a:uLnTx/>
                <a:uFillTx/>
                <a:latin typeface="Aptos" panose="02110004020202020204"/>
                <a:ea typeface="+mn-ea"/>
                <a:cs typeface="+mn-cs"/>
              </a:rPr>
              <a:t>Quizzes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a:ln>
                  <a:noFill/>
                </a:ln>
                <a:solidFill>
                  <a:prstClr val="black"/>
                </a:solidFill>
                <a:effectLst/>
                <a:uLnTx/>
                <a:uFillTx/>
                <a:latin typeface="Aptos" panose="02110004020202020204"/>
                <a:ea typeface="+mn-ea"/>
                <a:cs typeface="+mn-cs"/>
              </a:rPr>
              <a:t>Flashcards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a:ln>
                  <a:noFill/>
                </a:ln>
                <a:solidFill>
                  <a:prstClr val="black"/>
                </a:solidFill>
                <a:effectLst/>
                <a:uLnTx/>
                <a:uFillTx/>
                <a:latin typeface="Aptos" panose="02110004020202020204"/>
                <a:ea typeface="+mn-ea"/>
                <a:cs typeface="+mn-cs"/>
              </a:rPr>
              <a:t>Audio overviews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 name="Title 1">
            <a:extLst>
              <a:ext uri="{FF2B5EF4-FFF2-40B4-BE49-F238E27FC236}">
                <a16:creationId xmlns:a16="http://schemas.microsoft.com/office/drawing/2014/main" id="{F88E186B-95E7-96AC-26F6-CB89483D0D8B}"/>
              </a:ext>
            </a:extLst>
          </p:cNvPr>
          <p:cNvSpPr>
            <a:spLocks noGrp="1"/>
          </p:cNvSpPr>
          <p:nvPr>
            <p:ph type="title"/>
          </p:nvPr>
        </p:nvSpPr>
        <p:spPr>
          <a:xfrm>
            <a:off x="3343012" y="365125"/>
            <a:ext cx="8010788" cy="1325563"/>
          </a:xfrm>
        </p:spPr>
        <p:txBody>
          <a:bodyPr>
            <a:normAutofit/>
          </a:bodyPr>
          <a:lstStyle/>
          <a:p>
            <a:pPr algn="ctr"/>
            <a:r>
              <a:rPr lang="en-GB" sz="7200">
                <a:latin typeface="Aptos Black" panose="020B0004020202020204" pitchFamily="34" charset="0"/>
              </a:rPr>
              <a:t>Deep research</a:t>
            </a:r>
          </a:p>
        </p:txBody>
      </p:sp>
      <p:pic>
        <p:nvPicPr>
          <p:cNvPr id="11" name="Picture 10">
            <a:extLst>
              <a:ext uri="{FF2B5EF4-FFF2-40B4-BE49-F238E27FC236}">
                <a16:creationId xmlns:a16="http://schemas.microsoft.com/office/drawing/2014/main" id="{771A6E04-F9A2-9F7A-2330-7C0B4B87B769}"/>
              </a:ext>
            </a:extLst>
          </p:cNvPr>
          <p:cNvPicPr>
            <a:picLocks noChangeAspect="1"/>
          </p:cNvPicPr>
          <p:nvPr/>
        </p:nvPicPr>
        <p:blipFill>
          <a:blip r:embed="rId4"/>
          <a:stretch>
            <a:fillRect/>
          </a:stretch>
        </p:blipFill>
        <p:spPr>
          <a:xfrm>
            <a:off x="618688" y="705483"/>
            <a:ext cx="1946973" cy="719933"/>
          </a:xfrm>
          <a:prstGeom prst="rect">
            <a:avLst/>
          </a:prstGeom>
        </p:spPr>
      </p:pic>
      <p:pic>
        <p:nvPicPr>
          <p:cNvPr id="8" name="Picture 7">
            <a:extLst>
              <a:ext uri="{FF2B5EF4-FFF2-40B4-BE49-F238E27FC236}">
                <a16:creationId xmlns:a16="http://schemas.microsoft.com/office/drawing/2014/main" id="{BE2929FF-4D18-F90A-19AD-3D21A5BA70CD}"/>
              </a:ext>
            </a:extLst>
          </p:cNvPr>
          <p:cNvPicPr>
            <a:picLocks noChangeAspect="1"/>
          </p:cNvPicPr>
          <p:nvPr/>
        </p:nvPicPr>
        <p:blipFill>
          <a:blip r:embed="rId5"/>
          <a:stretch>
            <a:fillRect/>
          </a:stretch>
        </p:blipFill>
        <p:spPr>
          <a:xfrm>
            <a:off x="8145727" y="1753606"/>
            <a:ext cx="2783961" cy="2374554"/>
          </a:xfrm>
          <a:prstGeom prst="rect">
            <a:avLst/>
          </a:prstGeom>
        </p:spPr>
      </p:pic>
      <p:pic>
        <p:nvPicPr>
          <p:cNvPr id="10" name="Picture 9">
            <a:extLst>
              <a:ext uri="{FF2B5EF4-FFF2-40B4-BE49-F238E27FC236}">
                <a16:creationId xmlns:a16="http://schemas.microsoft.com/office/drawing/2014/main" id="{26865945-5E66-235A-0E00-C81C47ECF0B9}"/>
              </a:ext>
            </a:extLst>
          </p:cNvPr>
          <p:cNvPicPr>
            <a:picLocks noChangeAspect="1"/>
          </p:cNvPicPr>
          <p:nvPr/>
        </p:nvPicPr>
        <p:blipFill>
          <a:blip r:embed="rId6"/>
          <a:stretch>
            <a:fillRect/>
          </a:stretch>
        </p:blipFill>
        <p:spPr>
          <a:xfrm>
            <a:off x="7720321" y="4269830"/>
            <a:ext cx="3209367" cy="2069650"/>
          </a:xfrm>
          <a:prstGeom prst="rect">
            <a:avLst/>
          </a:prstGeom>
        </p:spPr>
      </p:pic>
      <p:sp>
        <p:nvSpPr>
          <p:cNvPr id="12" name="Arrow: Right 11">
            <a:extLst>
              <a:ext uri="{FF2B5EF4-FFF2-40B4-BE49-F238E27FC236}">
                <a16:creationId xmlns:a16="http://schemas.microsoft.com/office/drawing/2014/main" id="{DC6811BB-0502-26FE-3BD6-108C63935D44}"/>
              </a:ext>
            </a:extLst>
          </p:cNvPr>
          <p:cNvSpPr/>
          <p:nvPr/>
        </p:nvSpPr>
        <p:spPr>
          <a:xfrm>
            <a:off x="6979640" y="1862357"/>
            <a:ext cx="2504114" cy="285225"/>
          </a:xfrm>
          <a:prstGeom prst="rightArrow">
            <a:avLst/>
          </a:prstGeom>
          <a:solidFill>
            <a:srgbClr val="FF00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878527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D6303-F98D-F927-8AD0-5E621136E368}"/>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65EFF98B-6EEF-55D0-842B-8330CF001CC9}"/>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pic>
        <p:nvPicPr>
          <p:cNvPr id="6" name="Picture 5" descr="File:Google Gemini icon 2025.svg">
            <a:extLst>
              <a:ext uri="{FF2B5EF4-FFF2-40B4-BE49-F238E27FC236}">
                <a16:creationId xmlns:a16="http://schemas.microsoft.com/office/drawing/2014/main" id="{ACAA5A2D-894F-99C2-2AB5-5B28EE39D620}"/>
              </a:ext>
            </a:extLst>
          </p:cNvPr>
          <p:cNvPicPr>
            <a:picLocks noChangeAspect="1"/>
          </p:cNvPicPr>
          <p:nvPr/>
        </p:nvPicPr>
        <p:blipFill>
          <a:blip r:embed="rId2"/>
          <a:stretch>
            <a:fillRect/>
          </a:stretch>
        </p:blipFill>
        <p:spPr>
          <a:xfrm>
            <a:off x="618688" y="4261709"/>
            <a:ext cx="2218888" cy="2218888"/>
          </a:xfrm>
          <a:prstGeom prst="rect">
            <a:avLst/>
          </a:prstGeom>
        </p:spPr>
      </p:pic>
      <p:pic>
        <p:nvPicPr>
          <p:cNvPr id="7" name="Picture 6">
            <a:extLst>
              <a:ext uri="{FF2B5EF4-FFF2-40B4-BE49-F238E27FC236}">
                <a16:creationId xmlns:a16="http://schemas.microsoft.com/office/drawing/2014/main" id="{5AC8AE83-F070-BE96-AC02-49B3961B5D5F}"/>
              </a:ext>
            </a:extLst>
          </p:cNvPr>
          <p:cNvPicPr>
            <a:picLocks noChangeAspect="1"/>
          </p:cNvPicPr>
          <p:nvPr/>
        </p:nvPicPr>
        <p:blipFill>
          <a:blip r:embed="rId3"/>
          <a:stretch>
            <a:fillRect/>
          </a:stretch>
        </p:blipFill>
        <p:spPr>
          <a:xfrm>
            <a:off x="11189170" y="5938829"/>
            <a:ext cx="877900" cy="829128"/>
          </a:xfrm>
          <a:prstGeom prst="rect">
            <a:avLst/>
          </a:prstGeom>
        </p:spPr>
      </p:pic>
      <p:sp>
        <p:nvSpPr>
          <p:cNvPr id="4" name="Title 1">
            <a:extLst>
              <a:ext uri="{FF2B5EF4-FFF2-40B4-BE49-F238E27FC236}">
                <a16:creationId xmlns:a16="http://schemas.microsoft.com/office/drawing/2014/main" id="{2B60FB70-D9BA-2DA9-66B5-C6AAC6478E0A}"/>
              </a:ext>
            </a:extLst>
          </p:cNvPr>
          <p:cNvSpPr>
            <a:spLocks noGrp="1"/>
          </p:cNvSpPr>
          <p:nvPr>
            <p:ph type="title"/>
          </p:nvPr>
        </p:nvSpPr>
        <p:spPr/>
        <p:txBody>
          <a:bodyPr>
            <a:normAutofit/>
          </a:bodyPr>
          <a:lstStyle/>
          <a:p>
            <a:pPr algn="ctr"/>
            <a:r>
              <a:rPr lang="en-GB" sz="7200">
                <a:latin typeface="Aptos Black" panose="020B0004020202020204" pitchFamily="34" charset="0"/>
              </a:rPr>
              <a:t>Canvas</a:t>
            </a:r>
          </a:p>
        </p:txBody>
      </p:sp>
      <p:sp>
        <p:nvSpPr>
          <p:cNvPr id="14" name="Content Placeholder 13">
            <a:extLst>
              <a:ext uri="{FF2B5EF4-FFF2-40B4-BE49-F238E27FC236}">
                <a16:creationId xmlns:a16="http://schemas.microsoft.com/office/drawing/2014/main" id="{9A25D340-E1F7-AA52-951F-A3279928370D}"/>
              </a:ext>
            </a:extLst>
          </p:cNvPr>
          <p:cNvSpPr>
            <a:spLocks noGrp="1"/>
          </p:cNvSpPr>
          <p:nvPr>
            <p:ph sz="half" idx="2"/>
          </p:nvPr>
        </p:nvSpPr>
        <p:spPr>
          <a:xfrm>
            <a:off x="3309457" y="1635853"/>
            <a:ext cx="8044343" cy="4541110"/>
          </a:xfrm>
        </p:spPr>
        <p:txBody>
          <a:bodyPr>
            <a:normAutofit fontScale="85000" lnSpcReduction="20000"/>
          </a:bodyPr>
          <a:lstStyle/>
          <a:p>
            <a:pPr marL="0" indent="0">
              <a:buNone/>
            </a:pPr>
            <a:r>
              <a:rPr lang="en-GB"/>
              <a:t>"Please review the attached 'Sustainable Futures' document. I would like you to create a playable 8-bit web game in a single HTML file using JavaScript and CSS. The visual style must mimic a vintage ZX Spectrum game with a black background and bright, blocky neon </a:t>
            </a:r>
            <a:r>
              <a:rPr lang="en-GB" err="1"/>
              <a:t>colours.The</a:t>
            </a:r>
            <a:r>
              <a:rPr lang="en-GB"/>
              <a:t> player controls a pixelated character who must cross a busy university dining hall. The goal is to collect low-impact foods to score points, while dodging high-carbon items moving rapidly across the screen. If you hit a high-carbon item, you lose a </a:t>
            </a:r>
            <a:r>
              <a:rPr lang="en-GB" err="1"/>
              <a:t>life.Crucially</a:t>
            </a:r>
            <a:r>
              <a:rPr lang="en-GB"/>
              <a:t>, use specific terminology, quotes, or policy goals directly from the attached document for the game's title, the introductory screen text, and the 'game over' messages. For example, you could name the game after one of the core goals or reference the 'Demand First' principle in the instructions. Please make it fully playable with keyboard arrow keys.."</a:t>
            </a:r>
          </a:p>
        </p:txBody>
      </p:sp>
      <p:pic>
        <p:nvPicPr>
          <p:cNvPr id="11" name="Picture 10">
            <a:extLst>
              <a:ext uri="{FF2B5EF4-FFF2-40B4-BE49-F238E27FC236}">
                <a16:creationId xmlns:a16="http://schemas.microsoft.com/office/drawing/2014/main" id="{ADDDAD75-4A27-E084-E08D-1C6AD7C733BB}"/>
              </a:ext>
            </a:extLst>
          </p:cNvPr>
          <p:cNvPicPr>
            <a:picLocks noChangeAspect="1"/>
          </p:cNvPicPr>
          <p:nvPr/>
        </p:nvPicPr>
        <p:blipFill>
          <a:blip r:embed="rId4"/>
          <a:stretch>
            <a:fillRect/>
          </a:stretch>
        </p:blipFill>
        <p:spPr>
          <a:xfrm>
            <a:off x="618688" y="705483"/>
            <a:ext cx="1946973" cy="719933"/>
          </a:xfrm>
          <a:prstGeom prst="rect">
            <a:avLst/>
          </a:prstGeom>
        </p:spPr>
      </p:pic>
      <p:pic>
        <p:nvPicPr>
          <p:cNvPr id="12" name="Picture 11">
            <a:extLst>
              <a:ext uri="{FF2B5EF4-FFF2-40B4-BE49-F238E27FC236}">
                <a16:creationId xmlns:a16="http://schemas.microsoft.com/office/drawing/2014/main" id="{058B3691-C527-0D15-945D-7A3132D0B029}"/>
              </a:ext>
            </a:extLst>
          </p:cNvPr>
          <p:cNvPicPr>
            <a:picLocks noChangeAspect="1"/>
          </p:cNvPicPr>
          <p:nvPr/>
        </p:nvPicPr>
        <p:blipFill>
          <a:blip r:embed="rId5"/>
          <a:srcRect l="10489" t="4709" r="15464" b="42509"/>
          <a:stretch>
            <a:fillRect/>
          </a:stretch>
        </p:blipFill>
        <p:spPr>
          <a:xfrm>
            <a:off x="6054055" y="180363"/>
            <a:ext cx="824917" cy="588026"/>
          </a:xfrm>
          <a:prstGeom prst="rect">
            <a:avLst/>
          </a:prstGeom>
        </p:spPr>
      </p:pic>
      <p:pic>
        <p:nvPicPr>
          <p:cNvPr id="17" name="Picture 16">
            <a:extLst>
              <a:ext uri="{FF2B5EF4-FFF2-40B4-BE49-F238E27FC236}">
                <a16:creationId xmlns:a16="http://schemas.microsoft.com/office/drawing/2014/main" id="{013F8999-EB69-D75E-0C04-332568ED80AC}"/>
              </a:ext>
            </a:extLst>
          </p:cNvPr>
          <p:cNvPicPr>
            <a:picLocks noChangeAspect="1"/>
          </p:cNvPicPr>
          <p:nvPr/>
        </p:nvPicPr>
        <p:blipFill>
          <a:blip r:embed="rId6"/>
          <a:srcRect l="12797" t="14373" r="12795" b="13403"/>
          <a:stretch>
            <a:fillRect/>
          </a:stretch>
        </p:blipFill>
        <p:spPr>
          <a:xfrm>
            <a:off x="8510804" y="5908521"/>
            <a:ext cx="916660" cy="889744"/>
          </a:xfrm>
          <a:prstGeom prst="rect">
            <a:avLst/>
          </a:prstGeom>
        </p:spPr>
      </p:pic>
    </p:spTree>
    <p:extLst>
      <p:ext uri="{BB962C8B-B14F-4D97-AF65-F5344CB8AC3E}">
        <p14:creationId xmlns:p14="http://schemas.microsoft.com/office/powerpoint/2010/main" val="29699967"/>
      </p:ext>
    </p:extLst>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Rounded Corners 2">
            <a:extLst>
              <a:ext uri="{FF2B5EF4-FFF2-40B4-BE49-F238E27FC236}">
                <a16:creationId xmlns:a16="http://schemas.microsoft.com/office/drawing/2014/main" id="{790AD5EC-E2D2-34E0-5E0D-C54250438B17}"/>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816CA517-84DD-AD93-F599-BAB3E91EBC50}"/>
              </a:ext>
            </a:extLst>
          </p:cNvPr>
          <p:cNvPicPr>
            <a:picLocks noChangeAspect="1"/>
          </p:cNvPicPr>
          <p:nvPr/>
        </p:nvPicPr>
        <p:blipFill>
          <a:blip r:embed="rId2"/>
          <a:stretch>
            <a:fillRect/>
          </a:stretch>
        </p:blipFill>
        <p:spPr>
          <a:xfrm>
            <a:off x="11189170" y="5938829"/>
            <a:ext cx="877900" cy="829128"/>
          </a:xfrm>
          <a:prstGeom prst="rect">
            <a:avLst/>
          </a:prstGeom>
        </p:spPr>
      </p:pic>
      <p:sp>
        <p:nvSpPr>
          <p:cNvPr id="4" name="Title 1">
            <a:extLst>
              <a:ext uri="{FF2B5EF4-FFF2-40B4-BE49-F238E27FC236}">
                <a16:creationId xmlns:a16="http://schemas.microsoft.com/office/drawing/2014/main" id="{AB5CDAA5-D0E9-2136-9552-3CF708255389}"/>
              </a:ext>
            </a:extLst>
          </p:cNvPr>
          <p:cNvSpPr>
            <a:spLocks noGrp="1"/>
          </p:cNvSpPr>
          <p:nvPr>
            <p:ph type="title"/>
          </p:nvPr>
        </p:nvSpPr>
        <p:spPr>
          <a:xfrm>
            <a:off x="3343012" y="365125"/>
            <a:ext cx="8010788" cy="1325563"/>
          </a:xfrm>
        </p:spPr>
        <p:txBody>
          <a:bodyPr>
            <a:normAutofit/>
          </a:bodyPr>
          <a:lstStyle/>
          <a:p>
            <a:pPr algn="ctr"/>
            <a:r>
              <a:rPr lang="en-GB" sz="7200">
                <a:latin typeface="Aptos Black" panose="020B0004020202020204" pitchFamily="34" charset="0"/>
              </a:rPr>
              <a:t>Skills</a:t>
            </a:r>
          </a:p>
        </p:txBody>
      </p:sp>
      <p:pic>
        <p:nvPicPr>
          <p:cNvPr id="11" name="Picture 10">
            <a:extLst>
              <a:ext uri="{FF2B5EF4-FFF2-40B4-BE49-F238E27FC236}">
                <a16:creationId xmlns:a16="http://schemas.microsoft.com/office/drawing/2014/main" id="{CA60B614-DB56-DFA9-EA79-B7889067E32E}"/>
              </a:ext>
            </a:extLst>
          </p:cNvPr>
          <p:cNvPicPr>
            <a:picLocks noChangeAspect="1"/>
          </p:cNvPicPr>
          <p:nvPr/>
        </p:nvPicPr>
        <p:blipFill>
          <a:blip r:embed="rId3"/>
          <a:stretch>
            <a:fillRect/>
          </a:stretch>
        </p:blipFill>
        <p:spPr>
          <a:xfrm>
            <a:off x="618688" y="705483"/>
            <a:ext cx="1946973" cy="719933"/>
          </a:xfrm>
          <a:prstGeom prst="rect">
            <a:avLst/>
          </a:prstGeom>
        </p:spPr>
      </p:pic>
      <p:sp>
        <p:nvSpPr>
          <p:cNvPr id="21" name="TextBox 20">
            <a:extLst>
              <a:ext uri="{FF2B5EF4-FFF2-40B4-BE49-F238E27FC236}">
                <a16:creationId xmlns:a16="http://schemas.microsoft.com/office/drawing/2014/main" id="{3DC7F0FA-BF7F-1F4C-7FF6-807FEFBB88FA}"/>
              </a:ext>
            </a:extLst>
          </p:cNvPr>
          <p:cNvSpPr txBox="1"/>
          <p:nvPr/>
        </p:nvSpPr>
        <p:spPr>
          <a:xfrm>
            <a:off x="570412" y="1467918"/>
            <a:ext cx="2149306" cy="646331"/>
          </a:xfrm>
          <a:prstGeom prst="rect">
            <a:avLst/>
          </a:prstGeom>
          <a:noFill/>
        </p:spPr>
        <p:txBody>
          <a:bodyPr wrap="none" rtlCol="0">
            <a:spAutoFit/>
          </a:bodyPr>
          <a:lstStyle/>
          <a:p>
            <a:r>
              <a:rPr lang="en-GB" sz="2200">
                <a:solidFill>
                  <a:schemeClr val="bg1"/>
                </a:solidFill>
              </a:rPr>
              <a:t>Copilot + Gemini</a:t>
            </a:r>
          </a:p>
        </p:txBody>
      </p:sp>
      <p:sp>
        <p:nvSpPr>
          <p:cNvPr id="2" name="TextBox 1">
            <a:extLst>
              <a:ext uri="{FF2B5EF4-FFF2-40B4-BE49-F238E27FC236}">
                <a16:creationId xmlns:a16="http://schemas.microsoft.com/office/drawing/2014/main" id="{5A6B49B0-19E5-DE7B-452B-F4E11428C438}"/>
              </a:ext>
            </a:extLst>
          </p:cNvPr>
          <p:cNvSpPr txBox="1"/>
          <p:nvPr/>
        </p:nvSpPr>
        <p:spPr>
          <a:xfrm>
            <a:off x="3600275" y="1737360"/>
            <a:ext cx="7948568" cy="44805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800"/>
              </a:spcAft>
            </a:pPr>
            <a:r>
              <a:rPr sz="2000">
                <a:latin typeface="Aptos"/>
              </a:rPr>
              <a:t>A skill is a workflow written down: a small markdown file.</a:t>
            </a:r>
          </a:p>
          <a:p>
            <a:pPr>
              <a:spcAft>
                <a:spcPts val="800"/>
              </a:spcAft>
            </a:pPr>
            <a:r>
              <a:rPr sz="2000">
                <a:latin typeface="Aptos"/>
              </a:rPr>
              <a:t>Attach it in Copilot or Gemini, or paste it into Notebook.</a:t>
            </a:r>
          </a:p>
          <a:p>
            <a:pPr>
              <a:spcAft>
                <a:spcPts val="800"/>
              </a:spcAft>
            </a:pPr>
            <a:r>
              <a:rPr sz="2000">
                <a:latin typeface="Aptos"/>
              </a:rPr>
              <a:t>Repeatable, shareable, and your judgement is in the file.</a:t>
            </a:r>
          </a:p>
          <a:p>
            <a:pPr>
              <a:spcAft>
                <a:spcPts val="800"/>
              </a:spcAft>
            </a:pPr>
            <a:r>
              <a:rPr sz="2000">
                <a:latin typeface="Aptos"/>
              </a:rPr>
              <a:t>Five in today's pack, on the exercise pages.</a:t>
            </a:r>
          </a:p>
          <a:p>
            <a:pPr>
              <a:spcAft>
                <a:spcPts val="800"/>
              </a:spcAft>
            </a:pPr>
            <a:r>
              <a:rPr sz="2000">
                <a:solidFill>
                  <a:srgbClr val="59595B"/>
                </a:solidFill>
                <a:latin typeface="Aptos"/>
              </a:rPr>
              <a:t>[OPTIONAL] Write your own, from any task you repeat.</a:t>
            </a:r>
          </a:p>
        </p:txBody>
      </p:sp>
      <p:pic>
        <p:nvPicPr>
          <p:cNvPr id="22" name="Picture 21" descr="image.png"/>
          <p:cNvPicPr>
            <a:picLocks noChangeAspect="1"/>
          </p:cNvPicPr>
          <p:nvPr/>
        </p:nvPicPr>
        <p:blipFill>
          <a:blip r:embed="rId5"/>
          <a:stretch>
            <a:fillRect/>
          </a:stretch>
        </p:blipFill>
        <p:spPr>
          <a:xfrm>
            <a:off x="736546" y="4497425"/>
            <a:ext cx="1983172" cy="1983172"/>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Rounded Corners 2">
            <a:extLst>
              <a:ext uri="{FF2B5EF4-FFF2-40B4-BE49-F238E27FC236}">
                <a16:creationId xmlns:a16="http://schemas.microsoft.com/office/drawing/2014/main" id="{790AD5EC-E2D2-34E0-5E0D-C54250438B17}"/>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816CA517-84DD-AD93-F599-BAB3E91EBC50}"/>
              </a:ext>
            </a:extLst>
          </p:cNvPr>
          <p:cNvPicPr>
            <a:picLocks noChangeAspect="1"/>
          </p:cNvPicPr>
          <p:nvPr/>
        </p:nvPicPr>
        <p:blipFill>
          <a:blip r:embed="rId2"/>
          <a:stretch>
            <a:fillRect/>
          </a:stretch>
        </p:blipFill>
        <p:spPr>
          <a:xfrm>
            <a:off x="11189170" y="5938829"/>
            <a:ext cx="877900" cy="829128"/>
          </a:xfrm>
          <a:prstGeom prst="rect">
            <a:avLst/>
          </a:prstGeom>
        </p:spPr>
      </p:pic>
      <p:sp>
        <p:nvSpPr>
          <p:cNvPr id="4" name="Title 1">
            <a:extLst>
              <a:ext uri="{FF2B5EF4-FFF2-40B4-BE49-F238E27FC236}">
                <a16:creationId xmlns:a16="http://schemas.microsoft.com/office/drawing/2014/main" id="{AB5CDAA5-D0E9-2136-9552-3CF708255389}"/>
              </a:ext>
            </a:extLst>
          </p:cNvPr>
          <p:cNvSpPr>
            <a:spLocks noGrp="1"/>
          </p:cNvSpPr>
          <p:nvPr>
            <p:ph type="title"/>
          </p:nvPr>
        </p:nvSpPr>
        <p:spPr>
          <a:xfrm>
            <a:off x="3343012" y="365125"/>
            <a:ext cx="8010788" cy="1325563"/>
          </a:xfrm>
        </p:spPr>
        <p:txBody>
          <a:bodyPr>
            <a:normAutofit/>
          </a:bodyPr>
          <a:lstStyle/>
          <a:p>
            <a:pPr algn="ctr"/>
            <a:r>
              <a:rPr lang="en-GB" sz="7200">
                <a:latin typeface="Aptos Black" panose="020B0004020202020204" pitchFamily="34" charset="0"/>
              </a:rPr>
              <a:t>The Module</a:t>
            </a:r>
          </a:p>
        </p:txBody>
      </p:sp>
      <p:pic>
        <p:nvPicPr>
          <p:cNvPr id="11" name="Picture 10">
            <a:extLst>
              <a:ext uri="{FF2B5EF4-FFF2-40B4-BE49-F238E27FC236}">
                <a16:creationId xmlns:a16="http://schemas.microsoft.com/office/drawing/2014/main" id="{CA60B614-DB56-DFA9-EA79-B7889067E32E}"/>
              </a:ext>
            </a:extLst>
          </p:cNvPr>
          <p:cNvPicPr>
            <a:picLocks noChangeAspect="1"/>
          </p:cNvPicPr>
          <p:nvPr/>
        </p:nvPicPr>
        <p:blipFill>
          <a:blip r:embed="rId3"/>
          <a:stretch>
            <a:fillRect/>
          </a:stretch>
        </p:blipFill>
        <p:spPr>
          <a:xfrm>
            <a:off x="618688" y="705483"/>
            <a:ext cx="1946973" cy="719933"/>
          </a:xfrm>
          <a:prstGeom prst="rect">
            <a:avLst/>
          </a:prstGeom>
        </p:spPr>
      </p:pic>
      <p:sp>
        <p:nvSpPr>
          <p:cNvPr id="21" name="TextBox 20">
            <a:extLst>
              <a:ext uri="{FF2B5EF4-FFF2-40B4-BE49-F238E27FC236}">
                <a16:creationId xmlns:a16="http://schemas.microsoft.com/office/drawing/2014/main" id="{3DC7F0FA-BF7F-1F4C-7FF6-807FEFBB88FA}"/>
              </a:ext>
            </a:extLst>
          </p:cNvPr>
          <p:cNvSpPr txBox="1"/>
          <p:nvPr/>
        </p:nvSpPr>
        <p:spPr>
          <a:xfrm>
            <a:off x="570412" y="1467918"/>
            <a:ext cx="2149306" cy="646331"/>
          </a:xfrm>
          <a:prstGeom prst="rect">
            <a:avLst/>
          </a:prstGeom>
          <a:noFill/>
        </p:spPr>
        <p:txBody>
          <a:bodyPr wrap="none" rtlCol="0">
            <a:spAutoFit/>
          </a:bodyPr>
          <a:lstStyle/>
          <a:p>
            <a:r>
              <a:rPr lang="en-GB" sz="2200">
                <a:solidFill>
                  <a:schemeClr val="bg1"/>
                </a:solidFill>
              </a:rPr>
              <a:t>Gemini or Copilot</a:t>
            </a:r>
          </a:p>
        </p:txBody>
      </p:sp>
      <p:sp>
        <p:nvSpPr>
          <p:cNvPr id="2" name="TextBox 1">
            <a:extLst>
              <a:ext uri="{FF2B5EF4-FFF2-40B4-BE49-F238E27FC236}">
                <a16:creationId xmlns:a16="http://schemas.microsoft.com/office/drawing/2014/main" id="{5A6B49B0-19E5-DE7B-452B-F4E11428C438}"/>
              </a:ext>
            </a:extLst>
          </p:cNvPr>
          <p:cNvSpPr txBox="1"/>
          <p:nvPr/>
        </p:nvSpPr>
        <p:spPr>
          <a:xfrm>
            <a:off x="3600275" y="1737360"/>
            <a:ext cx="7948568" cy="44805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800"/>
              </a:spcAft>
            </a:pPr>
            <a:r>
              <a:rPr sz="2000">
                <a:latin typeface="Aptos"/>
              </a:rPr>
              <a:t>Download the training skill and the plan from the website.</a:t>
            </a:r>
          </a:p>
          <a:p>
            <a:pPr>
              <a:spcAft>
                <a:spcPts val="800"/>
              </a:spcAft>
            </a:pPr>
            <a:r>
              <a:rPr sz="2000">
                <a:latin typeface="Aptos"/>
              </a:rPr>
              <a:t>Paste the prompt, attach both files, send.</a:t>
            </a:r>
          </a:p>
          <a:p>
            <a:pPr>
              <a:spcAft>
                <a:spcPts val="800"/>
              </a:spcAft>
            </a:pPr>
            <a:r>
              <a:rPr sz="2000">
                <a:latin typeface="Aptos"/>
              </a:rPr>
              <a:t>Review and augment: the gap note is where to look.</a:t>
            </a:r>
          </a:p>
          <a:p>
            <a:pPr>
              <a:spcAft>
                <a:spcPts val="800"/>
              </a:spcAft>
            </a:pPr>
            <a:r>
              <a:rPr sz="2000">
                <a:solidFill>
                  <a:srgbClr val="59595B"/>
                </a:solidFill>
                <a:latin typeface="Aptos"/>
              </a:rPr>
              <a:t>[OPTIONAL] Run it in the other tool and compare.</a:t>
            </a:r>
          </a:p>
          <a:p>
            <a:pPr>
              <a:spcAft>
                <a:spcPts val="800"/>
              </a:spcAft>
            </a:pPr>
            <a:r>
              <a:rPr sz="2000">
                <a:latin typeface="Aptos"/>
              </a:rPr>
              <a:t>Responsible AI: the human value is in the review.</a:t>
            </a:r>
          </a:p>
          <a:p>
            <a:pPr>
              <a:spcBef>
                <a:spcPts val="1000"/>
              </a:spcBef>
            </a:pPr>
            <a:r>
              <a:rPr sz="1400">
                <a:solidFill>
                  <a:srgbClr val="59595B"/>
                </a:solidFill>
                <a:latin typeface="Aptos"/>
              </a:rPr>
              <a:t>Website: Exercise 04   https://wmgmm.github.io/part2/</a:t>
            </a:r>
          </a:p>
        </p:txBody>
      </p:sp>
      <p:pic>
        <p:nvPicPr>
          <p:cNvPr id="22" name="Picture 21" descr="image.png"/>
          <p:cNvPicPr>
            <a:picLocks noChangeAspect="1"/>
          </p:cNvPicPr>
          <p:nvPr/>
        </p:nvPicPr>
        <p:blipFill>
          <a:blip r:embed="rId5"/>
          <a:stretch>
            <a:fillRect/>
          </a:stretch>
        </p:blipFill>
        <p:spPr>
          <a:xfrm>
            <a:off x="736546" y="4497425"/>
            <a:ext cx="1983172" cy="1983172"/>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Rounded Corners 2">
            <a:extLst>
              <a:ext uri="{FF2B5EF4-FFF2-40B4-BE49-F238E27FC236}">
                <a16:creationId xmlns:a16="http://schemas.microsoft.com/office/drawing/2014/main" id="{790AD5EC-E2D2-34E0-5E0D-C54250438B17}"/>
              </a:ext>
            </a:extLst>
          </p:cNvPr>
          <p:cNvSpPr/>
          <p:nvPr/>
        </p:nvSpPr>
        <p:spPr>
          <a:xfrm>
            <a:off x="289420" y="377403"/>
            <a:ext cx="2877424" cy="6199769"/>
          </a:xfrm>
          <a:prstGeom prst="roundRect">
            <a:avLst/>
          </a:prstGeom>
          <a:solidFill>
            <a:srgbClr val="7701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816CA517-84DD-AD93-F599-BAB3E91EBC50}"/>
              </a:ext>
            </a:extLst>
          </p:cNvPr>
          <p:cNvPicPr>
            <a:picLocks noChangeAspect="1"/>
          </p:cNvPicPr>
          <p:nvPr/>
        </p:nvPicPr>
        <p:blipFill>
          <a:blip r:embed="rId2"/>
          <a:stretch>
            <a:fillRect/>
          </a:stretch>
        </p:blipFill>
        <p:spPr>
          <a:xfrm>
            <a:off x="11189170" y="5938829"/>
            <a:ext cx="877900" cy="829128"/>
          </a:xfrm>
          <a:prstGeom prst="rect">
            <a:avLst/>
          </a:prstGeom>
        </p:spPr>
      </p:pic>
      <p:sp>
        <p:nvSpPr>
          <p:cNvPr id="4" name="Title 1">
            <a:extLst>
              <a:ext uri="{FF2B5EF4-FFF2-40B4-BE49-F238E27FC236}">
                <a16:creationId xmlns:a16="http://schemas.microsoft.com/office/drawing/2014/main" id="{AB5CDAA5-D0E9-2136-9552-3CF708255389}"/>
              </a:ext>
            </a:extLst>
          </p:cNvPr>
          <p:cNvSpPr>
            <a:spLocks noGrp="1"/>
          </p:cNvSpPr>
          <p:nvPr>
            <p:ph type="title"/>
          </p:nvPr>
        </p:nvSpPr>
        <p:spPr>
          <a:xfrm>
            <a:off x="3343012" y="365125"/>
            <a:ext cx="8010788" cy="1325563"/>
          </a:xfrm>
        </p:spPr>
        <p:txBody>
          <a:bodyPr>
            <a:normAutofit/>
          </a:bodyPr>
          <a:lstStyle/>
          <a:p>
            <a:pPr algn="ctr"/>
            <a:r>
              <a:rPr lang="en-GB" sz="7200">
                <a:latin typeface="Aptos Black" panose="020B0004020202020204" pitchFamily="34" charset="0"/>
              </a:rPr>
              <a:t>The Dashboard</a:t>
            </a:r>
          </a:p>
        </p:txBody>
      </p:sp>
      <p:pic>
        <p:nvPicPr>
          <p:cNvPr id="11" name="Picture 10">
            <a:extLst>
              <a:ext uri="{FF2B5EF4-FFF2-40B4-BE49-F238E27FC236}">
                <a16:creationId xmlns:a16="http://schemas.microsoft.com/office/drawing/2014/main" id="{CA60B614-DB56-DFA9-EA79-B7889067E32E}"/>
              </a:ext>
            </a:extLst>
          </p:cNvPr>
          <p:cNvPicPr>
            <a:picLocks noChangeAspect="1"/>
          </p:cNvPicPr>
          <p:nvPr/>
        </p:nvPicPr>
        <p:blipFill>
          <a:blip r:embed="rId3"/>
          <a:stretch>
            <a:fillRect/>
          </a:stretch>
        </p:blipFill>
        <p:spPr>
          <a:xfrm>
            <a:off x="618688" y="705483"/>
            <a:ext cx="1946973" cy="719933"/>
          </a:xfrm>
          <a:prstGeom prst="rect">
            <a:avLst/>
          </a:prstGeom>
        </p:spPr>
      </p:pic>
      <p:sp>
        <p:nvSpPr>
          <p:cNvPr id="21" name="TextBox 20">
            <a:extLst>
              <a:ext uri="{FF2B5EF4-FFF2-40B4-BE49-F238E27FC236}">
                <a16:creationId xmlns:a16="http://schemas.microsoft.com/office/drawing/2014/main" id="{3DC7F0FA-BF7F-1F4C-7FF6-807FEFBB88FA}"/>
              </a:ext>
            </a:extLst>
          </p:cNvPr>
          <p:cNvSpPr txBox="1"/>
          <p:nvPr/>
        </p:nvSpPr>
        <p:spPr>
          <a:xfrm>
            <a:off x="570412" y="1467918"/>
            <a:ext cx="2149306" cy="646331"/>
          </a:xfrm>
          <a:prstGeom prst="rect">
            <a:avLst/>
          </a:prstGeom>
          <a:noFill/>
        </p:spPr>
        <p:txBody>
          <a:bodyPr wrap="none" rtlCol="0">
            <a:spAutoFit/>
          </a:bodyPr>
          <a:lstStyle/>
          <a:p>
            <a:r>
              <a:rPr lang="en-GB" sz="2200">
                <a:solidFill>
                  <a:schemeClr val="bg1"/>
                </a:solidFill>
              </a:rPr>
              <a:t>Gemini Canvas</a:t>
            </a:r>
          </a:p>
        </p:txBody>
      </p:sp>
      <p:sp>
        <p:nvSpPr>
          <p:cNvPr id="2" name="TextBox 1">
            <a:extLst>
              <a:ext uri="{FF2B5EF4-FFF2-40B4-BE49-F238E27FC236}">
                <a16:creationId xmlns:a16="http://schemas.microsoft.com/office/drawing/2014/main" id="{5A6B49B0-19E5-DE7B-452B-F4E11428C438}"/>
              </a:ext>
            </a:extLst>
          </p:cNvPr>
          <p:cNvSpPr txBox="1"/>
          <p:nvPr/>
        </p:nvSpPr>
        <p:spPr>
          <a:xfrm>
            <a:off x="3600275" y="1737360"/>
            <a:ext cx="7948568" cy="44805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800"/>
              </a:spcAft>
            </a:pPr>
            <a:r>
              <a:rPr sz="2000">
                <a:latin typeface="Aptos"/>
              </a:rPr>
              <a:t>New chat, Canvas on, attach the CSV, paste the build prompt.</a:t>
            </a:r>
          </a:p>
          <a:p>
            <a:pPr>
              <a:spcAft>
                <a:spcPts val="800"/>
              </a:spcAft>
            </a:pPr>
            <a:r>
              <a:rPr sz="2000">
                <a:latin typeface="Aptos"/>
              </a:rPr>
              <a:t>Open ours and run yours beside it. Do they agree?</a:t>
            </a:r>
          </a:p>
          <a:p>
            <a:pPr>
              <a:spcAft>
                <a:spcPts val="800"/>
              </a:spcAft>
            </a:pPr>
            <a:r>
              <a:rPr sz="2000">
                <a:latin typeface="Aptos"/>
              </a:rPr>
              <a:t>Verify and repair in the same chat, reattaching the CSV.</a:t>
            </a:r>
          </a:p>
          <a:p>
            <a:pPr>
              <a:spcAft>
                <a:spcPts val="800"/>
              </a:spcAft>
            </a:pPr>
            <a:r>
              <a:rPr sz="2000">
                <a:solidFill>
                  <a:srgbClr val="59595B"/>
                </a:solidFill>
                <a:latin typeface="Aptos"/>
              </a:rPr>
              <a:t>[OPTIONAL] Cleaner audit: a new chat, your HTML and the CSV.</a:t>
            </a:r>
          </a:p>
          <a:p>
            <a:pPr>
              <a:spcAft>
                <a:spcPts val="800"/>
              </a:spcAft>
            </a:pPr>
            <a:r>
              <a:rPr sz="2000">
                <a:latin typeface="Aptos"/>
              </a:rPr>
              <a:t>Responsible AI: check the numbers before you tell the story.</a:t>
            </a:r>
          </a:p>
          <a:p>
            <a:pPr>
              <a:spcBef>
                <a:spcPts val="1000"/>
              </a:spcBef>
            </a:pPr>
            <a:r>
              <a:rPr sz="1400">
                <a:solidFill>
                  <a:srgbClr val="59595B"/>
                </a:solidFill>
                <a:latin typeface="Aptos"/>
              </a:rPr>
              <a:t>Website: Exercise 06   https://wmgmm.github.io/part2/</a:t>
            </a:r>
          </a:p>
        </p:txBody>
      </p:sp>
      <p:pic>
        <p:nvPicPr>
          <p:cNvPr id="22" name="Picture 21" descr="image.png"/>
          <p:cNvPicPr>
            <a:picLocks noChangeAspect="1"/>
          </p:cNvPicPr>
          <p:nvPr/>
        </p:nvPicPr>
        <p:blipFill>
          <a:blip r:embed="rId5"/>
          <a:stretch>
            <a:fillRect/>
          </a:stretch>
        </p:blipFill>
        <p:spPr>
          <a:xfrm>
            <a:off x="736546" y="4497425"/>
            <a:ext cx="1983172" cy="198317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4a133397-0785-4830-af87-76ce322ddc5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565F415C9D8814FBFD6C6CF426A5677" ma:contentTypeVersion="15" ma:contentTypeDescription="Create a new document." ma:contentTypeScope="" ma:versionID="ff7db7bd46e14be8243a4643632998bf">
  <xsd:schema xmlns:xsd="http://www.w3.org/2001/XMLSchema" xmlns:xs="http://www.w3.org/2001/XMLSchema" xmlns:p="http://schemas.microsoft.com/office/2006/metadata/properties" xmlns:ns3="4a133397-0785-4830-af87-76ce322ddc5f" xmlns:ns4="3942fc58-04f6-45b2-9ade-9f5e1804637e" targetNamespace="http://schemas.microsoft.com/office/2006/metadata/properties" ma:root="true" ma:fieldsID="92a827c157de69c48cce3766f5d65ada" ns3:_="" ns4:_="">
    <xsd:import namespace="4a133397-0785-4830-af87-76ce322ddc5f"/>
    <xsd:import namespace="3942fc58-04f6-45b2-9ade-9f5e1804637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element ref="ns3:MediaServiceSystemTags" minOccurs="0"/>
                <xsd:element ref="ns3:MediaServiceGenerationTime" minOccurs="0"/>
                <xsd:element ref="ns3:MediaServiceEventHashCode" minOccurs="0"/>
                <xsd:element ref="ns3:MediaLengthInSeconds" minOccurs="0"/>
                <xsd:element ref="ns3:MediaServiceOCR"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133397-0785-4830-af87-76ce322ddc5f"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942fc58-04f6-45b2-9ade-9f5e1804637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317D6A-15BA-4321-B980-46A01025C1B0}">
  <ds:schemaRefs>
    <ds:schemaRef ds:uri="http://schemas.openxmlformats.org/package/2006/metadata/core-properties"/>
    <ds:schemaRef ds:uri="http://schemas.microsoft.com/office/infopath/2007/PartnerControls"/>
    <ds:schemaRef ds:uri="http://schemas.microsoft.com/office/2006/documentManagement/types"/>
    <ds:schemaRef ds:uri="http://schemas.microsoft.com/office/2006/metadata/properties"/>
    <ds:schemaRef ds:uri="http://purl.org/dc/dcmitype/"/>
    <ds:schemaRef ds:uri="3942fc58-04f6-45b2-9ade-9f5e1804637e"/>
    <ds:schemaRef ds:uri="http://www.w3.org/XML/1998/namespace"/>
    <ds:schemaRef ds:uri="http://purl.org/dc/terms/"/>
    <ds:schemaRef ds:uri="4a133397-0785-4830-af87-76ce322ddc5f"/>
    <ds:schemaRef ds:uri="http://purl.org/dc/elements/1.1/"/>
  </ds:schemaRefs>
</ds:datastoreItem>
</file>

<file path=customXml/itemProps2.xml><?xml version="1.0" encoding="utf-8"?>
<ds:datastoreItem xmlns:ds="http://schemas.openxmlformats.org/officeDocument/2006/customXml" ds:itemID="{91BB96BA-41CE-4074-BC56-EECE5E807B2B}">
  <ds:schemaRefs>
    <ds:schemaRef ds:uri="http://schemas.microsoft.com/sharepoint/v3/contenttype/forms"/>
  </ds:schemaRefs>
</ds:datastoreItem>
</file>

<file path=customXml/itemProps3.xml><?xml version="1.0" encoding="utf-8"?>
<ds:datastoreItem xmlns:ds="http://schemas.openxmlformats.org/officeDocument/2006/customXml" ds:itemID="{99689E83-B6A6-48A3-AF8E-7687AD248CC1}">
  <ds:schemaRefs>
    <ds:schemaRef ds:uri="3942fc58-04f6-45b2-9ade-9f5e1804637e"/>
    <ds:schemaRef ds:uri="4a133397-0785-4830-af87-76ce322ddc5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bdb74b30-9568-4856-bdbf-06759778fcbc}" enabled="0" method="" siteId="{bdb74b30-9568-4856-bdbf-06759778fcbc}" removed="1"/>
</clbl:labelList>
</file>

<file path=docProps/app.xml><?xml version="1.0" encoding="utf-8"?>
<Properties xmlns="http://schemas.openxmlformats.org/officeDocument/2006/extended-properties" xmlns:vt="http://schemas.openxmlformats.org/officeDocument/2006/docPropsVTypes">
  <TotalTime>0</TotalTime>
  <Words>1708</Words>
  <Application>Microsoft Office PowerPoint</Application>
  <PresentationFormat>Widescreen</PresentationFormat>
  <Paragraphs>237</Paragraphs>
  <Slides>39</Slides>
  <Notes>3</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AI in the Workplace</vt:lpstr>
      <vt:lpstr>Staying safe</vt:lpstr>
      <vt:lpstr>Mix and Match</vt:lpstr>
      <vt:lpstr>The Workshop brief</vt:lpstr>
      <vt:lpstr>Workshop tasks and topics</vt:lpstr>
      <vt:lpstr>Responsible AI</vt:lpstr>
      <vt:lpstr>Deep research</vt:lpstr>
      <vt:lpstr>Our research brief:</vt:lpstr>
      <vt:lpstr>Deep research</vt:lpstr>
      <vt:lpstr>Deep research</vt:lpstr>
      <vt:lpstr>Deep research</vt:lpstr>
      <vt:lpstr>Copilot top and tail</vt:lpstr>
      <vt:lpstr>Image Generation</vt:lpstr>
      <vt:lpstr>Reverse engineering</vt:lpstr>
      <vt:lpstr>Style guide</vt:lpstr>
      <vt:lpstr>Accessibility Audit</vt:lpstr>
      <vt:lpstr>Don’t be so negative</vt:lpstr>
      <vt:lpstr>Canvas</vt:lpstr>
      <vt:lpstr>PowerPoint Presentation</vt:lpstr>
      <vt:lpstr>Canvas</vt:lpstr>
      <vt:lpstr>Gemini notebook</vt:lpstr>
      <vt:lpstr>How have your experiments been going?</vt:lpstr>
      <vt:lpstr>PowerPoint Presentation</vt:lpstr>
      <vt:lpstr>Community – end?</vt:lpstr>
      <vt:lpstr>PowerPoint Presentation</vt:lpstr>
      <vt:lpstr>Think Workflow not Prompt</vt:lpstr>
      <vt:lpstr>Question one: Is the task within AI capabilities?</vt:lpstr>
      <vt:lpstr>Think Workflow not Prompt</vt:lpstr>
      <vt:lpstr>PowerPoint Presentation</vt:lpstr>
      <vt:lpstr>PowerPoint Presentation</vt:lpstr>
      <vt:lpstr>PowerPoint Presentation</vt:lpstr>
      <vt:lpstr>Avoid gaming behaviour</vt:lpstr>
      <vt:lpstr>Community – end?</vt:lpstr>
      <vt:lpstr>PowerPoint Presentation</vt:lpstr>
      <vt:lpstr>PowerPoint Presentation</vt:lpstr>
      <vt:lpstr>PowerPoint Presentation</vt:lpstr>
      <vt:lpstr>Deep research</vt:lpstr>
      <vt:lpstr>Deep research</vt:lpstr>
      <vt:lpstr>Canvas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Matthew Hayden</dc:creator>
  <cp:lastModifiedBy>Matthew Hayden</cp:lastModifiedBy>
  <cp:revision>4</cp:revision>
  <dcterms:created xsi:type="dcterms:W3CDTF">2026-09-02T15:56:14Z</dcterms:created>
  <dcterms:modified xsi:type="dcterms:W3CDTF">2026-09-07T15:57:52Z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0x010100E565F415C9D8814FBFD6C6CF426A5677</vt:lpwstr>
  </property>
</Properties>
</file>